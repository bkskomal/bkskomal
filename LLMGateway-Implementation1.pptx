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70" r:id="rId4"/>
    <p:sldId id="275" r:id="rId5"/>
    <p:sldId id="262" r:id="rId6"/>
    <p:sldId id="263" r:id="rId7"/>
    <p:sldId id="271" r:id="rId8"/>
    <p:sldId id="272" r:id="rId9"/>
    <p:sldId id="273" r:id="rId10"/>
    <p:sldId id="274" r:id="rId11"/>
    <p:sldId id="276" r:id="rId12"/>
    <p:sldId id="265" r:id="rId13"/>
    <p:sldId id="267" r:id="rId14"/>
    <p:sldId id="268" r:id="rId15"/>
    <p:sldId id="269" r:id="rId16"/>
    <p:sldId id="277" r:id="rId17"/>
    <p:sldId id="294" r:id="rId18"/>
    <p:sldId id="285" r:id="rId19"/>
    <p:sldId id="280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84" r:id="rId29"/>
    <p:sldId id="281" r:id="rId30"/>
    <p:sldId id="283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14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96351" y="20144"/>
            <a:ext cx="54864" cy="685800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42919"/>
            <a:ext cx="1097280" cy="8778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77" y="1389078"/>
            <a:ext cx="8325612" cy="71404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  <a:latin typeface="Calibri Light"/>
              </a:rPr>
              <a:t>Coding Models Access To Developers</a:t>
            </a:r>
            <a:endParaRPr sz="4400" b="1" i="0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74847" y="2354047"/>
            <a:ext cx="3807434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0" i="0" dirty="0">
                <a:solidFill>
                  <a:schemeClr val="bg1"/>
                </a:solidFill>
                <a:latin typeface="Calibri Light"/>
              </a:rPr>
              <a:t>Coding Models </a:t>
            </a:r>
            <a:r>
              <a:rPr lang="en-US" sz="2400" b="0" i="0" dirty="0">
                <a:solidFill>
                  <a:schemeClr val="bg1"/>
                </a:solidFill>
                <a:latin typeface="Calibri Light"/>
              </a:rPr>
              <a:t>Finalized</a:t>
            </a:r>
            <a:endParaRPr sz="2400" b="0" i="0" dirty="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480" y="2985413"/>
            <a:ext cx="2560320" cy="502920"/>
          </a:xfrm>
          <a:prstGeom prst="roundRect">
            <a:avLst>
              <a:gd name="adj" fmla="val 30000"/>
            </a:avLst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57849" y="3006762"/>
            <a:ext cx="2560320" cy="502920"/>
          </a:xfrm>
          <a:prstGeom prst="roundRect">
            <a:avLst>
              <a:gd name="adj" fmla="val 3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06707" y="3001353"/>
            <a:ext cx="2560320" cy="502920"/>
          </a:xfrm>
          <a:prstGeom prst="roundRect">
            <a:avLst>
              <a:gd name="adj" fmla="val 3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8567" y="1274842"/>
            <a:ext cx="2926080" cy="2677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 Light"/>
              </a:rPr>
              <a:t>Coding Models Access</a:t>
            </a:r>
            <a:endParaRPr sz="1500" b="1" i="0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52560" y="1691640"/>
            <a:ext cx="54864" cy="41148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1794275"/>
            <a:ext cx="288036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 IDE &amp; Coding Assistants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52560" y="2194560"/>
            <a:ext cx="54864" cy="41148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2297195"/>
            <a:ext cx="288036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OATILLM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697480"/>
            <a:ext cx="54864" cy="41148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20" y="2800115"/>
            <a:ext cx="288036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OATILLM Gateway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3200400"/>
            <a:ext cx="54864" cy="41148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3303035"/>
            <a:ext cx="288036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100" b="0" i="0" dirty="0">
                <a:solidFill>
                  <a:srgbClr val="FFFFFF"/>
                </a:solidFill>
                <a:latin typeface="Calibri"/>
              </a:rPr>
              <a:t>OATILLM Gateway Implementation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052560" y="3703320"/>
            <a:ext cx="54864" cy="41148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9720" y="3805955"/>
            <a:ext cx="288036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100" b="0" i="0" dirty="0">
                <a:solidFill>
                  <a:srgbClr val="FFFFFF"/>
                </a:solidFill>
                <a:latin typeface="Calibri"/>
              </a:rPr>
              <a:t>OATI Code – Coding Assistant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731520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Open Access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Technology  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International  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·  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13533" y="4093421"/>
            <a:ext cx="7772400" cy="71404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  <a:latin typeface="Calibri Light"/>
              </a:rPr>
              <a:t>OATI LLM Gateway </a:t>
            </a:r>
            <a:endParaRPr sz="4400" b="1" i="0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74847" y="5090378"/>
            <a:ext cx="7772400" cy="71404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  <a:latin typeface="Calibri Light"/>
              </a:rPr>
              <a:t>OATI Code</a:t>
            </a:r>
            <a:endParaRPr sz="4400" b="1" i="0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0579" y="2984410"/>
            <a:ext cx="25603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Calibri"/>
              </a:rPr>
              <a:t>Kimi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K2.6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3779" y="3011240"/>
            <a:ext cx="25603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Qwen3-Coder-30B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51259" y="3011240"/>
            <a:ext cx="25603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Gemma 4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3716" y="-44300"/>
            <a:ext cx="12188952" cy="6400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621792" cy="4937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CFD4DC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4712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  <a:latin typeface="Calibri Light"/>
              </a:rPr>
              <a:t>Two IDEs, two plugins</a:t>
            </a:r>
            <a:r>
              <a:rPr lang="en-US" sz="1300" b="0" i="0" dirty="0">
                <a:solidFill>
                  <a:srgbClr val="1A1A1A"/>
                </a:solidFill>
                <a:latin typeface="Calibri Light"/>
              </a:rPr>
              <a:t> and our own plugin and coding assistant – OATI Code</a:t>
            </a:r>
            <a:r>
              <a:rPr sz="1300" b="0" i="0" dirty="0">
                <a:solidFill>
                  <a:srgbClr val="1A1A1A"/>
                </a:solidFill>
                <a:latin typeface="Calibri Light"/>
              </a:rPr>
              <a:t>.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3749039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749039" cy="5029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3383279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VS Code + Continue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54864" cy="411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32461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Free, MIT-based 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54864" cy="411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880360"/>
            <a:ext cx="32461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Continue: inline chat + autocomplete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49039"/>
            <a:ext cx="54864" cy="411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32461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Talks to /v1/chat/completions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26279"/>
            <a:ext cx="54864" cy="411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628915"/>
            <a:ext cx="324612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 dirty="0">
                <a:solidFill>
                  <a:srgbClr val="1A1A1A"/>
                </a:solidFill>
                <a:latin typeface="Calibri"/>
              </a:rPr>
              <a:t>Best for: autocomplete-</a:t>
            </a:r>
            <a:r>
              <a:rPr lang="en-US" sz="11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417320"/>
            <a:ext cx="3749039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1417320"/>
            <a:ext cx="3749039" cy="502920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1417320"/>
            <a:ext cx="3383279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VS Code + Cline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194560"/>
            <a:ext cx="54864" cy="411480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2103120"/>
            <a:ext cx="32461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 dirty="0">
                <a:solidFill>
                  <a:srgbClr val="1A1A1A"/>
                </a:solidFill>
                <a:latin typeface="Calibri"/>
              </a:rPr>
              <a:t>Same IDE, autonomous agent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flavour</a:t>
            </a:r>
            <a:endParaRPr sz="11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0" y="2971800"/>
            <a:ext cx="54864" cy="411480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59" y="2880360"/>
            <a:ext cx="32461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 dirty="0">
                <a:solidFill>
                  <a:srgbClr val="1A1A1A"/>
                </a:solidFill>
                <a:latin typeface="Calibri"/>
              </a:rPr>
              <a:t>Multi-step file edits, tool 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749039"/>
            <a:ext cx="54864" cy="411480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59" y="3657600"/>
            <a:ext cx="32461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Talks to /v1/chat/completions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4526279"/>
            <a:ext cx="54864" cy="411480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59" y="4434840"/>
            <a:ext cx="32461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 dirty="0">
                <a:solidFill>
                  <a:srgbClr val="1A1A1A"/>
                </a:solidFill>
                <a:latin typeface="Calibri"/>
              </a:rPr>
              <a:t>Best for: refactors, codebase Q&amp;A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1417320"/>
            <a:ext cx="3749039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21040" y="1417320"/>
            <a:ext cx="3749039" cy="502920"/>
          </a:xfrm>
          <a:prstGeom prst="rect">
            <a:avLst/>
          </a:prstGeom>
          <a:solidFill>
            <a:srgbClr val="E6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19" y="1542591"/>
            <a:ext cx="3383279" cy="25237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VS Code  Visual Studio  +  OATI Code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503919" y="2194560"/>
            <a:ext cx="54864" cy="411480"/>
          </a:xfrm>
          <a:prstGeom prst="rect">
            <a:avLst/>
          </a:prstGeom>
          <a:solidFill>
            <a:srgbClr val="E6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41080" y="2297195"/>
            <a:ext cx="324612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IN" sz="1100" dirty="0">
                <a:solidFill>
                  <a:srgbClr val="1A1A1A"/>
                </a:solidFill>
              </a:rPr>
              <a:t>Same IDE, autonomous agent flavour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19" y="2971800"/>
            <a:ext cx="54864" cy="411480"/>
          </a:xfrm>
          <a:prstGeom prst="rect">
            <a:avLst/>
          </a:prstGeom>
          <a:solidFill>
            <a:srgbClr val="E6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1080" y="3074435"/>
            <a:ext cx="324612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sz="1100" dirty="0">
                <a:solidFill>
                  <a:srgbClr val="1A1A1A"/>
                </a:solidFill>
              </a:rPr>
              <a:t>Multi-step file edits, tool use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19" y="3749039"/>
            <a:ext cx="54864" cy="411480"/>
          </a:xfrm>
          <a:prstGeom prst="rect">
            <a:avLst/>
          </a:prstGeom>
          <a:solidFill>
            <a:srgbClr val="E6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41080" y="3657600"/>
            <a:ext cx="32461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Same OpenAI-compatible base URL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19" y="4526279"/>
            <a:ext cx="54864" cy="411480"/>
          </a:xfrm>
          <a:prstGeom prst="rect">
            <a:avLst/>
          </a:prstGeom>
          <a:solidFill>
            <a:srgbClr val="E6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41080" y="4628915"/>
            <a:ext cx="324612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sz="1100" dirty="0">
                <a:solidFill>
                  <a:srgbClr val="1A1A1A"/>
                </a:solidFill>
              </a:rPr>
              <a:t>Best for: refactors, codebase Q&amp;A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 Light"/>
              </a:rPr>
              <a:t>Common config: Base URL = your gateway; API Key = SSO-issued virtual key.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" y="80444"/>
            <a:ext cx="6141282" cy="4678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IDE  &amp; CODING ASSISTANTS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503919" y="5198666"/>
            <a:ext cx="54864" cy="411480"/>
          </a:xfrm>
          <a:prstGeom prst="rect">
            <a:avLst/>
          </a:prstGeom>
          <a:solidFill>
            <a:srgbClr val="E6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41080" y="5327330"/>
            <a:ext cx="324612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sz="1100" dirty="0">
                <a:solidFill>
                  <a:srgbClr val="1A1A1A"/>
                </a:solidFill>
              </a:rPr>
              <a:t>Enhanced functionality  like Claud Code, Cursor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621792" cy="493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63270"/>
            <a:ext cx="10058400" cy="4678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CODING MODELS ACCESS - GOAL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CFD4DC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49039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49039" cy="5943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3383279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CONTROLLED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3200399" cy="3474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 Light"/>
              </a:rPr>
              <a:t>Per-team tiers L0-L3 · JIT elevation · per-project virtual keys.
Every IDE → same gateway → same policy chain.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749039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3749039" cy="594360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554480"/>
            <a:ext cx="3383279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AUTO MODEL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23160"/>
            <a:ext cx="3200399" cy="3474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 Light"/>
              </a:rPr>
              <a:t>Smart router picks the cheapest acceptable model.
Operator override always allowed; rule chain is YAML-editable.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554480"/>
            <a:ext cx="3749039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3749039" cy="59436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19" y="1554480"/>
            <a:ext cx="3383279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CONTINUOUS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423160"/>
            <a:ext cx="3200399" cy="3474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 Light"/>
              </a:rPr>
              <a:t>UEBA scores 10 signals per user with rolling baselines.
Auto-quarantine on misuse · full audit trail with reveal 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Companion documents: docs/LLMGateway-Implementation.docx · docs/ARCHITECTURE.md · docs/architecture.svg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3296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621792" cy="493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63270"/>
            <a:ext cx="10058400" cy="4678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LLM GATEWAY COMPARISON AND SELECTION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CFD4DC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" y="1056817"/>
            <a:ext cx="2560320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74320" y="110681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834640" y="1056817"/>
            <a:ext cx="2560320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834640" y="1106817"/>
            <a:ext cx="2560320" cy="22101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alibri"/>
              </a:rPr>
              <a:t>OATI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LLMGateway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(A)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394960" y="1056817"/>
            <a:ext cx="3291840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394960" y="1106817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LiteLLM-backed (B)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686800" y="1056817"/>
            <a:ext cx="3200400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686800" y="110681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Winner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4320" y="1468297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74320" y="151329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Cold import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834640" y="1468297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834640" y="151329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~700 ms · 406 modules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394960" y="1468297"/>
            <a:ext cx="329184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5394960" y="1513297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~6,150 ms · 2,148 modules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686800" y="1468297"/>
            <a:ext cx="320040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686800" y="151329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A (8.4–8.9×)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1879777"/>
            <a:ext cx="2560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274320" y="192477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Per-call overhead (p50)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834640" y="1879777"/>
            <a:ext cx="2560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834640" y="192477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0.48 ms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394960" y="1879777"/>
            <a:ext cx="3291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5394960" y="1924777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12 ms (published)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686800" y="1879777"/>
            <a:ext cx="3200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686800" y="192477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A (~25×)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4320" y="2291257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74320" y="233625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Per-call overhead (p99)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834640" y="2291257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2834640" y="233625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0.87 ms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394960" y="2291257"/>
            <a:ext cx="329184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394960" y="2336257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43 ms (published)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686800" y="2291257"/>
            <a:ext cx="320040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686800" y="233625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A (~50×)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74320" y="2702737"/>
            <a:ext cx="2560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274320" y="274773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Throughput (RPS, 1 worker)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834640" y="2702737"/>
            <a:ext cx="2560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2834640" y="274773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2,004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394960" y="2702737"/>
            <a:ext cx="3291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394960" y="2747737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1,036 (2 instances, 8 cores)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686800" y="2702737"/>
            <a:ext cx="3200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8686800" y="274773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4320" y="3114217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274320" y="315921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Core dependencies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834640" y="3114217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2834640" y="315921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394960" y="3114217"/>
            <a:ext cx="329184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394960" y="3159217"/>
            <a:ext cx="3291840" cy="205629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 dirty="0">
                <a:solidFill>
                  <a:srgbClr val="111827"/>
                </a:solidFill>
                <a:latin typeface="Calibri"/>
              </a:rPr>
              <a:t>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686800" y="3114217"/>
            <a:ext cx="320040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8686800" y="315921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4320" y="3525697"/>
            <a:ext cx="2560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74320" y="357069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SDK LOC (completion.py)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834640" y="3525697"/>
            <a:ext cx="2560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2834640" y="357069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323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394960" y="3525697"/>
            <a:ext cx="3291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5394960" y="3570697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487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686800" y="3525697"/>
            <a:ext cx="3200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8686800" y="357069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A (leaner)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74320" y="3937177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74320" y="398217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Total LOC (src/llmgateway)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834640" y="3937177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2834640" y="398217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10,162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394960" y="3937177"/>
            <a:ext cx="329184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5394960" y="3982177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10,326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686800" y="3937177"/>
            <a:ext cx="320040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686800" y="398217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≈ tie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4348657"/>
            <a:ext cx="2560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74320" y="439365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Test suite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834640" y="4348657"/>
            <a:ext cx="2560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2834640" y="439365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452 tests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394960" y="4348657"/>
            <a:ext cx="3291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5394960" y="4393657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452 tests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686800" y="4348657"/>
            <a:ext cx="3200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8686800" y="439365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tie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4320" y="4760137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274320" y="480513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Provider coverage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834640" y="4760137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2834640" y="480513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31 routes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394960" y="4760137"/>
            <a:ext cx="329184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5394960" y="4805137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31 routes (via LiteLLM)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686800" y="4760137"/>
            <a:ext cx="3200400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8686800" y="480513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tie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74320" y="5171617"/>
            <a:ext cx="2560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274320" y="5234905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/>
            <a:r>
              <a:rPr sz="1100" b="1" dirty="0">
                <a:solidFill>
                  <a:srgbClr val="111827"/>
                </a:solidFill>
                <a:latin typeface="Calibri"/>
              </a:rPr>
              <a:t>License model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834640" y="5171617"/>
            <a:ext cx="2560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2834640" y="5216617"/>
            <a:ext cx="256032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MIT throughout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394960" y="5171617"/>
            <a:ext cx="3291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5394960" y="5216617"/>
            <a:ext cx="3291840" cy="205629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0" dirty="0">
                <a:solidFill>
                  <a:srgbClr val="111827"/>
                </a:solidFill>
                <a:latin typeface="Calibri"/>
              </a:rPr>
              <a:t>MIT</a:t>
            </a:r>
            <a:r>
              <a:rPr lang="en-IN" sz="1100" b="0" dirty="0">
                <a:solidFill>
                  <a:srgbClr val="111827"/>
                </a:solidFill>
                <a:latin typeface="Calibri"/>
              </a:rPr>
              <a:t> (Limited features)</a:t>
            </a:r>
            <a:r>
              <a:rPr sz="11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100" b="0" dirty="0" err="1">
                <a:solidFill>
                  <a:srgbClr val="111827"/>
                </a:solidFill>
                <a:latin typeface="Calibri"/>
              </a:rPr>
              <a:t>LiteLLM</a:t>
            </a:r>
            <a:r>
              <a:rPr sz="1100" b="0" dirty="0">
                <a:solidFill>
                  <a:srgbClr val="111827"/>
                </a:solidFill>
                <a:latin typeface="Calibri"/>
              </a:rPr>
              <a:t> (MIT core, paid tier)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8686800" y="5171617"/>
            <a:ext cx="3200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8686800" y="5194117"/>
            <a:ext cx="3200400" cy="4114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 dirty="0">
                <a:solidFill>
                  <a:srgbClr val="10B981"/>
                </a:solidFill>
                <a:latin typeface="Calibri"/>
              </a:rPr>
              <a:t>A (clean)</a:t>
            </a:r>
          </a:p>
        </p:txBody>
      </p:sp>
    </p:spTree>
    <p:extLst>
      <p:ext uri="{BB962C8B-B14F-4D97-AF65-F5344CB8AC3E}">
        <p14:creationId xmlns:p14="http://schemas.microsoft.com/office/powerpoint/2010/main" val="264543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621792" cy="4937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CFD4DC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68680"/>
            <a:ext cx="2560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  <a:latin typeface="Calibri"/>
              </a:rPr>
              <a:t>DEVELOPER 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868680"/>
            <a:ext cx="512064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 dirty="0">
                <a:solidFill>
                  <a:srgbClr val="C82A32"/>
                </a:solidFill>
                <a:latin typeface="Calibri"/>
              </a:rPr>
              <a:t>POLICY-ORIENTED</a:t>
            </a:r>
            <a:r>
              <a:rPr lang="en-US" sz="1100" b="1" i="0" dirty="0">
                <a:solidFill>
                  <a:srgbClr val="C82A32"/>
                </a:solidFill>
                <a:latin typeface="Calibri"/>
              </a:rPr>
              <a:t> LLM</a:t>
            </a:r>
            <a:r>
              <a:rPr sz="1100" b="1" i="0" dirty="0">
                <a:solidFill>
                  <a:srgbClr val="C82A32"/>
                </a:solidFill>
                <a:latin typeface="Calibri"/>
              </a:rPr>
              <a:t>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868680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  <a:latin typeface="Calibri"/>
              </a:rPr>
              <a:t>MODEL BACKENDS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18872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188720"/>
            <a:ext cx="109728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1600578"/>
            <a:ext cx="228600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B2A4E"/>
                </a:solidFill>
                <a:latin typeface="Calibri"/>
              </a:rPr>
              <a:t>VS Code + Continue</a:t>
            </a:r>
            <a:r>
              <a:rPr lang="en-US" sz="1300" b="1" i="0" dirty="0">
                <a:solidFill>
                  <a:srgbClr val="1B2A4E"/>
                </a:solidFill>
                <a:latin typeface="Calibri"/>
              </a:rPr>
              <a:t> + Cline</a:t>
            </a:r>
            <a:endParaRPr sz="1300" b="1" i="0" dirty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242316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423160"/>
            <a:ext cx="109728" cy="1097280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2787" y="2788920"/>
            <a:ext cx="228600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B2A4E"/>
                </a:solidFill>
                <a:latin typeface="Calibri"/>
              </a:rPr>
              <a:t>VS Code + </a:t>
            </a:r>
            <a:r>
              <a:rPr lang="en-US" sz="1300" b="1" i="0" dirty="0">
                <a:solidFill>
                  <a:srgbClr val="1B2A4E"/>
                </a:solidFill>
                <a:latin typeface="Calibri"/>
              </a:rPr>
              <a:t>OATI Code</a:t>
            </a:r>
            <a:endParaRPr sz="1300" b="1" i="0" dirty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109728" cy="1097280"/>
          </a:xfrm>
          <a:prstGeom prst="rect">
            <a:avLst/>
          </a:prstGeom>
          <a:solidFill>
            <a:srgbClr val="E6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653" y="4078980"/>
            <a:ext cx="228600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300" b="1" dirty="0">
                <a:solidFill>
                  <a:srgbClr val="1B2A4E"/>
                </a:solidFill>
                <a:latin typeface="Calibri"/>
              </a:rPr>
              <a:t>Visual Studio</a:t>
            </a:r>
            <a:r>
              <a:rPr sz="1300" b="1" i="0" dirty="0">
                <a:solidFill>
                  <a:srgbClr val="1B2A4E"/>
                </a:solidFill>
                <a:latin typeface="Calibri"/>
              </a:rPr>
              <a:t> IDE</a:t>
            </a:r>
            <a:r>
              <a:rPr lang="en-US" sz="1300" b="1" i="0" dirty="0">
                <a:solidFill>
                  <a:srgbClr val="1B2A4E"/>
                </a:solidFill>
                <a:latin typeface="Calibri"/>
              </a:rPr>
              <a:t> + OATI Code</a:t>
            </a:r>
            <a:endParaRPr sz="1300" b="1" i="0" dirty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3017520" y="1554480"/>
            <a:ext cx="457200" cy="329184"/>
          </a:xfrm>
          <a:prstGeom prst="rightArrow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3017520" y="2788920"/>
            <a:ext cx="457200" cy="329184"/>
          </a:xfrm>
          <a:prstGeom prst="rightArrow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3017520" y="4023360"/>
            <a:ext cx="457200" cy="329184"/>
          </a:xfrm>
          <a:prstGeom prst="rightArrow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66160" y="1188720"/>
            <a:ext cx="50749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66160" y="1188720"/>
            <a:ext cx="5074920" cy="50292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66160" y="1321686"/>
            <a:ext cx="5074920" cy="2369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300" b="1" i="0" dirty="0" err="1">
                <a:solidFill>
                  <a:srgbClr val="FFFFFF"/>
                </a:solidFill>
                <a:latin typeface="Calibri"/>
              </a:rPr>
              <a:t>OATI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LLMGateway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· Policy &amp; Routing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1828800"/>
            <a:ext cx="4709159" cy="603504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749039" y="1828800"/>
            <a:ext cx="1691640" cy="6035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79" y="1828800"/>
            <a:ext cx="160020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  AuthN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2031294"/>
            <a:ext cx="2788919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 dirty="0">
                <a:solidFill>
                  <a:srgbClr val="1A1A1A"/>
                </a:solidFill>
                <a:latin typeface="Calibri"/>
              </a:rPr>
              <a:t>Resolve </a:t>
            </a:r>
            <a:r>
              <a:rPr lang="en-US" sz="1050" b="0" i="0" dirty="0">
                <a:solidFill>
                  <a:srgbClr val="1A1A1A"/>
                </a:solidFill>
                <a:latin typeface="Calibri"/>
              </a:rPr>
              <a:t>API K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ey → </a:t>
            </a:r>
            <a:r>
              <a:rPr lang="en-US" sz="1050" b="0" i="0" dirty="0">
                <a:solidFill>
                  <a:srgbClr val="1A1A1A"/>
                </a:solidFill>
                <a:latin typeface="Calibri"/>
              </a:rPr>
              <a:t>User</a:t>
            </a:r>
            <a:endParaRPr sz="105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749039" y="2468880"/>
            <a:ext cx="4709159" cy="603504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749039" y="2468880"/>
            <a:ext cx="1691640" cy="6035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79" y="2468880"/>
            <a:ext cx="160020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  AuthZ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2671374"/>
            <a:ext cx="2788919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050" b="0" i="0" dirty="0">
                <a:solidFill>
                  <a:srgbClr val="1A1A1A"/>
                </a:solidFill>
                <a:latin typeface="Calibri"/>
              </a:rPr>
              <a:t>L1, L2, L3, L4 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· </a:t>
            </a:r>
            <a:r>
              <a:rPr lang="en-US" sz="1050" dirty="0">
                <a:solidFill>
                  <a:srgbClr val="1A1A1A"/>
                </a:solidFill>
                <a:latin typeface="Calibri"/>
              </a:rPr>
              <a:t>M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odel ACL · </a:t>
            </a:r>
            <a:r>
              <a:rPr lang="en-US" sz="1050" b="0" i="0" dirty="0">
                <a:solidFill>
                  <a:srgbClr val="1A1A1A"/>
                </a:solidFill>
                <a:latin typeface="Calibri"/>
              </a:rPr>
              <a:t>Q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uota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3108960"/>
            <a:ext cx="4709159" cy="603504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749039" y="3108960"/>
            <a:ext cx="1691640" cy="603504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40479" y="3108960"/>
            <a:ext cx="160020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  DLP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3108960"/>
            <a:ext cx="2788919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Presidio PII · regex · guardrail patterns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39" y="3749040"/>
            <a:ext cx="4709159" cy="603504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749039" y="3749040"/>
            <a:ext cx="1691640" cy="603504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40479" y="3749040"/>
            <a:ext cx="160020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4  Smart Router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2120" y="3749040"/>
            <a:ext cx="2788919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Auto-pick model by length, intent, budget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4389120"/>
            <a:ext cx="4709159" cy="603504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749039" y="4389120"/>
            <a:ext cx="1691640" cy="6035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40479" y="4389120"/>
            <a:ext cx="160020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5  Inference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4591614"/>
            <a:ext cx="2788919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 dirty="0">
                <a:solidFill>
                  <a:srgbClr val="1A1A1A"/>
                </a:solidFill>
                <a:latin typeface="Calibri"/>
              </a:rPr>
              <a:t>Forward to </a:t>
            </a:r>
            <a:r>
              <a:rPr sz="1050" b="0" i="0" dirty="0" err="1">
                <a:solidFill>
                  <a:srgbClr val="1A1A1A"/>
                </a:solidFill>
                <a:latin typeface="Calibri"/>
              </a:rPr>
              <a:t>vLLM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n-US" sz="1050" b="0" i="0" dirty="0">
                <a:solidFill>
                  <a:srgbClr val="1A1A1A"/>
                </a:solidFill>
                <a:latin typeface="Calibri"/>
              </a:rPr>
              <a:t>model  &amp; 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stream back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9039" y="5029200"/>
            <a:ext cx="4709159" cy="603504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749039" y="5029200"/>
            <a:ext cx="1691640" cy="603504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840479" y="5029200"/>
            <a:ext cx="160020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6  Post-call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2120" y="5231694"/>
            <a:ext cx="2788919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 dirty="0">
                <a:solidFill>
                  <a:srgbClr val="1A1A1A"/>
                </a:solidFill>
                <a:latin typeface="Calibri"/>
              </a:rPr>
              <a:t>Output secret scan · </a:t>
            </a:r>
            <a:r>
              <a:rPr lang="en-US" sz="1050" b="0" i="0" dirty="0">
                <a:solidFill>
                  <a:srgbClr val="1A1A1A"/>
                </a:solidFill>
                <a:latin typeface="Calibri"/>
              </a:rPr>
              <a:t>tokens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 track · audit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8732520" y="1554480"/>
            <a:ext cx="411480" cy="329184"/>
          </a:xfrm>
          <a:prstGeom prst="rightArrow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ight Arrow 57"/>
          <p:cNvSpPr/>
          <p:nvPr/>
        </p:nvSpPr>
        <p:spPr>
          <a:xfrm>
            <a:off x="8732520" y="2788920"/>
            <a:ext cx="411480" cy="329184"/>
          </a:xfrm>
          <a:prstGeom prst="rightArrow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ight Arrow 58"/>
          <p:cNvSpPr/>
          <p:nvPr/>
        </p:nvSpPr>
        <p:spPr>
          <a:xfrm>
            <a:off x="8732520" y="4023360"/>
            <a:ext cx="411480" cy="329184"/>
          </a:xfrm>
          <a:prstGeom prst="rightArrow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235440" y="1188720"/>
            <a:ext cx="26517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235440" y="1188720"/>
            <a:ext cx="109728" cy="1097280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012680" y="1476755"/>
            <a:ext cx="237744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 dirty="0" err="1">
                <a:solidFill>
                  <a:srgbClr val="1B2A4E"/>
                </a:solidFill>
                <a:latin typeface="Calibri"/>
              </a:rPr>
              <a:t>Kimi</a:t>
            </a:r>
            <a:r>
              <a:rPr sz="1300" b="1" i="0" dirty="0">
                <a:solidFill>
                  <a:srgbClr val="1B2A4E"/>
                </a:solidFill>
                <a:latin typeface="Calibri"/>
              </a:rPr>
              <a:t> K2.6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35440" y="2423160"/>
            <a:ext cx="26517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35440" y="2423160"/>
            <a:ext cx="109728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811512" y="2706624"/>
            <a:ext cx="237744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B2A4E"/>
                </a:solidFill>
                <a:latin typeface="Calibri"/>
              </a:rPr>
              <a:t>Qwen3-Coder-30B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29800" y="3008374"/>
            <a:ext cx="2377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 dirty="0" err="1">
                <a:solidFill>
                  <a:srgbClr val="6B7280"/>
                </a:solidFill>
                <a:latin typeface="Calibri"/>
              </a:rPr>
              <a:t>vLLM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@ shared GPU box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35440" y="3657600"/>
            <a:ext cx="26517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235440" y="3657600"/>
            <a:ext cx="109728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902953" y="3867910"/>
            <a:ext cx="149536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B2A4E"/>
                </a:solidFill>
                <a:latin typeface="Calibri"/>
              </a:rPr>
              <a:t>Gemma 4 27B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11512" y="4133844"/>
            <a:ext cx="2377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 dirty="0" err="1">
                <a:solidFill>
                  <a:srgbClr val="6B7280"/>
                </a:solidFill>
                <a:latin typeface="Calibri"/>
              </a:rPr>
              <a:t>vLLM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@ shared GPU box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5989320" y="5760720"/>
            <a:ext cx="320040" cy="228600"/>
          </a:xfrm>
          <a:prstGeom prst="downArrow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65760" y="6016752"/>
            <a:ext cx="11475720" cy="411480"/>
          </a:xfrm>
          <a:prstGeom prst="rect">
            <a:avLst/>
          </a:prstGeom>
          <a:solidFill>
            <a:srgbClr val="354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02920" y="6016752"/>
            <a:ext cx="27432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OBSERVABILITY BUS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00400" y="6016752"/>
            <a:ext cx="85953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Postgres audit  ·  SIEM (Splunk / ELK)  ·  Prometheus + Grafana  ·  UEBA baselines  ·  4-eyes raw access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84080" y="1783080"/>
            <a:ext cx="2377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 dirty="0" err="1">
                <a:solidFill>
                  <a:srgbClr val="6B7280"/>
                </a:solidFill>
                <a:latin typeface="Calibri"/>
              </a:rPr>
              <a:t>vLLM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@ shared GPU box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" y="80444"/>
            <a:ext cx="6141282" cy="4678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LLM GATEWAY ARCHITECTURE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-1999"/>
            <a:ext cx="11559722" cy="77064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"/>
            <a:ext cx="621792" cy="493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5276" y="80444"/>
            <a:ext cx="6141282" cy="4678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LLM GATEWAY ARCHITECTURE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CFD4DC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74" y="1185167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95035"/>
            <a:ext cx="91440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Access Tiers — L0 to L3 + Quarantined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118872"/>
            <a:ext cx="1554480" cy="393192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18872"/>
            <a:ext cx="1554480" cy="3931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PROPRIETARY AND CONFIDENTIAL  |  OATI Technology  |  AI Model Evaluation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Every virtual key is bound to one tier. Tiers consolidate budget, model ACL, agent permissions and override rights into a single named bundle that's easy to audit and easy to change.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1325880"/>
            <a:ext cx="1828800" cy="4114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1325880"/>
            <a:ext cx="16916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1325880"/>
            <a:ext cx="2560320" cy="4114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86000" y="1325880"/>
            <a:ext cx="242316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Models allowed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1325880"/>
            <a:ext cx="1463040" cy="4114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46320" y="1325880"/>
            <a:ext cx="13258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Budget /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1325880"/>
            <a:ext cx="1920240" cy="4114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0" y="1325880"/>
            <a:ext cx="1783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mode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1325880"/>
            <a:ext cx="1371600" cy="4114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0" y="1325880"/>
            <a:ext cx="12344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Override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1325880"/>
            <a:ext cx="2377440" cy="4114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01200" y="1325880"/>
            <a:ext cx="22402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Typical user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1737360"/>
            <a:ext cx="1828800" cy="502920"/>
          </a:xfrm>
          <a:prstGeom prst="rect">
            <a:avLst/>
          </a:prstGeom>
          <a:solidFill>
            <a:srgbClr val="6B7280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1737360"/>
            <a:ext cx="16916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L0  Read-only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0" y="173736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86000" y="1737360"/>
            <a:ext cx="24231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Gemma 4 only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1737360"/>
            <a:ext cx="14630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46320" y="1737360"/>
            <a:ext cx="13258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20 k tokens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1737360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09360" y="1737360"/>
            <a:ext cx="17830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Disabled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173736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9600" y="1737360"/>
            <a:ext cx="12344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760" y="1737360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01200" y="1737360"/>
            <a:ext cx="22402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Interns, contractors (first 30 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2240280"/>
            <a:ext cx="1828800" cy="502920"/>
          </a:xfrm>
          <a:prstGeom prst="rect">
            <a:avLst/>
          </a:prstGeom>
          <a:solidFill>
            <a:srgbClr val="4A90E2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2240280"/>
            <a:ext cx="16916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L1  Standard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94560" y="2240280"/>
            <a:ext cx="256032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286000" y="2240280"/>
            <a:ext cx="24231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Gemma 4 + Qwen3-Coder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0" y="2240280"/>
            <a:ext cx="146304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46320" y="2240280"/>
            <a:ext cx="13258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100 k tokens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2240280"/>
            <a:ext cx="192024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09360" y="2240280"/>
            <a:ext cx="17830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Tools but no shell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38160" y="224028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29600" y="2240280"/>
            <a:ext cx="12344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09760" y="2240280"/>
            <a:ext cx="237744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01200" y="2240280"/>
            <a:ext cx="22402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Most full-time engineers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2743200"/>
            <a:ext cx="1828800" cy="502920"/>
          </a:xfrm>
          <a:prstGeom prst="rect">
            <a:avLst/>
          </a:prstGeom>
          <a:solidFill>
            <a:srgbClr val="824DE0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2743200"/>
            <a:ext cx="16916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L2  Senior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94560" y="274320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286000" y="2743200"/>
            <a:ext cx="24231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+ Kimi K2.6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54880" y="2743200"/>
            <a:ext cx="14630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846320" y="2743200"/>
            <a:ext cx="13258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300 k tokens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2743200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09360" y="2743200"/>
            <a:ext cx="17830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Full agent + shell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38160" y="274320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2743200"/>
            <a:ext cx="12344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09760" y="2743200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601200" y="2743200"/>
            <a:ext cx="22402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Tech leads, principals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3246120"/>
            <a:ext cx="1828800" cy="502920"/>
          </a:xfrm>
          <a:prstGeom prst="rect">
            <a:avLst/>
          </a:prstGeom>
          <a:solidFill>
            <a:srgbClr val="2E7D32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57200" y="3246120"/>
            <a:ext cx="16916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L3  Privileged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194560" y="3246120"/>
            <a:ext cx="256032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86000" y="3246120"/>
            <a:ext cx="24231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All + experimental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754880" y="3246120"/>
            <a:ext cx="146304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846320" y="3246120"/>
            <a:ext cx="13258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Unlimited (4-eyes audit)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17920" y="3246120"/>
            <a:ext cx="192024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309360" y="3246120"/>
            <a:ext cx="17830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+ custom MCP tools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38160" y="324612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229600" y="3246120"/>
            <a:ext cx="12344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Yes + provider direct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509760" y="3246120"/>
            <a:ext cx="237744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601200" y="3246120"/>
            <a:ext cx="22402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2–3 named platform engineers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3749040"/>
            <a:ext cx="1828800" cy="502920"/>
          </a:xfrm>
          <a:prstGeom prst="rect">
            <a:avLst/>
          </a:prstGeom>
          <a:solidFill>
            <a:srgbClr val="C82A32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57200" y="3749040"/>
            <a:ext cx="16916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Quarantined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94560" y="374904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286000" y="3749040"/>
            <a:ext cx="24231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None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54880" y="3749040"/>
            <a:ext cx="14630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846320" y="3749040"/>
            <a:ext cx="13258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217920" y="3749040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309360" y="3749040"/>
            <a:ext cx="17830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Disabled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138160" y="374904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229600" y="3749040"/>
            <a:ext cx="12344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No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509760" y="3749040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601200" y="3749040"/>
            <a:ext cx="22402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Any user × triggered alert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5760" y="4251960"/>
            <a:ext cx="68580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65760" y="4251960"/>
            <a:ext cx="6858000" cy="365760"/>
          </a:xfrm>
          <a:prstGeom prst="rect">
            <a:avLst/>
          </a:prstGeom>
          <a:solidFill>
            <a:srgbClr val="824DE0"/>
          </a:solidFill>
          <a:ln>
            <a:solidFill>
              <a:srgbClr val="824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65760" y="425196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Just-In-Time (JIT) Elevation Flow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8640" y="4828032"/>
            <a:ext cx="73152" cy="73152"/>
          </a:xfrm>
          <a:prstGeom prst="rect">
            <a:avLst/>
          </a:prstGeom>
          <a:solidFill>
            <a:srgbClr val="824DE0"/>
          </a:solidFill>
          <a:ln>
            <a:solidFill>
              <a:srgbClr val="824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13232" y="4754880"/>
            <a:ext cx="640080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Dev hits /elevate portal · picks reason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8640" y="5157216"/>
            <a:ext cx="73152" cy="73152"/>
          </a:xfrm>
          <a:prstGeom prst="rect">
            <a:avLst/>
          </a:prstGeom>
          <a:solidFill>
            <a:srgbClr val="824DE0"/>
          </a:solidFill>
          <a:ln>
            <a:solidFill>
              <a:srgbClr val="824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13232" y="5084064"/>
            <a:ext cx="640080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Manager (different person) approves in Slack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" y="5486400"/>
            <a:ext cx="73152" cy="73152"/>
          </a:xfrm>
          <a:prstGeom prst="rect">
            <a:avLst/>
          </a:prstGeom>
          <a:solidFill>
            <a:srgbClr val="824DE0"/>
          </a:solidFill>
          <a:ln>
            <a:solidFill>
              <a:srgbClr val="824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13232" y="5413248"/>
            <a:ext cx="640080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Temporary upgrade for 4 hours, auto-revokes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5815584"/>
            <a:ext cx="73152" cy="73152"/>
          </a:xfrm>
          <a:prstGeom prst="rect">
            <a:avLst/>
          </a:prstGeom>
          <a:solidFill>
            <a:srgbClr val="824DE0"/>
          </a:solidFill>
          <a:ln>
            <a:solidFill>
              <a:srgbClr val="824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13232" y="5742432"/>
            <a:ext cx="640080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Full audit trail: who-approved-what-and-why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315200" y="4251960"/>
            <a:ext cx="45720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7315200" y="4251960"/>
            <a:ext cx="4572000" cy="3657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315200" y="4251960"/>
            <a:ext cx="457200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Project-Scoped Keys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498080" y="4828032"/>
            <a:ext cx="73152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662672" y="4754880"/>
            <a:ext cx="411480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Per-repo / per-project virtual keys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498080" y="5157216"/>
            <a:ext cx="73152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662672" y="5084064"/>
            <a:ext cx="411480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key-bk-pub  →  works anywhere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498080" y="5486400"/>
            <a:ext cx="73152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7662672" y="5413248"/>
            <a:ext cx="411480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key-bk-cust  →  only inside customer-data/* repo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498080" y="5815584"/>
            <a:ext cx="73152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662672" y="5742432"/>
            <a:ext cx="411480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Lost laptop → revoke pub key; project key needs CI env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4" name="Picture 13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621792" cy="493776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1065276" y="80444"/>
            <a:ext cx="6141282" cy="4678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LLM GATEWAY AUTHORIZATION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38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9080" y="5006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7140" y="48865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8551" y="468330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4959" y="44051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7797" y="40638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8223" y="367411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7070" y="325246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4816" y="28168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1555" y="23859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7001" y="19780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0495" y="16106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1035" y="1299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7319" y="10572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7800" y="8948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0753" y="8191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4345" y="833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6718" y="9365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067" y="11247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0712" y="13896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9176" y="17201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0247" y="210201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3026" y="25190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968" y="29533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904" y="33865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8052" y="38001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6001" y="41764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6691" y="449944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1372" y="47553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7260" y="105154"/>
            <a:ext cx="9144000" cy="4206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Input DLP — Presidio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118872"/>
            <a:ext cx="1554480" cy="393192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18872"/>
            <a:ext cx="1554480" cy="3931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DLP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PROPRIETARY AND CONFIDENTIAL  |  OATI Technology  |  AI Model Evaluation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Every prompt is scanned before it leaves the gateway. Hits on configured patterns are either redacted (default) or refused (strict teams).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1325880"/>
            <a:ext cx="576072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1325880"/>
            <a:ext cx="5760720" cy="411480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1325880"/>
            <a:ext cx="54864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Detectors enabled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1929384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1847088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Built-in: Person, Email, Phone — Presidio default recognisers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" y="2267712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2185416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Built-in: Credit Card, IBAN — PCI-relevant 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" y="2606040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2523744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Built-in: AWS keys, GitHub PAT — common cloud / VCS secrets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" y="2944368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" y="2862072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Built-in: SSN, Aadhaar — region-specific national IDs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" y="3282696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3200400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Custom: customer-id regex — OATI-prefixed account numbers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" y="3621024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8368" y="3538728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Custom: regulated-repo path — /regulated/* paths in stack traces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959352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8368" y="3877056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Custom: PEM blocks — BEGIN PRIVATE KEY / certificates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" y="4297680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4215384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Custom: high-entropy strings — likely-secret heuristic (&gt;4.5 bits/char)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1325880"/>
            <a:ext cx="553212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55080" y="1325880"/>
            <a:ext cx="5532120" cy="4114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55080" y="1325880"/>
            <a:ext cx="553212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Per-policy actions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1874519"/>
            <a:ext cx="1828800" cy="365760"/>
          </a:xfrm>
          <a:prstGeom prst="rect">
            <a:avLst/>
          </a:prstGeom>
          <a:solidFill>
            <a:srgbClr val="FCEFCB"/>
          </a:solidFill>
          <a:ln>
            <a:solidFill>
              <a:srgbClr val="FCE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0" y="1874519"/>
            <a:ext cx="169164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REDACT (default)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1874519"/>
            <a:ext cx="34290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Replace match with &lt;PII_TYPE&gt; token; forward; log finding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2468879"/>
            <a:ext cx="1828800" cy="365760"/>
          </a:xfrm>
          <a:prstGeom prst="rect">
            <a:avLst/>
          </a:prstGeom>
          <a:solidFill>
            <a:srgbClr val="FCEFCB"/>
          </a:solidFill>
          <a:ln>
            <a:solidFill>
              <a:srgbClr val="FCE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0" y="2468879"/>
            <a:ext cx="169164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REFUSE (strict)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2468879"/>
            <a:ext cx="34290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Return 422 to IDE; do NOT forward; log finding + alert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3063239"/>
            <a:ext cx="1828800" cy="365760"/>
          </a:xfrm>
          <a:prstGeom prst="rect">
            <a:avLst/>
          </a:prstGeom>
          <a:solidFill>
            <a:srgbClr val="FCEFCB"/>
          </a:solidFill>
          <a:ln>
            <a:solidFill>
              <a:srgbClr val="FCE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83680" y="3063239"/>
            <a:ext cx="169164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WARN (training)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60" y="3063239"/>
            <a:ext cx="34290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Forward; log finding; surface gentle warning in IDE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657599"/>
            <a:ext cx="1828800" cy="365760"/>
          </a:xfrm>
          <a:prstGeom prst="rect">
            <a:avLst/>
          </a:prstGeom>
          <a:solidFill>
            <a:srgbClr val="FCEFCB"/>
          </a:solidFill>
          <a:ln>
            <a:solidFill>
              <a:srgbClr val="FCE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583680" y="3657599"/>
            <a:ext cx="169164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NEVER LOG raw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66760" y="3657599"/>
            <a:ext cx="34290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Audit trail stores HASH of redacted text, not plaintext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92240" y="4251959"/>
            <a:ext cx="1828800" cy="365760"/>
          </a:xfrm>
          <a:prstGeom prst="rect">
            <a:avLst/>
          </a:prstGeom>
          <a:solidFill>
            <a:srgbClr val="FCEFCB"/>
          </a:solidFill>
          <a:ln>
            <a:solidFill>
              <a:srgbClr val="FCE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83680" y="4251959"/>
            <a:ext cx="169164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ALERT on rate spike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4251959"/>
            <a:ext cx="34290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&gt; 5 hits / dev / week → manager notification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" y="43855"/>
            <a:ext cx="80973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45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9080" y="5006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7140" y="48865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8551" y="468330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4959" y="44051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7797" y="40638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8223" y="367411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7070" y="325246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4816" y="28168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1555" y="23859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7001" y="19780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0495" y="16106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1035" y="1299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7319" y="10572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7800" y="8948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0753" y="8191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4345" y="833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6718" y="9365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067" y="11247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0712" y="13896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9176" y="17201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0247" y="210201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3026" y="25190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968" y="29533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904" y="33865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8052" y="38001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6001" y="41764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6691" y="449944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1372" y="47553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7881" y="105154"/>
            <a:ext cx="9144000" cy="4206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Guardrails — Prompt Injection, Output Filtering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118872"/>
            <a:ext cx="1554480" cy="393192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18872"/>
            <a:ext cx="1554480" cy="3931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PROPRIETARY AND CONFIDENTIAL  |  OATI Technology  |  AI Model Evaluation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Two layers — defending the system prompt and policy from malicious input, and scrubbing the model's reply before it returns to the dev.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1325880"/>
            <a:ext cx="576072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1325880"/>
            <a:ext cx="5760720" cy="4114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1325880"/>
            <a:ext cx="54864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Input — pre-call hooks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1929384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1847088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Prompt-injection / jailbreak detection (LLM Guard)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" y="2267712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2185416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Refusal of "ignore previous instructions" / "system prompt"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" y="2606040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2523744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Off-topic / NSFW (custom NeMo Guardrails rails)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" y="2944368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" y="2862072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Token-bomb / context-flood protection (&gt; 100k tokens refused)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" y="3282696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3200400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Off-task abuse (e.g., bulk translation, image gen prompts)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1325880"/>
            <a:ext cx="553212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55080" y="1325880"/>
            <a:ext cx="5532120" cy="411480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92240" y="1325880"/>
            <a:ext cx="52578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Output — post-call hooks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19672" y="1929384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47688" y="1847088"/>
            <a:ext cx="51663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Secret-pattern scan (TruffleHog / detect-secrets)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19672" y="2267712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47688" y="2185416"/>
            <a:ext cx="51663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High-entropy string detection (&gt; 4.5 bits/char)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19672" y="2606040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47688" y="2523744"/>
            <a:ext cx="51663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Output PII scan (echo of input PII)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19672" y="2944368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47688" y="2862072"/>
            <a:ext cx="51663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Hallucinated internal-URL detection (custom)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19672" y="3282696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47688" y="3200400"/>
            <a:ext cx="51663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Code-output linting for unsafe patterns (eval, exec)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19672" y="3621024"/>
            <a:ext cx="64008" cy="6400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47688" y="3538728"/>
            <a:ext cx="51663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Block + log + alert on any positive hit</a:t>
            </a:r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" y="43855"/>
            <a:ext cx="80973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08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9080" y="5006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7140" y="48865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8551" y="468330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4959" y="44051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7797" y="40638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8223" y="367411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7070" y="325246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4816" y="28168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1555" y="23859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7001" y="19780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0495" y="16106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1035" y="1299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7319" y="10572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7800" y="8948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0753" y="8191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4345" y="833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6718" y="9365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067" y="11247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0712" y="13896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9176" y="17201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0247" y="210201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3026" y="25190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968" y="29533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904" y="33865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8052" y="38001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6001" y="41764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6691" y="449944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1372" y="47553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07338" y="64008"/>
            <a:ext cx="91440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Activity Monitoring — UEBA &amp; Misuse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118872"/>
            <a:ext cx="1554480" cy="393192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18872"/>
            <a:ext cx="1554480" cy="3931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PROPRIETARY AND CONFIDENTIAL  |  OATI Technology  |  AI Model Evaluation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Continuous behavioural baselining + signal-based alerts. Catches insider threat, policy violations and DLP-bypass attempts — without rummaging through every prompt. Ethics guardrails enforced by design, not policy.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1325880"/>
            <a:ext cx="69494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1325880"/>
            <a:ext cx="6949440" cy="36576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1325880"/>
            <a:ext cx="694944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Signals we watch (auto-baselined per user, alert at ≥ 3σ)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1691640"/>
            <a:ext cx="2743200" cy="292608"/>
          </a:xfrm>
          <a:prstGeom prst="rect">
            <a:avLst/>
          </a:prstGeom>
          <a:solidFill>
            <a:srgbClr val="354660"/>
          </a:solidFill>
          <a:ln>
            <a:solidFill>
              <a:srgbClr val="35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1691640"/>
            <a:ext cx="260604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1691640"/>
            <a:ext cx="4206240" cy="292608"/>
          </a:xfrm>
          <a:prstGeom prst="rect">
            <a:avLst/>
          </a:prstGeom>
          <a:solidFill>
            <a:srgbClr val="354660"/>
          </a:solidFill>
          <a:ln>
            <a:solidFill>
              <a:srgbClr val="35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0" y="1691640"/>
            <a:ext cx="40690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it catches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1984248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1984248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Volume anomaly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1984248"/>
            <a:ext cx="4206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0" y="1984248"/>
            <a:ext cx="4069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10× baseline tokens in a day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2395728"/>
            <a:ext cx="27432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2395728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Hour-of-day anomaly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2395728"/>
            <a:ext cx="4206240" cy="41148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200400" y="2395728"/>
            <a:ext cx="4069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Activity at 3 AM from a 10–6 user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2807208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2807208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Model-mix anomaly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2807208"/>
            <a:ext cx="4206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0" y="2807208"/>
            <a:ext cx="4069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Junior hits premium model 50×/day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218688"/>
            <a:ext cx="27432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3218688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DLP hit rate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3218688"/>
            <a:ext cx="4206240" cy="41148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00400" y="3218688"/>
            <a:ext cx="4069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Same user &gt; 5 DLP hits / week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630168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3630168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Prompt-topic drift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08960" y="3630168"/>
            <a:ext cx="4206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200400" y="3630168"/>
            <a:ext cx="4069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Competitor names, exfil keywords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041648"/>
            <a:ext cx="27432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7200" y="4041648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Jailbreak attempts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0" y="4041648"/>
            <a:ext cx="4206240" cy="41148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200400" y="4041648"/>
            <a:ext cx="4069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"Ignore previous instructions…"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453128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7200" y="4453128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Off-task usage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08960" y="4453128"/>
            <a:ext cx="4206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200400" y="4453128"/>
            <a:ext cx="4069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Recipes, gambling, personal chat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864608"/>
            <a:ext cx="27432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7200" y="4864608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Refusal-velocity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08960" y="4864608"/>
            <a:ext cx="4206240" cy="41148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200400" y="4864608"/>
            <a:ext cx="4069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10 refusals in 5 min = bypass attempt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276088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5276088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Sensitive-keyword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08960" y="5276088"/>
            <a:ext cx="4206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200400" y="5276088"/>
            <a:ext cx="4069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Customer IDs / repo paths / PEM blocks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687568"/>
            <a:ext cx="27432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57200" y="5687568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Cross-team boundary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08960" y="5687568"/>
            <a:ext cx="4206240" cy="411480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200400" y="5687568"/>
            <a:ext cx="40690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Backend dev asking about HR data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52360" y="1325880"/>
            <a:ext cx="443484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452360" y="1325880"/>
            <a:ext cx="4434840" cy="365760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452360" y="1325880"/>
            <a:ext cx="443484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UEBA tooling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16952" y="1865376"/>
            <a:ext cx="64008" cy="64008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744968" y="1783080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Splunk UBA  /  Microsoft Sentinel UEBA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16952" y="2194560"/>
            <a:ext cx="64008" cy="64008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744968" y="2112264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OSS: ELK + Elastic SIEM detection rules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616952" y="2523744"/>
            <a:ext cx="64008" cy="64008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744968" y="2441448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Daily security digest → SOC inbox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16952" y="2852928"/>
            <a:ext cx="64008" cy="64008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744968" y="2770632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Auto-quarantine: 3 signals → key disabled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16952" y="3182112"/>
            <a:ext cx="64008" cy="64008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744968" y="3099816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Quarterly red-team with decoy prompts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452360" y="3703320"/>
            <a:ext cx="443484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452360" y="3703320"/>
            <a:ext cx="4434840" cy="365760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452360" y="3703320"/>
            <a:ext cx="443484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Ethical guardrails (non-negotiable)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616952" y="4242816"/>
            <a:ext cx="64008" cy="64008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744968" y="4160520"/>
            <a:ext cx="40233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Transparent monitoring; in AUP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16952" y="4535424"/>
            <a:ext cx="64008" cy="64008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744968" y="4453128"/>
            <a:ext cx="40233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Purpose limitation: security ONLY (no perf-review use)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616952" y="4828032"/>
            <a:ext cx="64008" cy="64008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744968" y="4745736"/>
            <a:ext cx="40233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4-eyes access to raw prompt text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616952" y="5120640"/>
            <a:ext cx="64008" cy="64008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744968" y="5038344"/>
            <a:ext cx="40233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DPDP Act 2023 + GDPR Art 5 compliant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616952" y="5413248"/>
            <a:ext cx="64008" cy="64008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744968" y="5330952"/>
            <a:ext cx="40233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Retention: 90 d hot · 1 yr cold · hard delete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16952" y="5705856"/>
            <a:ext cx="64008" cy="64008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744968" y="5623560"/>
            <a:ext cx="40233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Right to explanation if quarantined</a:t>
            </a:r>
          </a:p>
        </p:txBody>
      </p:sp>
      <p:pic>
        <p:nvPicPr>
          <p:cNvPr id="113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" y="43855"/>
            <a:ext cx="80973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84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9080" y="5006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7140" y="48865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8551" y="468330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4959" y="44051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7797" y="40638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8223" y="367411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7070" y="325246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4816" y="28168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1555" y="23859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7001" y="19780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0495" y="16106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1035" y="1299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7319" y="10572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7800" y="89489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0753" y="8191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4345" y="8332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6718" y="9365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067" y="11247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0712" y="138967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9176" y="172013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0247" y="210201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3026" y="251902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968" y="29533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904" y="338658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8052" y="38001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6001" y="41764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6691" y="449944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1372" y="475535"/>
            <a:ext cx="45720" cy="45720"/>
          </a:xfrm>
          <a:prstGeom prst="rect">
            <a:avLst/>
          </a:prstGeom>
          <a:solidFill>
            <a:srgbClr val="C8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8688" y="105154"/>
            <a:ext cx="9144000" cy="4206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Smart Router — Automatic Model Selection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118872"/>
            <a:ext cx="1554480" cy="393192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18872"/>
            <a:ext cx="1554480" cy="3931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SMART ROUTER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PROPRIETARY AND CONFIDENTIAL  |  OATI Technology  |  AI Model Evaluation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The gateway picks the best model per prompt — based on length, intent and team policy — instead of asking the developer. Manual override always allowed; every routing decision is fully transparent in response headers.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1325880"/>
            <a:ext cx="484632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1325880"/>
            <a:ext cx="4846320" cy="365760"/>
          </a:xfrm>
          <a:prstGeom prst="rect">
            <a:avLst/>
          </a:prstGeom>
          <a:solidFill>
            <a:srgbClr val="1B2A4E"/>
          </a:solidFill>
          <a:ln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1325880"/>
            <a:ext cx="484632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Three-strategy ladder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1828800"/>
            <a:ext cx="4572000" cy="640080"/>
          </a:xfrm>
          <a:prstGeom prst="rect">
            <a:avLst/>
          </a:prstGeom>
          <a:solidFill>
            <a:srgbClr val="E3EEFA"/>
          </a:solidFill>
          <a:ln>
            <a:solidFill>
              <a:srgbClr val="E3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2920" y="1828800"/>
            <a:ext cx="164592" cy="640080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1874520"/>
            <a:ext cx="42976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Rule-based (regex + length)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2139696"/>
            <a:ext cx="429768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Ship in S2 · 70% accuracy · &lt; 1 ms latency · zero cost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542032"/>
            <a:ext cx="4572000" cy="640080"/>
          </a:xfrm>
          <a:prstGeom prst="rect">
            <a:avLst/>
          </a:prstGeom>
          <a:solidFill>
            <a:srgbClr val="E3EEFA"/>
          </a:solidFill>
          <a:ln>
            <a:solidFill>
              <a:srgbClr val="E3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2920" y="2542032"/>
            <a:ext cx="164592" cy="640080"/>
          </a:xfrm>
          <a:prstGeom prst="rect">
            <a:avLst/>
          </a:prstGeom>
          <a:solidFill>
            <a:srgbClr val="824DE0"/>
          </a:solidFill>
          <a:ln>
            <a:solidFill>
              <a:srgbClr val="824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2587752"/>
            <a:ext cx="42976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Embedding similarity (semantic-router)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2852928"/>
            <a:ext cx="429768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Add in S3 · 85% accuracy · 30–80 ms · small compute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255264"/>
            <a:ext cx="4572000" cy="640080"/>
          </a:xfrm>
          <a:prstGeom prst="rect">
            <a:avLst/>
          </a:prstGeom>
          <a:solidFill>
            <a:srgbClr val="E3EEFA"/>
          </a:solidFill>
          <a:ln>
            <a:solidFill>
              <a:srgbClr val="E3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02920" y="3255264"/>
            <a:ext cx="164592" cy="640080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3300984"/>
            <a:ext cx="42976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Classifier-LLM (tiny model decides)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3566160"/>
            <a:ext cx="429768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Only if (1)+(2) miss · 92% accuracy · 100–300 ms · 1 extra call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0" y="1325880"/>
            <a:ext cx="658368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303520" y="1325880"/>
            <a:ext cx="6583680" cy="365760"/>
          </a:xfrm>
          <a:prstGeom prst="rect">
            <a:avLst/>
          </a:prstGeom>
          <a:solidFill>
            <a:srgbClr val="C82A32"/>
          </a:solidFill>
          <a:ln>
            <a:solidFill>
              <a:srgbClr val="C8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03520" y="1325880"/>
            <a:ext cx="658368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Routing decision table (rule-based starter)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1691640"/>
            <a:ext cx="4206240" cy="274320"/>
          </a:xfrm>
          <a:prstGeom prst="rect">
            <a:avLst/>
          </a:prstGeom>
          <a:solidFill>
            <a:srgbClr val="354660"/>
          </a:solidFill>
          <a:ln>
            <a:solidFill>
              <a:srgbClr val="35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94960" y="1691640"/>
            <a:ext cx="406908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Prompt characteristic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9760" y="1691640"/>
            <a:ext cx="2377440" cy="274320"/>
          </a:xfrm>
          <a:prstGeom prst="rect">
            <a:avLst/>
          </a:prstGeom>
          <a:solidFill>
            <a:srgbClr val="354660"/>
          </a:solidFill>
          <a:ln>
            <a:solidFill>
              <a:srgbClr val="354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01200" y="1691640"/>
            <a:ext cx="2240280" cy="2743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Routes 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1965960"/>
            <a:ext cx="4206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94960" y="1965960"/>
            <a:ext cx="40690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≤ 100 tokens, no tools, no code blocks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9760" y="1965960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601200" y="1965960"/>
            <a:ext cx="22402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Gemma 4 27B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03520" y="2258568"/>
            <a:ext cx="4206240" cy="292608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94960" y="2258568"/>
            <a:ext cx="40690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&gt; 100 tokens, code blocks, refactor intent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09760" y="2258568"/>
            <a:ext cx="2377440" cy="292608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01200" y="2258568"/>
            <a:ext cx="22402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Qwen3-Coder 30B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0" y="2551176"/>
            <a:ext cx="4206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94960" y="2551176"/>
            <a:ext cx="40690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Tool use / function calling / multi-step plan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09760" y="2551176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01200" y="2551176"/>
            <a:ext cx="22402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Kimi K2.6 (if tier allows)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0" y="2843784"/>
            <a:ext cx="4206240" cy="292608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394960" y="2843784"/>
            <a:ext cx="40690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Prompt has DLP-tagged content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2843784"/>
            <a:ext cx="2377440" cy="292608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601200" y="2843784"/>
            <a:ext cx="22402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Self-host only (never cloud)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03520" y="3136392"/>
            <a:ext cx="42062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394960" y="3136392"/>
            <a:ext cx="40690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Daily budget &gt; 80% consumed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09760" y="3136392"/>
            <a:ext cx="23774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01200" y="3136392"/>
            <a:ext cx="22402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Force cheapest model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3520" y="3429000"/>
            <a:ext cx="4206240" cy="292608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94960" y="3429000"/>
            <a:ext cx="40690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Cache-hit (semantic dedup)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09760" y="3429000"/>
            <a:ext cx="2377440" cy="292608"/>
          </a:xfrm>
          <a:prstGeom prst="rect">
            <a:avLst/>
          </a:prstGeom>
          <a:solidFill>
            <a:srgbClr val="F5F7FA"/>
          </a:solidFill>
          <a:ln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601200" y="3429000"/>
            <a:ext cx="22402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Skip inference; return cached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4069080"/>
            <a:ext cx="115214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65760" y="4069080"/>
            <a:ext cx="11521440" cy="3657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65760" y="4069080"/>
            <a:ext cx="1152144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Transparency requirements — never hide the routing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4360" y="4645152"/>
            <a:ext cx="73152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77240" y="4572000"/>
            <a:ext cx="5394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Response header  X-LLM-Model-Used: qwen3-coder-30b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09360" y="4645152"/>
            <a:ext cx="73152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92240" y="4572000"/>
            <a:ext cx="5394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Response header  X-LLM-Routing-Reason: "long code block — default workhorse"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4360" y="5010912"/>
            <a:ext cx="73152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77240" y="4937760"/>
            <a:ext cx="5394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IDE badge: "Answered by Qwen3-Coder" — visible every reply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09360" y="5010912"/>
            <a:ext cx="73152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492240" y="4937760"/>
            <a:ext cx="5394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Override:  ?model=kimi-k2.6  forces a specific model (logged, counted against that model's budget)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94360" y="5376672"/>
            <a:ext cx="73152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77240" y="5303520"/>
            <a:ext cx="5394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Admin UI: dev can see their last 24h routing distribution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5376672"/>
            <a:ext cx="73152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492240" y="5303520"/>
            <a:ext cx="53949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Watch: override-rate per user — leading indicator the router is making bad calls</a:t>
            </a:r>
          </a:p>
        </p:txBody>
      </p:sp>
      <p:pic>
        <p:nvPicPr>
          <p:cNvPr id="99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" y="43855"/>
            <a:ext cx="80973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02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621792" cy="4937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CFD4DC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3749039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3749039" cy="36576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34747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19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Anyone on the LAN hits the model anonymously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Impact: Stolen laptop = free model for an attacker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749039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417320"/>
            <a:ext cx="3749039" cy="36576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417320"/>
            <a:ext cx="34747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Authorization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874519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Junior dev runs senior-grade agent + quotas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Impact: Interns running production-grade refactors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417320"/>
            <a:ext cx="3749039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21040" y="1417320"/>
            <a:ext cx="3749039" cy="36576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417320"/>
            <a:ext cx="34747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exfil (in)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874519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Dev pastes PII / secrets / regulated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37744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Impact: GDPR breach, lost IP, secrets in logs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3749039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108960"/>
            <a:ext cx="3749039" cy="36576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108960"/>
            <a:ext cx="34747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exfil (out)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56616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Model regurgitates a secret it saw earlier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06908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Impact: Leaked API keys appear in chat replies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108960"/>
            <a:ext cx="3749039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0" y="3108960"/>
            <a:ext cx="3749039" cy="36576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3108960"/>
            <a:ext cx="34747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Cost / abuse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56616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One dev fires a 50-tab fuzz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06908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Impact: Shared GPU saturated; legitimate users blocked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108960"/>
            <a:ext cx="3749039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3108960"/>
            <a:ext cx="3749039" cy="36576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3108960"/>
            <a:ext cx="34747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Audit / forensics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56616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"Did anyone send our auth code to the model?"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06908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Impact: No answer = de facto breach during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Each threat maps 1:1 to a control on the next slide.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85242"/>
            <a:ext cx="10058400" cy="4678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IN" sz="2800" b="1" dirty="0">
                <a:solidFill>
                  <a:srgbClr val="FFFFFF"/>
                </a:solidFill>
                <a:latin typeface="Calibri"/>
              </a:rPr>
              <a:t>SECURITY THREATS POSSIBILITY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621792" cy="493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5008" y="115442"/>
            <a:ext cx="10102943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What's </a:t>
            </a: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>B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uilt — </a:t>
            </a: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>G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ateway, </a:t>
            </a: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>A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dmin UI, </a:t>
            </a: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>O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CFD4DC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66928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669280" cy="45720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53035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Gateway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29968"/>
            <a:ext cx="54864" cy="164592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192024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FastAPI :4000 · uvicorn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41448"/>
            <a:ext cx="54864" cy="164592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33172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/v1/chat/completions · /v1/models · /admin/* · /metrics · /ready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52928"/>
            <a:ext cx="54864" cy="164592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274320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LLMGateway shim — drop-in for LiteLLM Router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64408"/>
            <a:ext cx="54864" cy="164592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15468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Truststore (OS cert store) — works behind SSL-MITM AV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325880"/>
            <a:ext cx="566928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669280" cy="457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325880"/>
            <a:ext cx="53035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Admin 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029968"/>
            <a:ext cx="54864" cy="1645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01968" y="192024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Next.js 15 :3010 · 4-theme picker (light/dark/solarized)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441448"/>
            <a:ext cx="54864" cy="1645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01968" y="233172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Sidebar grouped by pipeline stage (AuthN → Audit)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852928"/>
            <a:ext cx="54864" cy="1645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274320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Settings · Models tab (typed form per provider) · App tab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264408"/>
            <a:ext cx="54864" cy="1645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315468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OpenRouter catalog browser · one-click import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931920"/>
            <a:ext cx="566928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56692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53035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Persistence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636008"/>
            <a:ext cx="54864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452628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Postgres × 2 (operational + audit)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047488"/>
            <a:ext cx="54864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" y="493776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audit_log body AES-GCM-encrypted at rest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458968"/>
            <a:ext cx="54864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534924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4-eyes reveal flow for plaintext access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870448"/>
            <a:ext cx="54864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" y="576072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Redis (optional) · in-memory fallback for dev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3931920"/>
            <a:ext cx="566928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60" y="3931920"/>
            <a:ext cx="5669280" cy="457200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3931920"/>
            <a:ext cx="53035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636008"/>
            <a:ext cx="54864" cy="164592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01968" y="452628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Prometheus :9090 · 5 s scrape · 15 d retention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047488"/>
            <a:ext cx="54864" cy="164592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01968" y="493776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Grafana :3001 · 2 provisioned dashboards · iframe-embedded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5458968"/>
            <a:ext cx="54864" cy="164592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01968" y="534924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Alertmanager :9093 · routes Prometheus alerts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5870448"/>
            <a:ext cx="54864" cy="164592"/>
          </a:xfrm>
          <a:prstGeom prst="rect">
            <a:avLst/>
          </a:prstGeom>
          <a:solidFill>
            <a:srgbClr val="824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01968" y="576072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UEBA per-user baselines · 10-signal radar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All built. Verify status via /ready and the admin UI's Observability page.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621792" cy="493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85242"/>
            <a:ext cx="10058400" cy="4678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IN" sz="2800" b="1" dirty="0">
                <a:solidFill>
                  <a:srgbClr val="FFFFFF"/>
                </a:solidFill>
                <a:latin typeface="Calibri"/>
              </a:rPr>
              <a:t>CLUSTERING AND LOAD BALANCHING – YES SUPPORTED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CFD4DC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 Light"/>
              </a:rPr>
              <a:t>The gateway is mostly stateless by design. Add a second replica behind a load balancer once these three caveats are addressed.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557784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577840" cy="45720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53949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PER-PROCESS STATE — move to Redis for multi-replica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54864" cy="77724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011680"/>
            <a:ext cx="5166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quota_redis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86000"/>
            <a:ext cx="51663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In-memory counters when memory:// — each replica enforces its own RPM cap → effective limit × 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63240"/>
            <a:ext cx="54864" cy="77724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5166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cache_redis + cache_semantic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51663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In-process dict on memory:// — cache hit rate drops by 1/N per replica.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54864" cy="777240"/>
          </a:xfrm>
          <a:prstGeom prst="rect">
            <a:avLst/>
          </a:prstGeom>
          <a:solidFill>
            <a:srgbClr val="C8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5166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Plugin chain + Router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51663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Hot-reload only the receiving process — add Redis pub/sub or accept 'effective on restart'.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417320"/>
            <a:ext cx="557784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417320"/>
            <a:ext cx="557784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417320"/>
            <a:ext cx="53949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CLUSTER-SAFE TODAY — shared by construction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11680"/>
            <a:ext cx="54864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011680"/>
            <a:ext cx="5166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Postgres (op + audit)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86000"/>
            <a:ext cx="51663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Every replica reads / writes the same rows · no extra config.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063240"/>
            <a:ext cx="54864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063240"/>
            <a:ext cx="5166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Audit log · UEBA · DLP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337560"/>
            <a:ext cx="51663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Persist to Postgres · any replica sees the same 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114800"/>
            <a:ext cx="54864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114800"/>
            <a:ext cx="5166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TLS truststore + session cookies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89120"/>
            <a:ext cx="51663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Per-process bootstrap · same SESSION_SECRET on every replica.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349240"/>
            <a:ext cx="1129284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349240"/>
            <a:ext cx="111099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CFD4DC"/>
                </a:solidFill>
                <a:latin typeface="Calibri"/>
              </a:rPr>
              <a:t>RECOMMENDED TOPOLOGY · 100 DEVELOPERS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23560"/>
            <a:ext cx="111099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nginx / Traefik with ip_hash  →  2-3 gateway replicas  →  shared Postgres + shared Redis  →  GPU box (vLLM · Qwen3-Coder-30B + Gemma 4 27B)  +  OpenRouter (Kimi K2.6).  Health-check /ready · sticky sessions for SSE streams.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621792" cy="4937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CFD4DC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HARDWARE — single-box dev vs 100-dev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1247120" cy="329184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188720"/>
            <a:ext cx="21945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188720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Single-box 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254054"/>
            <a:ext cx="4297680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IN" sz="1050" b="1" i="0" dirty="0">
                <a:solidFill>
                  <a:srgbClr val="FFFFFF"/>
                </a:solidFill>
                <a:latin typeface="Calibri"/>
              </a:rPr>
              <a:t>Clustered</a:t>
            </a:r>
            <a:r>
              <a:rPr sz="1050" b="1" i="0" dirty="0">
                <a:solidFill>
                  <a:srgbClr val="FFFFFF"/>
                </a:solidFill>
                <a:latin typeface="Calibri"/>
              </a:rPr>
              <a:t> (100 </a:t>
            </a:r>
            <a:r>
              <a:rPr sz="1050" b="1" i="0" dirty="0" err="1">
                <a:solidFill>
                  <a:srgbClr val="FFFFFF"/>
                </a:solidFill>
                <a:latin typeface="Calibri"/>
              </a:rPr>
              <a:t>devs</a:t>
            </a:r>
            <a:r>
              <a:rPr sz="105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17904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517904"/>
            <a:ext cx="21945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517904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~600 MB · 1 vCPU · workers=1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517904"/>
            <a:ext cx="429768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8-16 GB · 4-8 vCPU · 2-3 replicas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47088"/>
            <a:ext cx="11247120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847088"/>
            <a:ext cx="21945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Admin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1847088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~300 MB · 0.5 vCPU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847088"/>
            <a:ext cx="429768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shares a gateway box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76272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2176272"/>
            <a:ext cx="21945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Postgres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176272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1-2 GB · 1 vCPU · 20 GB disk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176272"/>
            <a:ext cx="429768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8-16 GB · 4 vCPU · ~36 GB/year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505456"/>
            <a:ext cx="11247120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2505456"/>
            <a:ext cx="21945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Redis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2505456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100 MB (or memory:// fallback)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505456"/>
            <a:ext cx="429768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1 GB · 1 vCPU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34639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2834639"/>
            <a:ext cx="21945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GPU box (vLLM)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2834639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 required for dev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834639"/>
            <a:ext cx="429768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1× RTX 6000 Ada (48 GB) for 30B + 27B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163824"/>
            <a:ext cx="11247120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3163824"/>
            <a:ext cx="21945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Total (no GPU)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3163824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~4 GB · 2 vCPU · 20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3163824"/>
            <a:ext cx="429768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see rows above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49039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PARALLEL CALLS — gateway-only overhead is ~10-15 ms per request. Real cap is the backend.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114800"/>
            <a:ext cx="11247120" cy="329184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4114800"/>
            <a:ext cx="301752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4114800"/>
            <a:ext cx="347472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Concurrent per worker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114800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Real bottleneck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443984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4443984"/>
            <a:ext cx="301752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OpenRouter / cloud (Kimi K2.6)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4443984"/>
            <a:ext cx="347472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~500-1000 streams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443984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Provider's per-key rate limit + your daily $ budget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773168"/>
            <a:ext cx="11247120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4773168"/>
            <a:ext cx="301752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vLLM self-host (Qwen3-Coder 30B)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4760" y="4773168"/>
            <a:ext cx="347472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8-15 active completions, queued beyond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4773168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GPU throughput (40-120 tok/s aggregated, batched)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102352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5102352"/>
            <a:ext cx="301752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Ollama (smaller local models)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102352"/>
            <a:ext cx="347472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2-3 streams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5102352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CPU/GPU · Ollama doesn't auto-batch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431536"/>
            <a:ext cx="11247120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4360" y="5431536"/>
            <a:ext cx="301752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Mix (Smart Router picks)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60" y="5431536"/>
            <a:ext cx="347472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Each request takes whichever fits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52360" y="5431536"/>
            <a:ext cx="4206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Mix of the above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6080760"/>
            <a:ext cx="11292840" cy="45720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" y="6080760"/>
            <a:ext cx="111099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WORKED EXAMPLE · 100 devs × 5 calls/hr × 30 s avg = ~4 concurrent streams at peak.  One GPU + one gateway worker comfortably handles 100 devs.  Daily $ budget + RPM caps are the safety net, not raw capacity.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" y="85242"/>
            <a:ext cx="10058400" cy="4678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IN" sz="2800" b="1" dirty="0">
                <a:solidFill>
                  <a:srgbClr val="FFFFFF"/>
                </a:solidFill>
                <a:latin typeface="Calibri"/>
              </a:rPr>
              <a:t>HARDWARE REQUIREMENTS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520" cy="6858000"/>
          </a:xfrm>
          <a:prstGeom prst="rect">
            <a:avLst/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731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09600" y="2149983"/>
            <a:ext cx="7559040" cy="8206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333" b="1">
                <a:solidFill>
                  <a:srgbClr val="FFFFFF"/>
                </a:solidFill>
                <a:latin typeface="Calibri Light"/>
              </a:rPr>
              <a:t>OATI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06877"/>
            <a:ext cx="77297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dirty="0">
                <a:solidFill>
                  <a:schemeClr val="bg1"/>
                </a:solidFill>
                <a:latin typeface="Calibri Light"/>
              </a:rPr>
              <a:t>An Agentic Coding Assistant for VS Code</a:t>
            </a:r>
            <a:r>
              <a:rPr lang="en-US" sz="2800" dirty="0">
                <a:solidFill>
                  <a:schemeClr val="bg1"/>
                </a:solidFill>
                <a:latin typeface="Calibri Light"/>
              </a:rPr>
              <a:t>, Visual Studio</a:t>
            </a:r>
            <a:endParaRPr sz="2800" dirty="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3798582"/>
            <a:ext cx="7559040" cy="2666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33" i="1" dirty="0">
                <a:solidFill>
                  <a:schemeClr val="bg1"/>
                </a:solidFill>
                <a:latin typeface="Calibri Light"/>
              </a:rPr>
              <a:t>Architecture · Benefits ·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4511040"/>
            <a:ext cx="176784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609600" y="4638163"/>
            <a:ext cx="1767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Multi-Provider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512" y="4511040"/>
            <a:ext cx="176784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2572512" y="4638163"/>
            <a:ext cx="1767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MCP Native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35424" y="4511040"/>
            <a:ext cx="1767840" cy="4389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4535424" y="4638163"/>
            <a:ext cx="1767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Parallel 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8336" y="4511040"/>
            <a:ext cx="176784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498336" y="4638163"/>
            <a:ext cx="1767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Open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6320" y="670560"/>
            <a:ext cx="341376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33" b="1">
                <a:solidFill>
                  <a:srgbClr val="E7E6E6"/>
                </a:solidFill>
                <a:latin typeface="Calibri Light"/>
              </a:rPr>
              <a:t>At a glance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56320" y="1280160"/>
            <a:ext cx="48768" cy="39014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8778240" y="1367510"/>
            <a:ext cx="3230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E7E6E6"/>
                </a:solidFill>
                <a:latin typeface="Calibri Light"/>
              </a:rPr>
              <a:t>IDE: VS Code extension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56320" y="1914144"/>
            <a:ext cx="48768" cy="39014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8778240" y="2001494"/>
            <a:ext cx="3230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E7E6E6"/>
                </a:solidFill>
                <a:latin typeface="Calibri Light"/>
              </a:rPr>
              <a:t>Runtime: TypeScript · Node 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56320" y="2548128"/>
            <a:ext cx="48768" cy="39014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8778240" y="2635478"/>
            <a:ext cx="3230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E7E6E6"/>
                </a:solidFill>
                <a:latin typeface="Calibri Light"/>
              </a:rPr>
              <a:t>10+ workspace packages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56320" y="3182112"/>
            <a:ext cx="48768" cy="39014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8778240" y="3269462"/>
            <a:ext cx="3230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E7E6E6"/>
                </a:solidFill>
                <a:latin typeface="Calibri Light"/>
              </a:rPr>
              <a:t>60+ built-in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56320" y="3816096"/>
            <a:ext cx="48768" cy="39014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8778240" y="3903446"/>
            <a:ext cx="3230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E7E6E6"/>
                </a:solidFill>
                <a:latin typeface="Calibri Light"/>
              </a:rPr>
              <a:t>5 modes: Ask → Auto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56320" y="4450080"/>
            <a:ext cx="48768" cy="39014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778240" y="4537430"/>
            <a:ext cx="3230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E7E6E6"/>
                </a:solidFill>
                <a:latin typeface="Calibri Light"/>
              </a:rPr>
              <a:t>MIT-licensed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217920"/>
            <a:ext cx="7559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dirty="0">
                <a:solidFill>
                  <a:srgbClr val="8C9BAB"/>
                </a:solidFill>
                <a:latin typeface="Calibri Light"/>
              </a:rPr>
              <a:t>Open Access </a:t>
            </a:r>
            <a:r>
              <a:rPr sz="1200" dirty="0">
                <a:solidFill>
                  <a:srgbClr val="8C9BAB"/>
                </a:solidFill>
                <a:latin typeface="Calibri Light"/>
              </a:rPr>
              <a:t> Technology</a:t>
            </a:r>
            <a:r>
              <a:rPr lang="en-US" sz="1200" dirty="0">
                <a:solidFill>
                  <a:srgbClr val="8C9BAB"/>
                </a:solidFill>
                <a:latin typeface="Calibri Light"/>
              </a:rPr>
              <a:t> International</a:t>
            </a:r>
            <a:r>
              <a:rPr sz="1200" dirty="0">
                <a:solidFill>
                  <a:srgbClr val="8C9BAB"/>
                </a:solidFill>
                <a:latin typeface="Calibri Light"/>
              </a:rPr>
              <a:t>  ·  2026</a:t>
            </a:r>
          </a:p>
        </p:txBody>
      </p:sp>
      <p:pic>
        <p:nvPicPr>
          <p:cNvPr id="32" name="Picture 3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90" y="703821"/>
            <a:ext cx="1440846" cy="115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31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38427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489800" y="245616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2533" b="1" dirty="0">
                <a:solidFill>
                  <a:srgbClr val="FFFFFF"/>
                </a:solidFill>
                <a:latin typeface="Calibri Light"/>
              </a:rPr>
              <a:t>OATI Connect UI</a:t>
            </a:r>
            <a:endParaRPr sz="2533" b="1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35" name="Picture 3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49" y="963396"/>
            <a:ext cx="10763543" cy="568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72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58" y="226432"/>
            <a:ext cx="11736832" cy="66019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Architecture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Four-tier pipeline from webview to providers +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28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Core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What each package owns — and how they compose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0160"/>
            <a:ext cx="3657600" cy="121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609600" y="1402080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792480" y="1524000"/>
            <a:ext cx="335280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33" b="1">
                <a:solidFill>
                  <a:srgbClr val="1F2A3D"/>
                </a:solidFill>
                <a:latin typeface="Calibri Light"/>
              </a:rPr>
              <a:t>Conductor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1950720"/>
            <a:ext cx="3352800" cy="410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Spawns agents · planner/critic stages · cancellation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657600" cy="121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4389120" y="1402080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72000" y="1524000"/>
            <a:ext cx="335280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33" b="1">
                <a:solidFill>
                  <a:srgbClr val="1F2A3D"/>
                </a:solidFill>
                <a:latin typeface="Calibri Light"/>
              </a:rPr>
              <a:t>Agent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50720"/>
            <a:ext cx="3352800" cy="410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Streams the model · executes tools · enforces caps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8640" y="1280160"/>
            <a:ext cx="3657600" cy="121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8168640" y="1402080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351520" y="1524000"/>
            <a:ext cx="335280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33" b="1">
                <a:solidFill>
                  <a:srgbClr val="1F2A3D"/>
                </a:solidFill>
                <a:latin typeface="Calibri Light"/>
              </a:rPr>
              <a:t>Providers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1950720"/>
            <a:ext cx="3352800" cy="410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OpenAI · Anthropic · OpenRouter · Ollama · LiteLLM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706624"/>
            <a:ext cx="3657600" cy="121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609600" y="2828544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92480" y="2950464"/>
            <a:ext cx="335280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33" b="1">
                <a:solidFill>
                  <a:srgbClr val="1F2A3D"/>
                </a:solidFill>
                <a:latin typeface="Calibri Light"/>
              </a:rPr>
              <a:t>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80" y="3377184"/>
            <a:ext cx="3352800" cy="410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Read · Write · Exec · Grep · MCP · Sub-agents · 60+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706624"/>
            <a:ext cx="3657600" cy="1219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4389120" y="2828544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572000" y="2950464"/>
            <a:ext cx="335280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33" b="1">
                <a:solidFill>
                  <a:srgbClr val="1F2A3D"/>
                </a:solidFill>
                <a:latin typeface="Calibri Light"/>
              </a:rPr>
              <a:t>Hooks &amp;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77184"/>
            <a:ext cx="3352800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OATI.md · facts · skills · rules · policy gates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68640" y="2706624"/>
            <a:ext cx="3657600" cy="1219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/>
          <p:cNvSpPr/>
          <p:nvPr/>
        </p:nvSpPr>
        <p:spPr>
          <a:xfrm>
            <a:off x="8168640" y="2828544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351520" y="2950464"/>
            <a:ext cx="335280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33" b="1">
                <a:solidFill>
                  <a:srgbClr val="1F2A3D"/>
                </a:solidFill>
                <a:latin typeface="Calibri Light"/>
              </a:rPr>
              <a:t>Webview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520" y="3377184"/>
            <a:ext cx="3352800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Preact · markdown · streaming · settings panel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35" name="Picture 3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4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Why OATI Code is 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The thesis, in plain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410223"/>
            <a:ext cx="10972800" cy="410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67" b="1">
                <a:solidFill>
                  <a:srgbClr val="1F2A3D"/>
                </a:solidFill>
                <a:latin typeface="Calibri Light"/>
              </a:rPr>
              <a:t>Models stay themselves. The assistant adapts around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075581"/>
            <a:ext cx="10972800" cy="2257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67" i="1">
                <a:solidFill>
                  <a:srgbClr val="4A5A70"/>
                </a:solidFill>
                <a:latin typeface="Calibri Light"/>
              </a:rPr>
              <a:t>Most assistants force every model into one code path — the lowest common denominator.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560320"/>
            <a:ext cx="542544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609600" y="2682240"/>
            <a:ext cx="542544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53440" y="2828544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1">
                <a:solidFill>
                  <a:srgbClr val="4A5A70"/>
                </a:solidFill>
                <a:latin typeface="Calibri Light"/>
              </a:rPr>
              <a:t>Other assistants ask: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3169921"/>
            <a:ext cx="493776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33" b="1">
                <a:solidFill>
                  <a:srgbClr val="1F2A3D"/>
                </a:solidFill>
                <a:latin typeface="Calibri Light"/>
              </a:rPr>
              <a:t>"How do we support EVERY model with one code path?"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4181856"/>
            <a:ext cx="97536" cy="975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048512" y="4084321"/>
            <a:ext cx="4840224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Lowest-common-denominator JSON tool format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4547616"/>
            <a:ext cx="97536" cy="975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1048512" y="4450081"/>
            <a:ext cx="4840224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Generic compaction at a fixed % across all models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4913376"/>
            <a:ext cx="97536" cy="975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1048512" y="4815841"/>
            <a:ext cx="4840224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"Don't do X, don't do Y" prompts that scold the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" y="5279136"/>
            <a:ext cx="97536" cy="975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1048512" y="5181601"/>
            <a:ext cx="4840224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Reasoning channel ignored — looks like empty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5644896"/>
            <a:ext cx="97536" cy="975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1048512" y="5547361"/>
            <a:ext cx="4840224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Provider 429s burn the turn — no retry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880" y="2560320"/>
            <a:ext cx="5425440" cy="121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6278880" y="2682240"/>
            <a:ext cx="542544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6522720" y="2828544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1">
                <a:solidFill>
                  <a:srgbClr val="4A5A70"/>
                </a:solidFill>
                <a:latin typeface="Calibri Light"/>
              </a:rPr>
              <a:t>OATI Code asks: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720" y="3169921"/>
            <a:ext cx="493776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33" b="1">
                <a:solidFill>
                  <a:srgbClr val="1F2A3D"/>
                </a:solidFill>
                <a:latin typeface="Calibri Light"/>
              </a:rPr>
              <a:t>"What does THIS model need to perform at its best?"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47104" y="4181856"/>
            <a:ext cx="97536" cy="975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6717792" y="4084321"/>
            <a:ext cx="4840224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1F2A3D"/>
                </a:solidFill>
                <a:latin typeface="Calibri Light"/>
              </a:rPr>
              <a:t>Native parsers per model — Kimi markers parse, not drop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47104" y="4547616"/>
            <a:ext cx="97536" cy="975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717792" y="4450081"/>
            <a:ext cx="4840224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1F2A3D"/>
                </a:solidFill>
                <a:latin typeface="Calibri Light"/>
              </a:rPr>
              <a:t>Compaction thresholds scaled by each model's window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47104" y="4913376"/>
            <a:ext cx="97536" cy="975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6717792" y="4815841"/>
            <a:ext cx="4840224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1F2A3D"/>
                </a:solidFill>
                <a:latin typeface="Calibri Light"/>
              </a:rPr>
              <a:t>Smart args-recovery — the assistant fixes JSON, model stays sharp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47104" y="5279136"/>
            <a:ext cx="97536" cy="975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6717792" y="5181601"/>
            <a:ext cx="4840224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1F2A3D"/>
                </a:solidFill>
                <a:latin typeface="Calibri Light"/>
              </a:rPr>
              <a:t>Reasoning channel surfaced with 💭 prefix — visible, not lost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47104" y="5644896"/>
            <a:ext cx="97536" cy="975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6717792" y="5547361"/>
            <a:ext cx="4840224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1F2A3D"/>
                </a:solidFill>
                <a:latin typeface="Calibri Light"/>
              </a:rPr>
              <a:t>429 / 5xx retried with jitter + Retry-After honoring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40" name="Picture 39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66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Gets MORE Out of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Five concrete ways OATI Code lets the model perform at its best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0160"/>
            <a:ext cx="670560" cy="9509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09600" y="1529977"/>
            <a:ext cx="670560" cy="4513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933" b="1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280160"/>
            <a:ext cx="10302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463040" y="1377696"/>
            <a:ext cx="9997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Speaks the model's native tool-call language.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19073"/>
            <a:ext cx="999744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Kimi K2.6 emits `&lt;|tool_call_begin|&gt;` markers; Cline/Continue/Aider see them as plain text and the call vanishes. OATI has a native parser, so calls actually fire.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328672"/>
            <a:ext cx="670560" cy="950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09600" y="2578489"/>
            <a:ext cx="670560" cy="4513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933" b="1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328672"/>
            <a:ext cx="10302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1463040" y="2426208"/>
            <a:ext cx="9997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Doesn't insult the model with fix-my-output prompts.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767585"/>
            <a:ext cx="999744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No "don't do X" scolding bolted to the system prompt. When args are malformed, the assistant fixes the JSON encoding silently — the model stays confident and writes better 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3377184"/>
            <a:ext cx="670560" cy="9509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09600" y="3627001"/>
            <a:ext cx="670560" cy="4513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933" b="1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377184"/>
            <a:ext cx="10302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997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Uses the model's full memory.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16097"/>
            <a:ext cx="999744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Cline auto-compacts at flat 80% on every model — Kimi 256K trims back to ~205K for no reason. OATI scales: 90% for 500K+ models, 80% for 100K+, 60% for small. Big-codebase work fits.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425696"/>
            <a:ext cx="670560" cy="9509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609600" y="4675513"/>
            <a:ext cx="670560" cy="4513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933" b="1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425696"/>
            <a:ext cx="10302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1463040" y="4523232"/>
            <a:ext cx="9997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Surfaces thinking output instead of dropping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864609"/>
            <a:ext cx="999744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DeepSeek-R1, GPT-o1, Kimi K2.6 thinking-mode stream reasoning on a side channel. Most assistants see only the main channel and silently fail. OATI surfaces reasoning with a 💭 prefix.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5474208"/>
            <a:ext cx="670560" cy="950976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609600" y="5724025"/>
            <a:ext cx="670560" cy="4513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933" b="1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5474208"/>
            <a:ext cx="10302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1463040" y="5571744"/>
            <a:ext cx="9997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Catches provider-side quirks at the gateway.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913121"/>
            <a:ext cx="999744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OpenRouter routes Kimi to mixed backends — some emit broken FP4 markers. OATI pins routing to clean providers (Fireworks, Together) automatically for Kimi-class models.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35" name="Picture 3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7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Gets Out of the Model's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Six concrete ways OATI Code removes friction between you and the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0160"/>
            <a:ext cx="3657600" cy="121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609600" y="1402080"/>
            <a:ext cx="3657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792480" y="1524000"/>
            <a:ext cx="3352800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1F2A3D"/>
                </a:solidFill>
                <a:latin typeface="Calibri Light"/>
              </a:rPr>
              <a:t>Tests fail? Agent already sees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2036065"/>
            <a:ext cx="3352800" cy="584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Run typecheck, it errors, send your next message — OATI prepends `[Diagnostics] N new errors` automatically. Others need copy-paste.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657600" cy="121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4389120" y="1402080"/>
            <a:ext cx="3657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72000" y="1524000"/>
            <a:ext cx="3352800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1F2A3D"/>
                </a:solidFill>
                <a:latin typeface="Calibri Light"/>
              </a:rPr>
              <a:t>External file edits → heads-up note.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36065"/>
            <a:ext cx="3352800" cy="779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`git pull` or edit a file outside the chat → `[Workspace heads-up]` tells the model what changed. Others plow ahead with a stale mental picture.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8640" y="1280160"/>
            <a:ext cx="3657600" cy="121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8168640" y="1402080"/>
            <a:ext cx="3657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351520" y="1524000"/>
            <a:ext cx="3352800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1F2A3D"/>
                </a:solidFill>
                <a:latin typeface="Calibri Light"/>
              </a:rPr>
              <a:t>Mid-turn message? Parallel agent.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2036065"/>
            <a:ext cx="3352800" cy="584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Cline/Continue/Copilot queue your follow-up. OATI can spawn a sibling agent on a separate task in parallel — both work concurrently.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011424"/>
            <a:ext cx="3657600" cy="121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609600" y="3133344"/>
            <a:ext cx="3657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92480" y="3255264"/>
            <a:ext cx="3352800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1F2A3D"/>
                </a:solidFill>
                <a:latin typeface="Calibri Light"/>
              </a:rPr>
              <a:t>Webview crash? You don't lose the reply.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80" y="3767329"/>
            <a:ext cx="3352800" cy="584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Every 5s during a long stream, OATI persists in-flight history. Reload Window → partial response is still there. Others save only at turn boundaries.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011424"/>
            <a:ext cx="3657600" cy="1219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4389120" y="3133344"/>
            <a:ext cx="3657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572000" y="3255264"/>
            <a:ext cx="3352800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1F2A3D"/>
                </a:solidFill>
                <a:latin typeface="Calibri Light"/>
              </a:rPr>
              <a:t>Provider 429? Retry with backoff.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767329"/>
            <a:ext cx="3352800" cy="584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Jittered exponential, honors `Retry-After`, 4 attempts. OpenRouter bursts no longer burn the turn — fewer red errors, fewer re-runs.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68640" y="3011424"/>
            <a:ext cx="3657600" cy="1219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/>
          <p:cNvSpPr/>
          <p:nvPr/>
        </p:nvSpPr>
        <p:spPr>
          <a:xfrm>
            <a:off x="8168640" y="3133344"/>
            <a:ext cx="3657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351520" y="3255264"/>
            <a:ext cx="3352800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1F2A3D"/>
                </a:solidFill>
                <a:latin typeface="Calibri Light"/>
              </a:rPr>
              <a:t>Context running low? You can SEE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520" y="3767329"/>
            <a:ext cx="3352800" cy="779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A `184k / 256k · 72%` chip in the toolbar shows the current turn's prompt vs. the model's window — green/amber/red tiers. No mystery empty responses.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34" name="Picture 3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57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Robustness — 2026-05-26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Six features that harden the agent for big-codebase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0160"/>
            <a:ext cx="3657600" cy="121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609600" y="1402080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792480" y="1524001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429 / Backoff Retry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1950721"/>
            <a:ext cx="335280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Jittered exponential · honors Retry-After · 4 attempts on transient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657600" cy="121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4389120" y="1402080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72000" y="1524001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Parallel Mid-Turn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50720"/>
            <a:ext cx="335280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Send a message mid-flight → spawn a sibling agent on a new task (Kimi-friendly)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8640" y="1280160"/>
            <a:ext cx="3657600" cy="121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8168640" y="1402080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351520" y="1524001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Workspace Heads-Up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1950720"/>
            <a:ext cx="335280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[Workspace heads-up] note prepended when files change outside the agent (git pull, etc.)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706624"/>
            <a:ext cx="3657600" cy="121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609600" y="2828544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92480" y="2950465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Diagnostics Feedback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80" y="3377184"/>
            <a:ext cx="335280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[Diagnostics] note auto-injects new typecheck/lint errors into the next turn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706624"/>
            <a:ext cx="3657600" cy="1219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4389120" y="2828544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572000" y="2950465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Resumable In-Flight 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77184"/>
            <a:ext cx="335280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5s setInterval persists streaming history — webview reload preserves partial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68640" y="2706624"/>
            <a:ext cx="3657600" cy="1219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/>
          <p:cNvSpPr/>
          <p:nvPr/>
        </p:nvSpPr>
        <p:spPr>
          <a:xfrm>
            <a:off x="8168640" y="2828544"/>
            <a:ext cx="365760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351520" y="2950465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/test-loop Slash Command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520" y="3377184"/>
            <a:ext cx="3352800" cy="389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Run tests → fix failures → re-run; bounded loop with per-iteration user approval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34" name="Picture 3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67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Long-Context &amp; UX Polish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Harness the full 256K of Kimi K2.6 — and show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463040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77824" y="1341121"/>
            <a:ext cx="6461760" cy="517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A3D"/>
                </a:solidFill>
                <a:latin typeface="Calibri Light"/>
              </a:rPr>
              <a:t>Scaled Auto-Compact. </a:t>
            </a:r>
            <a:r>
              <a:rPr sz="1400">
                <a:solidFill>
                  <a:srgbClr val="1F2A3D"/>
                </a:solidFill>
                <a:latin typeface="Calibri Light"/>
              </a:rPr>
              <a:t>Threshold scales by contextWindow — 90% / 80% / 60% — so 256K models compact at ~190K, not artificially early.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975104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77824" y="1853185"/>
            <a:ext cx="6461760" cy="517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A3D"/>
                </a:solidFill>
                <a:latin typeface="Calibri Light"/>
              </a:rPr>
              <a:t>Scaled HEAD/TAIL. </a:t>
            </a:r>
            <a:r>
              <a:rPr sz="1400">
                <a:solidFill>
                  <a:srgbClr val="1F2A3D"/>
                </a:solidFill>
                <a:latin typeface="Calibri Light"/>
              </a:rPr>
              <a:t>Compaction preserves 4+30 turns on 500K+ models, 2+20 on 100K+, 2+10 on smaller. No dropping into 8K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2487168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77824" y="2365249"/>
            <a:ext cx="6461760" cy="517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A3D"/>
                </a:solidFill>
                <a:latin typeface="Calibri Light"/>
              </a:rPr>
              <a:t>Context-Fill Indicator. </a:t>
            </a:r>
            <a:r>
              <a:rPr sz="1400">
                <a:solidFill>
                  <a:srgbClr val="1F2A3D"/>
                </a:solidFill>
                <a:latin typeface="Calibri Light"/>
              </a:rPr>
              <a:t>Topbar chip shows current turn vs. window as bar + percent with green/amber/red tiers — capacity in use is visible.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999232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77824" y="2877313"/>
            <a:ext cx="6461760" cy="517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A3D"/>
                </a:solidFill>
                <a:latin typeface="Calibri Light"/>
              </a:rPr>
              <a:t>Sticky Turn-Group Header. </a:t>
            </a:r>
            <a:r>
              <a:rPr sz="1400">
                <a:solidFill>
                  <a:srgbClr val="1F2A3D"/>
                </a:solidFill>
                <a:latin typeface="Calibri Light"/>
              </a:rPr>
              <a:t>Each turn lives in its own block; user prompt stays pinned at top while you scroll long replies.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511296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77824" y="3389377"/>
            <a:ext cx="6461760" cy="517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A3D"/>
                </a:solidFill>
                <a:latin typeface="Calibri Light"/>
              </a:rPr>
              <a:t>Recently-Changed-Files Strip. </a:t>
            </a:r>
            <a:r>
              <a:rPr sz="1400">
                <a:solidFill>
                  <a:srgbClr val="1F2A3D"/>
                </a:solidFill>
                <a:latin typeface="Calibri Light"/>
              </a:rPr>
              <a:t>Per-turn chips below assistant bubble — click to open new files or modified diffs vs pre-turn state.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023360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77824" y="3901441"/>
            <a:ext cx="6461760" cy="517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A3D"/>
                </a:solidFill>
                <a:latin typeface="Calibri Light"/>
              </a:rPr>
              <a:t>Streaming Polish. </a:t>
            </a:r>
            <a:r>
              <a:rPr sz="1400">
                <a:solidFill>
                  <a:srgbClr val="1F2A3D"/>
                </a:solidFill>
                <a:latin typeface="Calibri Light"/>
              </a:rPr>
              <a:t>rAF-throttled auto-scroll · highlight.js skip during stream · code-block collapse · contain: layout style.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1920" y="134112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7741920" y="1341120"/>
            <a:ext cx="3840480" cy="121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924800" y="1560577"/>
            <a:ext cx="3535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Context windows supported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61376" y="2170176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8168640" y="2048256"/>
            <a:ext cx="1950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3D"/>
                </a:solidFill>
                <a:latin typeface="Calibri Light"/>
              </a:rPr>
              <a:t>Kimi K2.6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7440" y="2048257"/>
            <a:ext cx="1402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5A70"/>
                </a:solidFill>
                <a:latin typeface="Calibri Light"/>
              </a:rPr>
              <a:t>262,144 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61376" y="2609088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8168640" y="2487168"/>
            <a:ext cx="1950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3D"/>
                </a:solidFill>
                <a:latin typeface="Calibri Light"/>
              </a:rPr>
              <a:t>Gemini 1.5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7440" y="2487169"/>
            <a:ext cx="1402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5A70"/>
                </a:solidFill>
                <a:latin typeface="Calibri Light"/>
              </a:rPr>
              <a:t>1,048,576 tokens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61376" y="3048000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168640" y="2926080"/>
            <a:ext cx="1950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3D"/>
                </a:solidFill>
                <a:latin typeface="Calibri Light"/>
              </a:rPr>
              <a:t>Claude 3.5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7440" y="2926081"/>
            <a:ext cx="1402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5A70"/>
                </a:solidFill>
                <a:latin typeface="Calibri Light"/>
              </a:rPr>
              <a:t>200,000 tokens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61376" y="3486912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8168640" y="3364992"/>
            <a:ext cx="1950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3D"/>
                </a:solidFill>
                <a:latin typeface="Calibri Light"/>
              </a:rPr>
              <a:t>GPT-4o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7440" y="3364993"/>
            <a:ext cx="1402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5A70"/>
                </a:solidFill>
                <a:latin typeface="Calibri Light"/>
              </a:rPr>
              <a:t>128,000 tokens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61376" y="3925824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8168640" y="3803904"/>
            <a:ext cx="1950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3D"/>
                </a:solidFill>
                <a:latin typeface="Calibri Light"/>
              </a:rPr>
              <a:t>DeepSeek V3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7440" y="3803905"/>
            <a:ext cx="1402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5A70"/>
                </a:solidFill>
                <a:latin typeface="Calibri Light"/>
              </a:rPr>
              <a:t>131,072 tokens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61376" y="4364736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8168640" y="4242816"/>
            <a:ext cx="1950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3D"/>
                </a:solidFill>
                <a:latin typeface="Calibri Light"/>
              </a:rPr>
              <a:t>Llama 3.1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7440" y="4242817"/>
            <a:ext cx="1402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5A70"/>
                </a:solidFill>
                <a:latin typeface="Calibri Light"/>
              </a:rPr>
              <a:t>131,072 tokens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43" name="Picture 4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51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Model Adaptability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Native support for the quirks open-weight models bring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0160"/>
            <a:ext cx="3657600" cy="121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609600" y="1402080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792480" y="1524001"/>
            <a:ext cx="335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Kimi K2.6 Native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1950721"/>
            <a:ext cx="3352800" cy="584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State machine for `&lt;|tool_call_begin|&gt;` markers — works even when providers stream them as text (FP4 quants).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657600" cy="121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4389120" y="1402080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72000" y="1524001"/>
            <a:ext cx="335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Wrapped-Args Universal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50721"/>
            <a:ext cx="3352800" cy="584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JSON candidate enumeration: peel quotes, de-escape, smart-quote fix, tolerant regex. Catches 12+ known shapes.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8640" y="1280160"/>
            <a:ext cx="3657600" cy="121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8168640" y="1402080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351520" y="1524001"/>
            <a:ext cx="335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Vision Pre-Flight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1950721"/>
            <a:ext cx="3352800" cy="584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Image attachment + text-only model → clear error before request fires. Catches Kimi text-only mismatch upfront.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889504"/>
            <a:ext cx="3657600" cy="121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609600" y="3011424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92480" y="3133345"/>
            <a:ext cx="335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Guardrail-Aware Errors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80" y="3560065"/>
            <a:ext cx="3352800" cy="584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OpenRouter prompt_injection / guardrail_blocked → diagnostic message with recovery options surfaced in chat.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889504"/>
            <a:ext cx="3657600" cy="1219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4389120" y="3011424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572000" y="3133345"/>
            <a:ext cx="335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Per-Model Prompt Addendum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560065"/>
            <a:ext cx="3352800" cy="584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Kimi / Qwen / Gemma get extra format reminders (args-must-be-JSON, terseness). Frontier models don't pay the tax.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68640" y="2889504"/>
            <a:ext cx="3657600" cy="1219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/>
          <p:cNvSpPr/>
          <p:nvPr/>
        </p:nvSpPr>
        <p:spPr>
          <a:xfrm>
            <a:off x="8168640" y="3011424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351520" y="3133345"/>
            <a:ext cx="335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ModelQuirks Registry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520" y="3560065"/>
            <a:ext cx="3352800" cy="584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>
                <a:solidFill>
                  <a:srgbClr val="4A5A70"/>
                </a:solidFill>
                <a:latin typeface="Calibri Light"/>
              </a:rPr>
              <a:t>Per-model: contextWindow, maxTokens, toolCallFormat, supportsVision — single source of truth across the stack.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34" name="Picture 3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45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Code Review — `/review`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Quality is a first-class subsystem, not a prompt the user has to write each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0160"/>
            <a:ext cx="3657600" cy="121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609600" y="1402080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792480" y="1499617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14 Review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1889760"/>
            <a:ext cx="33528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Style · docs · standards · correctness · security · perf · maintainability · testing · types · deps · architecture · a11y · i18n · observability — each user-tunable off / advisory / blocking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657600" cy="121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4389120" y="1402080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72000" y="1499617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/review @workspace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89760"/>
            <a:ext cx="335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4A5A70"/>
                </a:solidFill>
                <a:latin typeface="Calibri Light"/>
              </a:rPr>
              <a:t>Walk the workspace, batch 15 files per model call, accumulate findings; update-</a:t>
            </a:r>
            <a:r>
              <a:rPr sz="1200" dirty="0" err="1">
                <a:solidFill>
                  <a:srgbClr val="4A5A70"/>
                </a:solidFill>
                <a:latin typeface="Calibri Light"/>
              </a:rPr>
              <a:t>todos</a:t>
            </a:r>
            <a:r>
              <a:rPr sz="1200" dirty="0">
                <a:solidFill>
                  <a:srgbClr val="4A5A70"/>
                </a:solidFill>
                <a:latin typeface="Calibri Light"/>
              </a:rPr>
              <a:t> panel ticks off `batch 3/9 done` as it runs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8640" y="1280160"/>
            <a:ext cx="3657600" cy="121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8168640" y="1402080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351520" y="1499617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Diff-Style Suggested Fixes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1889760"/>
            <a:ext cx="335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Findings carry verbatim before/after blocks — drop-in apply, rendered as diff in chat and color-shaded in the Word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889504"/>
            <a:ext cx="3657600" cy="121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609600" y="3011424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92480" y="3108961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Auto-Review on Agent Writes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80" y="3499104"/>
            <a:ext cx="335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4A5A70"/>
                </a:solidFill>
                <a:latin typeface="Calibri Light"/>
              </a:rPr>
              <a:t>Post-turn hook re-reviews any file the agent just wrote — flags new issues before they land in your codebase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889504"/>
            <a:ext cx="3657600" cy="1219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4389120" y="3011424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572000" y="3108961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Word `.docx`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499104"/>
            <a:ext cx="335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Brand-navy heading · severity-count table · BLOCKING / ADVISORY chips · findings grouped by file with monospace path bands · auto-opens in Word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68640" y="2889504"/>
            <a:ext cx="3657600" cy="1219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/>
          <p:cNvSpPr/>
          <p:nvPr/>
        </p:nvSpPr>
        <p:spPr>
          <a:xfrm>
            <a:off x="8168640" y="3011424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351520" y="3108961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Custom Workspace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520" y="3499104"/>
            <a:ext cx="335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`.oati/review-rules.md` extends the prompt with project-specific conventions; FileSystemWatcher invalidates the cache live — no reload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4559808"/>
            <a:ext cx="10972800" cy="390144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792480" y="4570214"/>
            <a:ext cx="106070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Where others stop:  Cline / Cursor / Copilot ship code only — no structured review pass.  Claude Code has todos but no `/review`.  OATI Code makes review a separate, configurable lane.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36" name="Picture 3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40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QA Testing — `/qa` + `/ci`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Six QA modes · workspace-wide batching · multi-framework auto-detect · CI workflow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0160"/>
            <a:ext cx="3657600" cy="121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609600" y="1402080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792480" y="1499617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Six Subcommands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1889760"/>
            <a:ext cx="335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`/qa plan` · `/qa unit` · `/qa edge` · `/qa regression` · `/qa coverage` · `/qa security` — each tuned to a specific QA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657600" cy="121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4389120" y="1402080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72000" y="1499617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/qa @workspace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89760"/>
            <a:ext cx="335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`unit` / `edge` / `security` can sweep the whole repo — 15 files per batch, merged Word report, per-batch todo checklist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8640" y="1280160"/>
            <a:ext cx="3657600" cy="121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8168640" y="1402080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351520" y="1499617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Multi-Framework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1889760"/>
            <a:ext cx="335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Auto-detects vitest / jest / pytest / mocha / unittest / junit from package.json · pyproject.toml · pom.xml · build.gradle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889504"/>
            <a:ext cx="3657600" cy="121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609600" y="3011424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92480" y="3108961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Diff-Style Issue Fixes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80" y="3499104"/>
            <a:ext cx="335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Security findings + coverage gaps carry the same before/after blocks `/review` uses — Word report renders them as red/green diff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889504"/>
            <a:ext cx="3657600" cy="1219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4389120" y="3011424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572000" y="3108961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Auto-Open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499104"/>
            <a:ext cx="335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`/qa plan` writes TEST_PLAN.md and lands the cursor on it · Word reports open in Word the moment they're ready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68640" y="2889504"/>
            <a:ext cx="3657600" cy="1219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/>
          <p:cNvSpPr/>
          <p:nvPr/>
        </p:nvSpPr>
        <p:spPr>
          <a:xfrm>
            <a:off x="8168640" y="3011424"/>
            <a:ext cx="36576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351520" y="3108961"/>
            <a:ext cx="335280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>
                <a:solidFill>
                  <a:srgbClr val="1F2A3D"/>
                </a:solidFill>
                <a:latin typeface="Calibri Light"/>
              </a:rPr>
              <a:t>`/ci init` Scaffolding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520" y="3499104"/>
            <a:ext cx="335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Emits GitHub Actions · GitLab · CircleCI · Azure Pipelines · TFS workflows seeded from your QA settings — typecheck, lint, tests, coverage thresholds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4559808"/>
            <a:ext cx="10972800" cy="390144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792480" y="4570214"/>
            <a:ext cx="106070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4A5A70"/>
                </a:solidFill>
                <a:latin typeface="Calibri Light"/>
              </a:rPr>
              <a:t>Where others stop:  Most assistants will write a test if asked — none ship a structured QA subsystem with workspace batching, severity-tiered findings, Word reports, and CI scaffolding under one command.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36" name="Picture 3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62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OATI Code vs. Cline · Continue · Cursor · Copilot · Aider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19200"/>
            <a:ext cx="109728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82752" y="1341161"/>
            <a:ext cx="2560320" cy="1949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67" b="1">
                <a:solidFill>
                  <a:srgbClr val="FFFFFF"/>
                </a:solidFill>
                <a:latin typeface="Calibri Light"/>
              </a:rPr>
              <a:t>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341161"/>
            <a:ext cx="1463040" cy="1949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67" b="1">
                <a:solidFill>
                  <a:srgbClr val="FFFFFF"/>
                </a:solidFill>
                <a:latin typeface="Calibri Light"/>
              </a:rPr>
              <a:t>OATI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9952" y="1341161"/>
            <a:ext cx="1158240" cy="1949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67" b="1">
                <a:solidFill>
                  <a:srgbClr val="FFFFFF"/>
                </a:solidFill>
                <a:latin typeface="Calibri Light"/>
              </a:rPr>
              <a:t>Cline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0112" y="1341161"/>
            <a:ext cx="1158240" cy="1949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67" b="1">
                <a:solidFill>
                  <a:srgbClr val="FFFFFF"/>
                </a:solidFill>
                <a:latin typeface="Calibri Light"/>
              </a:rPr>
              <a:t>Continue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0272" y="1341161"/>
            <a:ext cx="1158240" cy="1949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67" b="1">
                <a:solidFill>
                  <a:srgbClr val="FFFFFF"/>
                </a:solidFill>
                <a:latin typeface="Calibri Light"/>
              </a:rPr>
              <a:t>Cursor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0432" y="1341161"/>
            <a:ext cx="1158240" cy="1949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67" b="1">
                <a:solidFill>
                  <a:srgbClr val="FFFFFF"/>
                </a:solidFill>
                <a:latin typeface="Calibri Light"/>
              </a:rPr>
              <a:t>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0592" y="1341161"/>
            <a:ext cx="1463040" cy="1949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67" b="1">
                <a:solidFill>
                  <a:srgbClr val="FFFFFF"/>
                </a:solidFill>
                <a:latin typeface="Calibri Light"/>
              </a:rPr>
              <a:t>Aider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658112"/>
            <a:ext cx="10972800" cy="36576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82752" y="175382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Multi-provider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175382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10+ providers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9952" y="17538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Multi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0112" y="17538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Multi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0272" y="17538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Limited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0432" y="17538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OpenAI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0592" y="175382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Multi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2023872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682752" y="211958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Agent loop + sub-agents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211958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9952" y="21195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0112" y="21195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Limited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0272" y="21195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Limited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0432" y="21195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0592" y="211958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2389632"/>
            <a:ext cx="10972800" cy="36576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682752" y="248534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Planner + Critic stages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2" y="248534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Yes (toggle)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9952" y="24853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0112" y="24853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0272" y="24853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0432" y="24853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0592" y="248534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2755392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682752" y="285110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MCP server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64992" y="285110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First-class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49952" y="285110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Yes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0112" y="285110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Preview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0272" y="285110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Limited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0432" y="285110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Preview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70592" y="285110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" y="3121152"/>
            <a:ext cx="10972800" cy="36576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682752" y="321686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Workspace memory + skills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4992" y="321686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OATI.md + skills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49952" y="321686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Rules 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0112" y="321686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Slash cmds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10272" y="321686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Basic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90432" y="321686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70592" y="321686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Conventions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600" y="3486912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682752" y="358262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Kimi K2 native parser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64992" y="358262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49952" y="35826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Via gateway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0112" y="35826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Via gateway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10272" y="35826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Limited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90432" y="35826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70592" y="358262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Via gateway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600" y="3852672"/>
            <a:ext cx="10972800" cy="36576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682752" y="394838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256K context utilisation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64992" y="394838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Scaled compact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49952" y="39483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Flat 80%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30112" y="39483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Flat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10272" y="39483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Limited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90432" y="39483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128K cap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70592" y="394838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Manual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600" y="4218432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3" name="TextBox 72"/>
          <p:cNvSpPr txBox="1"/>
          <p:nvPr/>
        </p:nvSpPr>
        <p:spPr>
          <a:xfrm>
            <a:off x="682752" y="431414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Diagnostic feedback loop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4992" y="431414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Auto-inject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49952" y="43141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Manual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30112" y="43141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Manual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10272" y="43141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Limited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90432" y="43141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70592" y="431414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Manual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9600" y="4584192"/>
            <a:ext cx="10972800" cy="36576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1" name="TextBox 80"/>
          <p:cNvSpPr txBox="1"/>
          <p:nvPr/>
        </p:nvSpPr>
        <p:spPr>
          <a:xfrm>
            <a:off x="682752" y="467990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Parallel mid-turn agents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64992" y="467990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Yes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49952" y="467990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Queue only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30112" y="467990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Queue only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10272" y="467990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Queue only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90432" y="467990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70592" y="467990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9600" y="4949952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9" name="TextBox 88"/>
          <p:cNvSpPr txBox="1"/>
          <p:nvPr/>
        </p:nvSpPr>
        <p:spPr>
          <a:xfrm>
            <a:off x="682752" y="504566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In-flight resumable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64992" y="504566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5s snapshots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49952" y="504566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Turn-end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30112" y="504566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Turn-end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10272" y="504566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Turn-end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90432" y="504566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70592" y="504566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" y="5315712"/>
            <a:ext cx="10972800" cy="36576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7" name="TextBox 96"/>
          <p:cNvSpPr txBox="1"/>
          <p:nvPr/>
        </p:nvSpPr>
        <p:spPr>
          <a:xfrm>
            <a:off x="682752" y="541142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Test-driven loop + approval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64992" y="541142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Yes (/test-loop)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49952" y="54114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30112" y="54114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10272" y="54114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Limited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90432" y="541142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70592" y="541142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09600" y="5681472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5" name="TextBox 104"/>
          <p:cNvSpPr txBox="1"/>
          <p:nvPr/>
        </p:nvSpPr>
        <p:spPr>
          <a:xfrm>
            <a:off x="682752" y="577718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Inline diff approval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64992" y="577718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Per-hunk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49952" y="57771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Per-file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30112" y="57771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Per-file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510272" y="57771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Per-file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790432" y="577718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Inline only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70592" y="577718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Per-file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9600" y="6047232"/>
            <a:ext cx="10972800" cy="36576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3" name="TextBox 112"/>
          <p:cNvSpPr txBox="1"/>
          <p:nvPr/>
        </p:nvSpPr>
        <p:spPr>
          <a:xfrm>
            <a:off x="682752" y="6142941"/>
            <a:ext cx="256032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1F2A3D"/>
                </a:solidFill>
                <a:latin typeface="Calibri Light"/>
              </a:rPr>
              <a:t>Open source / forkable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64992" y="614294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 b="1">
                <a:solidFill>
                  <a:srgbClr val="2563EB"/>
                </a:solidFill>
                <a:latin typeface="Calibri Light"/>
              </a:rPr>
              <a:t>Yes (MIT)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49952" y="61429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Yes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30112" y="61429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Yes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510272" y="61429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90432" y="6142941"/>
            <a:ext cx="11582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No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070592" y="6142941"/>
            <a:ext cx="1463040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3">
                <a:solidFill>
                  <a:srgbClr val="4A5A70"/>
                </a:solidFill>
                <a:latin typeface="Calibri Light"/>
              </a:rPr>
              <a:t>Yes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9600" y="1219200"/>
            <a:ext cx="10972800" cy="5193792"/>
          </a:xfrm>
          <a:prstGeom prst="rect">
            <a:avLst/>
          </a:prstGeom>
          <a:noFill/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1" name="Rectangle 120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2" name="TextBox 121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123" name="Picture 12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28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Advantages &amp;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Why OATI Code stands apart in the agent-IDE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463040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77824" y="1341121"/>
            <a:ext cx="6461760" cy="541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67" b="1">
                <a:solidFill>
                  <a:srgbClr val="1F2A3D"/>
                </a:solidFill>
                <a:latin typeface="Calibri Light"/>
              </a:rPr>
              <a:t>Provider-Agnostic. </a:t>
            </a:r>
            <a:r>
              <a:rPr sz="1467">
                <a:solidFill>
                  <a:srgbClr val="1F2A3D"/>
                </a:solidFill>
                <a:latin typeface="Calibri Light"/>
              </a:rPr>
              <a:t>Switch between OpenAI, Anthropic, OpenRouter, Ollama, LiteLLM without changing prompts.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975104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77824" y="1853185"/>
            <a:ext cx="6461760" cy="270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67" b="1">
                <a:solidFill>
                  <a:srgbClr val="1F2A3D"/>
                </a:solidFill>
                <a:latin typeface="Calibri Light"/>
              </a:rPr>
              <a:t>Agentic by Design. </a:t>
            </a:r>
            <a:r>
              <a:rPr sz="1467">
                <a:solidFill>
                  <a:srgbClr val="1F2A3D"/>
                </a:solidFill>
                <a:latin typeface="Calibri Light"/>
              </a:rPr>
              <a:t>Planner · Critic · Parallel sub-agents — not just chat-around-edits.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2487168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77824" y="2365249"/>
            <a:ext cx="6461760" cy="270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67" b="1">
                <a:solidFill>
                  <a:srgbClr val="1F2A3D"/>
                </a:solidFill>
                <a:latin typeface="Calibri Light"/>
              </a:rPr>
              <a:t>MCP-Native. </a:t>
            </a:r>
            <a:r>
              <a:rPr sz="1467">
                <a:solidFill>
                  <a:srgbClr val="1F2A3D"/>
                </a:solidFill>
                <a:latin typeface="Calibri Light"/>
              </a:rPr>
              <a:t>First-class Model Context Protocol — plug any tool server in 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999232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77824" y="2877313"/>
            <a:ext cx="6461760" cy="270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67" b="1">
                <a:solidFill>
                  <a:srgbClr val="1F2A3D"/>
                </a:solidFill>
                <a:latin typeface="Calibri Light"/>
              </a:rPr>
              <a:t>Configurable Modes. </a:t>
            </a:r>
            <a:r>
              <a:rPr sz="1467">
                <a:solidFill>
                  <a:srgbClr val="1F2A3D"/>
                </a:solidFill>
                <a:latin typeface="Calibri Light"/>
              </a:rPr>
              <a:t>Ask, Plan, Code, Auto-Edit, Auto — choose autonomy per task.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511296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77824" y="3389377"/>
            <a:ext cx="6461760" cy="270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67" b="1">
                <a:solidFill>
                  <a:srgbClr val="1F2A3D"/>
                </a:solidFill>
                <a:latin typeface="Calibri Light"/>
              </a:rPr>
              <a:t>Workspace Memory. </a:t>
            </a:r>
            <a:r>
              <a:rPr sz="1467">
                <a:solidFill>
                  <a:srgbClr val="1F2A3D"/>
                </a:solidFill>
                <a:latin typeface="Calibri Light"/>
              </a:rPr>
              <a:t>OATI.md, persistent facts, skills, rules — survives every session.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023360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77824" y="3901441"/>
            <a:ext cx="6461760" cy="270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67" b="1">
                <a:solidFill>
                  <a:srgbClr val="1F2A3D"/>
                </a:solidFill>
                <a:latin typeface="Calibri Light"/>
              </a:rPr>
              <a:t>Open &amp; Inspectable. </a:t>
            </a:r>
            <a:r>
              <a:rPr sz="1467">
                <a:solidFill>
                  <a:srgbClr val="1F2A3D"/>
                </a:solidFill>
                <a:latin typeface="Calibri Light"/>
              </a:rPr>
              <a:t>Clean-room TypeScript build — read the code, fork the tools.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1920" y="134112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7741920" y="1341120"/>
            <a:ext cx="3840480" cy="121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924800" y="1560577"/>
            <a:ext cx="3535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Proof 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61376" y="2170176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8168640" y="2048256"/>
            <a:ext cx="3291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1F2A3D"/>
                </a:solidFill>
                <a:latin typeface="Calibri Light"/>
              </a:rPr>
              <a:t>10+ providers supported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1376" y="2609088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8168640" y="2487168"/>
            <a:ext cx="3291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1F2A3D"/>
                </a:solidFill>
                <a:latin typeface="Calibri Light"/>
              </a:rPr>
              <a:t>60+ built-in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61376" y="3048000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8168640" y="2926080"/>
            <a:ext cx="3291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1F2A3D"/>
                </a:solidFill>
                <a:latin typeface="Calibri Light"/>
              </a:rPr>
              <a:t>MCP marketplace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61376" y="3486912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168640" y="3364992"/>
            <a:ext cx="3291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1F2A3D"/>
                </a:solidFill>
                <a:latin typeface="Calibri Light"/>
              </a:rPr>
              <a:t>Inline diff 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61376" y="3925824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8168640" y="3803904"/>
            <a:ext cx="3291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1F2A3D"/>
                </a:solidFill>
                <a:latin typeface="Calibri Light"/>
              </a:rPr>
              <a:t>Policy-aware gates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61376" y="4364736"/>
            <a:ext cx="121920" cy="121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8168640" y="4242816"/>
            <a:ext cx="3291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1F2A3D"/>
                </a:solidFill>
                <a:latin typeface="Calibri Light"/>
              </a:rPr>
              <a:t>Budget guardrails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37" name="Picture 3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688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987040" y="268402"/>
            <a:ext cx="8778240" cy="389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33" b="1">
                <a:solidFill>
                  <a:srgbClr val="FFFFFF"/>
                </a:solidFill>
                <a:latin typeface="Calibri Light"/>
              </a:rPr>
              <a:t>Built to be Yours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040" y="548640"/>
            <a:ext cx="8778240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i="1">
                <a:solidFill>
                  <a:srgbClr val="8C9BAB"/>
                </a:solidFill>
                <a:latin typeface="Calibri Light"/>
              </a:rPr>
              <a:t>An agentic coding assistant on your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532143"/>
            <a:ext cx="11224334" cy="410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67" b="1" dirty="0">
                <a:solidFill>
                  <a:srgbClr val="1F2A3D"/>
                </a:solidFill>
                <a:latin typeface="Calibri Light"/>
              </a:rPr>
              <a:t>Your</a:t>
            </a:r>
            <a:r>
              <a:rPr lang="en-IN" sz="2667" b="1" dirty="0">
                <a:solidFill>
                  <a:srgbClr val="1F2A3D"/>
                </a:solidFill>
                <a:latin typeface="Calibri Light"/>
              </a:rPr>
              <a:t> Open Source</a:t>
            </a:r>
            <a:r>
              <a:rPr sz="2667" b="1" dirty="0">
                <a:solidFill>
                  <a:srgbClr val="1F2A3D"/>
                </a:solidFill>
                <a:latin typeface="Calibri Light"/>
              </a:rPr>
              <a:t> </a:t>
            </a:r>
            <a:r>
              <a:rPr lang="en-IN" sz="2667" b="1" dirty="0">
                <a:solidFill>
                  <a:srgbClr val="1F2A3D"/>
                </a:solidFill>
                <a:latin typeface="Calibri Light"/>
              </a:rPr>
              <a:t>M</a:t>
            </a:r>
            <a:r>
              <a:rPr sz="2667" b="1" dirty="0" err="1">
                <a:solidFill>
                  <a:srgbClr val="1F2A3D"/>
                </a:solidFill>
                <a:latin typeface="Calibri Light"/>
              </a:rPr>
              <a:t>odel</a:t>
            </a:r>
            <a:r>
              <a:rPr lang="en-IN" sz="2667" b="1" dirty="0">
                <a:solidFill>
                  <a:srgbClr val="1F2A3D"/>
                </a:solidFill>
                <a:latin typeface="Calibri Light"/>
              </a:rPr>
              <a:t>s</a:t>
            </a:r>
            <a:r>
              <a:rPr sz="2667" b="1" dirty="0">
                <a:solidFill>
                  <a:srgbClr val="1F2A3D"/>
                </a:solidFill>
                <a:latin typeface="Calibri Light"/>
              </a:rPr>
              <a:t>. Your </a:t>
            </a:r>
            <a:r>
              <a:rPr lang="en-IN" sz="2667" b="1" dirty="0">
                <a:solidFill>
                  <a:srgbClr val="1F2A3D"/>
                </a:solidFill>
                <a:latin typeface="Calibri Light"/>
              </a:rPr>
              <a:t>OATILLMGateway</a:t>
            </a:r>
            <a:r>
              <a:rPr sz="2667" b="1" dirty="0">
                <a:solidFill>
                  <a:srgbClr val="1F2A3D"/>
                </a:solidFill>
                <a:latin typeface="Calibri Light"/>
              </a:rPr>
              <a:t>. Your </a:t>
            </a:r>
            <a:r>
              <a:rPr lang="en-IN" sz="2667" b="1" dirty="0">
                <a:solidFill>
                  <a:srgbClr val="1F2A3D"/>
                </a:solidFill>
                <a:latin typeface="Calibri Light"/>
              </a:rPr>
              <a:t>OATICode. Your Workspace.</a:t>
            </a:r>
            <a:endParaRPr sz="2667" b="1" dirty="0">
              <a:solidFill>
                <a:srgbClr val="1F2A3D"/>
              </a:solidFill>
              <a:latin typeface="Calibri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2223850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i="1">
                <a:solidFill>
                  <a:srgbClr val="4A5A70"/>
                </a:solidFill>
                <a:latin typeface="Calibri Light"/>
              </a:rPr>
              <a:t>OATI Code stays out of your way until you need it — and stays open when you 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5776" y="2987040"/>
            <a:ext cx="22555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255776" y="3148477"/>
            <a:ext cx="2255520" cy="2257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67" b="1">
                <a:solidFill>
                  <a:srgbClr val="FFFFFF"/>
                </a:solidFill>
                <a:latin typeface="Calibri Light"/>
              </a:rPr>
              <a:t>Install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0752" y="2987040"/>
            <a:ext cx="2255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730752" y="3148477"/>
            <a:ext cx="2255520" cy="2257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67" b="1">
                <a:solidFill>
                  <a:srgbClr val="FFFFFF"/>
                </a:solidFill>
                <a:latin typeface="Calibri Light"/>
              </a:rPr>
              <a:t>Configure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728" y="2987040"/>
            <a:ext cx="22555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6205728" y="3148477"/>
            <a:ext cx="2255520" cy="2257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67" b="1">
                <a:solidFill>
                  <a:srgbClr val="FFFFFF"/>
                </a:solidFill>
                <a:latin typeface="Calibri Light"/>
              </a:rPr>
              <a:t>Author OATI.md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0704" y="2987040"/>
            <a:ext cx="22555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680704" y="3148477"/>
            <a:ext cx="2255520" cy="2257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67" b="1">
                <a:solidFill>
                  <a:srgbClr val="FFFFFF"/>
                </a:solidFill>
                <a:latin typeface="Calibri Light"/>
              </a:rPr>
              <a:t>Ship Faster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80" y="3901440"/>
            <a:ext cx="3657600" cy="121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/>
          <p:cNvSpPr/>
          <p:nvPr/>
        </p:nvSpPr>
        <p:spPr>
          <a:xfrm>
            <a:off x="487680" y="4023360"/>
            <a:ext cx="3657600" cy="103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70560" y="4120897"/>
            <a:ext cx="335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Get started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" y="4511040"/>
            <a:ext cx="3352800" cy="410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Install the extension, pick a provider, set your API key.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200" y="3901440"/>
            <a:ext cx="3657600" cy="121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/>
          <p:cNvSpPr/>
          <p:nvPr/>
        </p:nvSpPr>
        <p:spPr>
          <a:xfrm>
            <a:off x="4267200" y="4023360"/>
            <a:ext cx="3657600" cy="103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4450080" y="4120897"/>
            <a:ext cx="335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Make it yours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80" y="4511040"/>
            <a:ext cx="3352800" cy="410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Drop in MCP servers, write skills, layer OATI.md memory.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901440"/>
            <a:ext cx="3657600" cy="121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26"/>
          <p:cNvSpPr/>
          <p:nvPr/>
        </p:nvSpPr>
        <p:spPr>
          <a:xfrm>
            <a:off x="8046720" y="4023360"/>
            <a:ext cx="3657600" cy="103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8229600" y="4120897"/>
            <a:ext cx="335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 Light"/>
              </a:rPr>
              <a:t>Trust the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11040"/>
            <a:ext cx="3352800" cy="410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>
                <a:solidFill>
                  <a:srgbClr val="4A5A70"/>
                </a:solidFill>
                <a:latin typeface="Calibri Light"/>
              </a:rPr>
              <a:t>Pick a mode — from read-only Ask to fully-autonomous Auto.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243840" y="6658201"/>
            <a:ext cx="11704320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3">
                <a:solidFill>
                  <a:srgbClr val="E7E6E6"/>
                </a:solidFill>
                <a:latin typeface="Calibri"/>
              </a:rPr>
              <a:t>PROPRIETARY AND CONFIDENTIAL  |  Open Access Technology International  |  2026</a:t>
            </a:r>
          </a:p>
        </p:txBody>
      </p:sp>
      <p:pic>
        <p:nvPicPr>
          <p:cNvPr id="32" name="Picture 3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25198" cy="7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8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2988</TotalTime>
  <Words>4832</Words>
  <Application>Microsoft Office PowerPoint</Application>
  <PresentationFormat>Widescreen</PresentationFormat>
  <Paragraphs>692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Komal Kumar</dc:creator>
  <cp:keywords/>
  <dc:description>generated using python-pptx</dc:description>
  <cp:lastModifiedBy>BK Komal Janjeeha</cp:lastModifiedBy>
  <cp:revision>31</cp:revision>
  <dcterms:created xsi:type="dcterms:W3CDTF">2013-01-27T09:14:16Z</dcterms:created>
  <dcterms:modified xsi:type="dcterms:W3CDTF">2026-05-27T21:28:31Z</dcterms:modified>
  <cp:category/>
</cp:coreProperties>
</file>