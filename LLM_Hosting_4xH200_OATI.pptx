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961120" y="-1097280"/>
            <a:ext cx="4114800" cy="4114800"/>
          </a:xfrm>
          <a:prstGeom prst="ellipse">
            <a:avLst/>
          </a:prstGeom>
          <a:solidFill>
            <a:srgbClr val="10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92640" y="4206240"/>
            <a:ext cx="3291840" cy="3291840"/>
          </a:xfrm>
          <a:prstGeom prst="ellipse">
            <a:avLst/>
          </a:prstGeom>
          <a:solidFill>
            <a:srgbClr val="14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2148840" cy="163550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" y="2487168"/>
            <a:ext cx="128016" cy="1874519"/>
          </a:xfrm>
          <a:prstGeom prst="roundRect">
            <a:avLst>
              <a:gd name="adj" fmla="val 50000"/>
            </a:avLst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395728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8D9E8"/>
                </a:solidFill>
                <a:latin typeface="Segoe UI"/>
              </a:rPr>
              <a:t>GPU INFRASTRUCTURE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52928"/>
            <a:ext cx="102412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1F5F9"/>
                </a:solidFill>
                <a:latin typeface="Segoe UI"/>
              </a:rPr>
              <a:t>Serving Frontier MoE Models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1F5F9"/>
                </a:solidFill>
                <a:latin typeface="Segoe UI"/>
              </a:rPr>
              <a:t>on a </a:t>
            </a:r>
            <a:r>
              <a:rPr sz="4400" b="1">
                <a:solidFill>
                  <a:srgbClr val="38D9E8"/>
                </a:solidFill>
                <a:latin typeface="Segoe UI"/>
              </a:rPr>
              <a:t>4× H200</a:t>
            </a:r>
            <a:r>
              <a:rPr sz="4400" b="1">
                <a:solidFill>
                  <a:srgbClr val="F1F5F9"/>
                </a:solidFill>
                <a:latin typeface="Segoe UI"/>
              </a:rPr>
              <a:t> Node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681728"/>
            <a:ext cx="9875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3A3B8"/>
                </a:solidFill>
                <a:latin typeface="Segoe UI"/>
              </a:rPr>
              <a:t>Hosting plan, quantization strategy, and deployment recipes for Qwen3, Kimi K2.7 and GLM-5.2 — fitting 235B–1T-parameter models into 564 GB of HBM3e.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5669280"/>
            <a:ext cx="2331720" cy="310896"/>
          </a:xfrm>
          <a:prstGeom prst="roundRect">
            <a:avLst>
              <a:gd name="adj" fmla="val 35000"/>
            </a:avLst>
          </a:prstGeom>
          <a:solidFill>
            <a:srgbClr val="0F1727"/>
          </a:solidFill>
          <a:ln w="15875">
            <a:solidFill>
              <a:srgbClr val="38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568756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38D9E8"/>
                </a:solidFill>
                <a:latin typeface="Segoe UI"/>
              </a:rPr>
              <a:t>564 GB  usable VRAM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5669280"/>
            <a:ext cx="1965960" cy="310896"/>
          </a:xfrm>
          <a:prstGeom prst="roundRect">
            <a:avLst>
              <a:gd name="adj" fmla="val 35000"/>
            </a:avLst>
          </a:prstGeom>
          <a:solidFill>
            <a:srgbClr val="0F1727"/>
          </a:solidFill>
          <a:ln w="15875">
            <a:solidFill>
              <a:srgbClr val="8B7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1880" y="5687568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8B7CF6"/>
                </a:solidFill>
                <a:latin typeface="Segoe UI"/>
              </a:rPr>
              <a:t>141 GB × 4  H200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0" y="5669280"/>
            <a:ext cx="2148840" cy="310896"/>
          </a:xfrm>
          <a:prstGeom prst="roundRect">
            <a:avLst>
              <a:gd name="adj" fmla="val 35000"/>
            </a:avLst>
          </a:prstGeom>
          <a:solidFill>
            <a:srgbClr val="0F1727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15000" y="5687568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34D399"/>
                </a:solidFill>
                <a:latin typeface="Segoe UI"/>
              </a:rPr>
              <a:t>NVLink single node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6364224"/>
            <a:ext cx="10652760" cy="12801"/>
          </a:xfrm>
          <a:prstGeom prst="rect">
            <a:avLst/>
          </a:prstGeom>
          <a:solidFill>
            <a:srgbClr val="253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64465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E7E6E6"/>
                </a:solidFill>
                <a:latin typeface="Calibri"/>
              </a:rPr>
              <a:t>PROPRIETARY AND CONFIDENTIAL   |   Open Access Technology International   |  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19088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93A3B8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749808" cy="570687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417320" y="502920"/>
            <a:ext cx="91440" cy="566928"/>
          </a:xfrm>
          <a:prstGeom prst="roundRect">
            <a:avLst>
              <a:gd name="adj" fmla="val 50000"/>
            </a:avLst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64208" y="457200"/>
            <a:ext cx="9875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8D9E8"/>
                </a:solidFill>
                <a:latin typeface="Segoe UI"/>
              </a:rPr>
              <a:t>THE HARDWARE BUDGET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F1F5F9"/>
                </a:solidFill>
                <a:latin typeface="Segoe UI"/>
              </a:rPr>
              <a:t>Everything Comes Down to 564 GB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937760" cy="416052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12700">
            <a:solidFill>
              <a:srgbClr val="25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96596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3A3B8"/>
                </a:solidFill>
                <a:latin typeface="Segoe UI"/>
              </a:rPr>
              <a:t>AGGREGATE HBM3e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600" b="1">
                <a:solidFill>
                  <a:srgbClr val="38D9E8"/>
                </a:solidFill>
                <a:latin typeface="Segoe UI"/>
              </a:rPr>
              <a:t>564</a:t>
            </a:r>
            <a:r>
              <a:rPr sz="3000" b="1">
                <a:solidFill>
                  <a:srgbClr val="93A3B8"/>
                </a:solidFill>
                <a:latin typeface="Segoe UI"/>
              </a:rPr>
              <a:t> 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79476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1F5F9"/>
                </a:solidFill>
                <a:latin typeface="Segoe UI"/>
              </a:rPr>
              <a:t>4 × H200 SXM  ·  141 GB each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343400"/>
            <a:ext cx="44805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3A3B8"/>
                </a:solidFill>
                <a:latin typeface="Segoe UI"/>
              </a:rPr>
              <a:t>Usable for weights + KV cache + activations + CUDA graphs — not just model weights.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600200"/>
            <a:ext cx="5486400" cy="128016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12700">
            <a:solidFill>
              <a:srgbClr val="25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89320" y="1600200"/>
            <a:ext cx="91440" cy="1280160"/>
          </a:xfrm>
          <a:prstGeom prst="rect">
            <a:avLst/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746504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1F5F9"/>
                </a:solidFill>
                <a:latin typeface="Segoe UI"/>
              </a:rPr>
              <a:t>The fit equation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103120"/>
            <a:ext cx="5074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3A3B8"/>
                </a:solidFill>
                <a:latin typeface="Segoe UI"/>
              </a:rPr>
              <a:t>weights ≈ params × bytes/param.  KV cache + runtime overhead eat the rest. Reserve ~10–15%.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3040380"/>
            <a:ext cx="5486400" cy="128016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12700">
            <a:solidFill>
              <a:srgbClr val="25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89320" y="3040380"/>
            <a:ext cx="91440" cy="1280160"/>
          </a:xfrm>
          <a:prstGeom prst="rect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3186684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1F5F9"/>
                </a:solidFill>
                <a:latin typeface="Segoe UI"/>
              </a:rPr>
              <a:t>MoE loads everything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543300"/>
            <a:ext cx="5074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3A3B8"/>
                </a:solidFill>
                <a:latin typeface="Segoe UI"/>
              </a:rPr>
              <a:t>Only ~22–40B params activate per token, but ALL experts sit in VRAM. Total params, not active, sets the footprint.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4480560"/>
            <a:ext cx="5486400" cy="128016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12700">
            <a:solidFill>
              <a:srgbClr val="25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89320" y="4480560"/>
            <a:ext cx="91440" cy="128016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63640" y="4626864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1F5F9"/>
                </a:solidFill>
                <a:latin typeface="Segoe UI"/>
              </a:rPr>
              <a:t>Precision is the lever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4983480"/>
            <a:ext cx="5074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3A3B8"/>
                </a:solidFill>
                <a:latin typeface="Segoe UI"/>
              </a:rPr>
              <a:t>FP16 → FP8 halves the weights; 4-bit halves them again. That single choice decides whether a model fits at all.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6364224"/>
            <a:ext cx="10652760" cy="12801"/>
          </a:xfrm>
          <a:prstGeom prst="rect">
            <a:avLst/>
          </a:prstGeom>
          <a:solidFill>
            <a:srgbClr val="253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64465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E7E6E6"/>
                </a:solidFill>
                <a:latin typeface="Calibri"/>
              </a:rPr>
              <a:t>PROPRIETARY AND CONFIDENTIAL   |   Open Access Technology International   |  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19088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93A3B8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749808" cy="570687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417320" y="502920"/>
            <a:ext cx="91440" cy="566928"/>
          </a:xfrm>
          <a:prstGeom prst="roundRect">
            <a:avLst>
              <a:gd name="adj" fmla="val 50000"/>
            </a:avLst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64208" y="457200"/>
            <a:ext cx="9875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8D9E8"/>
                </a:solidFill>
                <a:latin typeface="Segoe UI"/>
              </a:rPr>
              <a:t>THE CANDIDATES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F1F5F9"/>
                </a:solidFill>
                <a:latin typeface="Segoe UI"/>
              </a:rPr>
              <a:t>Four Open-Weight MoE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45920"/>
            <a:ext cx="2670048" cy="393192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12700">
            <a:solidFill>
              <a:srgbClr val="25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2670048" cy="128016"/>
          </a:xfrm>
          <a:prstGeom prst="roundRect">
            <a:avLst>
              <a:gd name="adj" fmla="val 6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221284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F1F5F9"/>
                </a:solidFill>
                <a:latin typeface="Segoe UI"/>
              </a:rPr>
              <a:t>Qwen3-235B-A22B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221284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34D399"/>
                </a:solidFill>
                <a:latin typeface="Segoe UI"/>
              </a:rPr>
              <a:t>235B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22128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3A3B8"/>
                </a:solidFill>
                <a:latin typeface="Segoe UI"/>
              </a:rPr>
              <a:t>total parameters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886200"/>
            <a:ext cx="22128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1F5F9"/>
                </a:solidFill>
                <a:latin typeface="Segoe UI"/>
              </a:rPr>
              <a:t>▸ 22B active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24528"/>
            <a:ext cx="22128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1F5F9"/>
                </a:solidFill>
                <a:latin typeface="Segoe UI"/>
              </a:rPr>
              <a:t>▸ 256K ctx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709160"/>
            <a:ext cx="2212848" cy="18288"/>
          </a:xfrm>
          <a:prstGeom prst="rect">
            <a:avLst/>
          </a:prstGeom>
          <a:solidFill>
            <a:srgbClr val="253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828032"/>
            <a:ext cx="221284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3A3B8"/>
                </a:solidFill>
                <a:latin typeface="Segoe UI"/>
              </a:rPr>
              <a:t>Smallest &amp; fastest. Best throughput/$.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38728" y="1645920"/>
            <a:ext cx="2670048" cy="393192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12700">
            <a:solidFill>
              <a:srgbClr val="25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538728" y="1645920"/>
            <a:ext cx="2670048" cy="128016"/>
          </a:xfrm>
          <a:prstGeom prst="roundRect">
            <a:avLst>
              <a:gd name="adj" fmla="val 6000"/>
            </a:avLst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67328" y="1920240"/>
            <a:ext cx="221284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F1F5F9"/>
                </a:solidFill>
                <a:latin typeface="Segoe UI"/>
              </a:rPr>
              <a:t>Qwen3-Coder-480B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67328" y="2697480"/>
            <a:ext cx="221284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38D9E8"/>
                </a:solidFill>
                <a:latin typeface="Segoe UI"/>
              </a:rPr>
              <a:t>480B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67328" y="3429000"/>
            <a:ext cx="22128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3A3B8"/>
                </a:solidFill>
                <a:latin typeface="Segoe UI"/>
              </a:rPr>
              <a:t>total parameters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7328" y="3886200"/>
            <a:ext cx="22128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1F5F9"/>
                </a:solidFill>
                <a:latin typeface="Segoe UI"/>
              </a:rPr>
              <a:t>▸ 35B active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67328" y="4224528"/>
            <a:ext cx="22128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1F5F9"/>
                </a:solidFill>
                <a:latin typeface="Segoe UI"/>
              </a:rPr>
              <a:t>▸ 256K ctx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67328" y="4709160"/>
            <a:ext cx="2212848" cy="18288"/>
          </a:xfrm>
          <a:prstGeom prst="rect">
            <a:avLst/>
          </a:prstGeom>
          <a:solidFill>
            <a:srgbClr val="253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67328" y="4828032"/>
            <a:ext cx="221284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3A3B8"/>
                </a:solidFill>
                <a:latin typeface="Segoe UI"/>
              </a:rPr>
              <a:t>Strong agentic coding at mid size.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0216" y="1645920"/>
            <a:ext cx="2670048" cy="393192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12700">
            <a:solidFill>
              <a:srgbClr val="25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300216" y="1645920"/>
            <a:ext cx="2670048" cy="128016"/>
          </a:xfrm>
          <a:prstGeom prst="roundRect">
            <a:avLst>
              <a:gd name="adj" fmla="val 6000"/>
            </a:avLst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28816" y="1920240"/>
            <a:ext cx="221284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F1F5F9"/>
                </a:solidFill>
                <a:latin typeface="Segoe UI"/>
              </a:rPr>
              <a:t>GLM-5.2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8816" y="2697480"/>
            <a:ext cx="221284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8B7CF6"/>
                </a:solidFill>
                <a:latin typeface="Segoe UI"/>
              </a:rPr>
              <a:t>743B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8816" y="3429000"/>
            <a:ext cx="22128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3A3B8"/>
                </a:solidFill>
                <a:latin typeface="Segoe UI"/>
              </a:rPr>
              <a:t>total parameters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3886200"/>
            <a:ext cx="22128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1F5F9"/>
                </a:solidFill>
                <a:latin typeface="Segoe UI"/>
              </a:rPr>
              <a:t>▸ 39B active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8816" y="4224528"/>
            <a:ext cx="22128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1F5F9"/>
                </a:solidFill>
                <a:latin typeface="Segoe UI"/>
              </a:rPr>
              <a:t>▸ 1024K ctx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28816" y="4709160"/>
            <a:ext cx="2212848" cy="18288"/>
          </a:xfrm>
          <a:prstGeom prst="rect">
            <a:avLst/>
          </a:prstGeom>
          <a:solidFill>
            <a:srgbClr val="253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28816" y="4828032"/>
            <a:ext cx="221284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3A3B8"/>
                </a:solidFill>
                <a:latin typeface="Segoe UI"/>
              </a:rPr>
              <a:t>Highest benchmark quality of the set.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61704" y="1645920"/>
            <a:ext cx="2670048" cy="393192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12700">
            <a:solidFill>
              <a:srgbClr val="25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061704" y="1645920"/>
            <a:ext cx="2670048" cy="128016"/>
          </a:xfrm>
          <a:prstGeom prst="roundRect">
            <a:avLst>
              <a:gd name="adj" fmla="val 6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90304" y="1920240"/>
            <a:ext cx="221284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F1F5F9"/>
                </a:solidFill>
                <a:latin typeface="Segoe UI"/>
              </a:rPr>
              <a:t>Kimi K2.7 Code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90304" y="2697480"/>
            <a:ext cx="221284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BBF24"/>
                </a:solidFill>
                <a:latin typeface="Segoe UI"/>
              </a:rPr>
              <a:t>1T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90304" y="3429000"/>
            <a:ext cx="22128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3A3B8"/>
                </a:solidFill>
                <a:latin typeface="Segoe UI"/>
              </a:rPr>
              <a:t>total parameters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90304" y="3886200"/>
            <a:ext cx="22128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1F5F9"/>
                </a:solidFill>
                <a:latin typeface="Segoe UI"/>
              </a:rPr>
              <a:t>▸ 32B active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90304" y="4224528"/>
            <a:ext cx="22128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1F5F9"/>
                </a:solidFill>
                <a:latin typeface="Segoe UI"/>
              </a:rPr>
              <a:t>▸ 256K ctx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90304" y="4709160"/>
            <a:ext cx="2212848" cy="18288"/>
          </a:xfrm>
          <a:prstGeom prst="rect">
            <a:avLst/>
          </a:prstGeom>
          <a:solidFill>
            <a:srgbClr val="253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90304" y="4828032"/>
            <a:ext cx="221284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3A3B8"/>
                </a:solidFill>
                <a:latin typeface="Segoe UI"/>
              </a:rPr>
              <a:t>Largest — the heaviest to host.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6364224"/>
            <a:ext cx="10652760" cy="12801"/>
          </a:xfrm>
          <a:prstGeom prst="rect">
            <a:avLst/>
          </a:prstGeom>
          <a:solidFill>
            <a:srgbClr val="253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77240" y="64465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E7E6E6"/>
                </a:solidFill>
                <a:latin typeface="Calibri"/>
              </a:rPr>
              <a:t>PROPRIETARY AND CONFIDENTIAL   |   Open Access Technology International   |  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07040" y="6419088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93A3B8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749808" cy="570687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417320" y="502920"/>
            <a:ext cx="91440" cy="566928"/>
          </a:xfrm>
          <a:prstGeom prst="roundRect">
            <a:avLst>
              <a:gd name="adj" fmla="val 50000"/>
            </a:avLst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64208" y="457200"/>
            <a:ext cx="9875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8D9E8"/>
                </a:solidFill>
                <a:latin typeface="Segoe UI"/>
              </a:rPr>
              <a:t>QUANTIZATION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F1F5F9"/>
                </a:solidFill>
                <a:latin typeface="Segoe UI"/>
              </a:rPr>
              <a:t>The Lever That Decides What 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3A3B8"/>
                </a:solidFill>
                <a:latin typeface="Segoe UI"/>
              </a:rPr>
              <a:t>Weight footprint  ≈  parameters  ×  bytes per parameter.  </a:t>
            </a:r>
            <a:r>
              <a:rPr sz="1400" b="1">
                <a:solidFill>
                  <a:srgbClr val="F1F5F9"/>
                </a:solidFill>
                <a:latin typeface="Segoe UI"/>
              </a:rPr>
              <a:t>Drop the bytes, shrink the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3A3B8"/>
                </a:solidFill>
                <a:latin typeface="Segoe UI"/>
              </a:rPr>
              <a:t>PRECISION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214884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3A3B8"/>
                </a:solidFill>
                <a:latin typeface="Segoe UI"/>
              </a:rPr>
              <a:t>BYTES/PARAM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214884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3A3B8"/>
                </a:solidFill>
                <a:latin typeface="Segoe UI"/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14884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3A3B8"/>
                </a:solidFill>
                <a:latin typeface="Segoe UI"/>
              </a:rPr>
              <a:t>QUALITY / USE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532888"/>
            <a:ext cx="10698480" cy="786384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12700">
            <a:solidFill>
              <a:srgbClr val="25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" y="2532888"/>
            <a:ext cx="91440" cy="786384"/>
          </a:xfrm>
          <a:prstGeom prst="roundRect">
            <a:avLst>
              <a:gd name="adj" fmla="val 6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2532888"/>
            <a:ext cx="201168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1F5F9"/>
                </a:solidFill>
                <a:latin typeface="Segoe UI"/>
              </a:rPr>
              <a:t>FP16 / BF16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532888"/>
            <a:ext cx="155448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4748B"/>
                </a:solidFill>
                <a:latin typeface="Segoe UI"/>
              </a:rPr>
              <a:t>2.0 bytes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532888"/>
            <a:ext cx="32004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3A3B8"/>
                </a:solidFill>
                <a:latin typeface="Segoe UI"/>
              </a:rPr>
              <a:t>Full precision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532888"/>
            <a:ext cx="338328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3A3B8"/>
                </a:solidFill>
                <a:latin typeface="Segoe UI"/>
              </a:rPr>
              <a:t>Reference quality — rarely fits big MoE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410712"/>
            <a:ext cx="10698480" cy="786384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12700">
            <a:solidFill>
              <a:srgbClr val="25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77240" y="3410712"/>
            <a:ext cx="91440" cy="786384"/>
          </a:xfrm>
          <a:prstGeom prst="roundRect">
            <a:avLst>
              <a:gd name="adj" fmla="val 6000"/>
            </a:avLst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3410712"/>
            <a:ext cx="201168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1F5F9"/>
                </a:solidFill>
                <a:latin typeface="Segoe UI"/>
              </a:rPr>
              <a:t>FP8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3410712"/>
            <a:ext cx="155448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38D9E8"/>
                </a:solidFill>
                <a:latin typeface="Segoe UI"/>
              </a:rPr>
              <a:t>1.0 byte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410712"/>
            <a:ext cx="32004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3A3B8"/>
                </a:solidFill>
                <a:latin typeface="Segoe UI"/>
              </a:rPr>
              <a:t>Native for most 2026 checkpoints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3410712"/>
            <a:ext cx="338328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3A3B8"/>
                </a:solidFill>
                <a:latin typeface="Segoe UI"/>
              </a:rPr>
              <a:t>~Lossless; the default target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288536"/>
            <a:ext cx="10698480" cy="786384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12700">
            <a:solidFill>
              <a:srgbClr val="25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77240" y="4288536"/>
            <a:ext cx="91440" cy="786384"/>
          </a:xfrm>
          <a:prstGeom prst="roundRect">
            <a:avLst>
              <a:gd name="adj" fmla="val 6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1560" y="4288536"/>
            <a:ext cx="201168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1F5F9"/>
                </a:solidFill>
                <a:latin typeface="Segoe UI"/>
              </a:rPr>
              <a:t>INT4 / AWQ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4288536"/>
            <a:ext cx="155448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34D399"/>
                </a:solidFill>
                <a:latin typeface="Segoe UI"/>
              </a:rPr>
              <a:t>0.5 byte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4288536"/>
            <a:ext cx="32004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3A3B8"/>
                </a:solidFill>
                <a:latin typeface="Segoe UI"/>
              </a:rPr>
              <a:t>Post-training 4-bit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4288536"/>
            <a:ext cx="338328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3A3B8"/>
                </a:solidFill>
                <a:latin typeface="Segoe UI"/>
              </a:rPr>
              <a:t>Small quality dip; big memory win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166359"/>
            <a:ext cx="10698480" cy="786384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12700">
            <a:solidFill>
              <a:srgbClr val="25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77240" y="5166359"/>
            <a:ext cx="91440" cy="786384"/>
          </a:xfrm>
          <a:prstGeom prst="roundRect">
            <a:avLst>
              <a:gd name="adj" fmla="val 6000"/>
            </a:avLst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51560" y="5166359"/>
            <a:ext cx="201168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1F5F9"/>
                </a:solidFill>
                <a:latin typeface="Segoe UI"/>
              </a:rPr>
              <a:t>NVFP4 / MXFP4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63240" y="5166359"/>
            <a:ext cx="155448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8B7CF6"/>
                </a:solidFill>
                <a:latin typeface="Segoe UI"/>
              </a:rPr>
              <a:t>0.5 byte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5166359"/>
            <a:ext cx="32004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3A3B8"/>
                </a:solidFill>
                <a:latin typeface="Segoe UI"/>
              </a:rPr>
              <a:t>4-bit w/ better scaling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5166359"/>
            <a:ext cx="338328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3A3B8"/>
                </a:solidFill>
                <a:latin typeface="Segoe UI"/>
              </a:rPr>
              <a:t>Best 4-bit quality on Blackwell/Hopper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6364224"/>
            <a:ext cx="10652760" cy="12801"/>
          </a:xfrm>
          <a:prstGeom prst="rect">
            <a:avLst/>
          </a:prstGeom>
          <a:solidFill>
            <a:srgbClr val="253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7240" y="64465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E7E6E6"/>
                </a:solidFill>
                <a:latin typeface="Calibri"/>
              </a:rPr>
              <a:t>PROPRIETARY AND CONFIDENTIAL   |   Open Access Technology International   |  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419088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93A3B8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749808" cy="570687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417320" y="502920"/>
            <a:ext cx="91440" cy="566928"/>
          </a:xfrm>
          <a:prstGeom prst="roundRect">
            <a:avLst>
              <a:gd name="adj" fmla="val 50000"/>
            </a:avLst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64208" y="457200"/>
            <a:ext cx="9875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8D9E8"/>
                </a:solidFill>
                <a:latin typeface="Segoe UI"/>
              </a:rPr>
              <a:t>COMPARISON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F1F5F9"/>
                </a:solidFill>
                <a:latin typeface="Segoe UI"/>
              </a:rPr>
              <a:t>Does It Fit on 4× H200 (564 GB)?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10698480" cy="457200"/>
          </a:xfrm>
          <a:prstGeom prst="roundRect">
            <a:avLst>
              <a:gd name="adj" fmla="val 6000"/>
            </a:avLst>
          </a:prstGeom>
          <a:solidFill>
            <a:srgbClr val="0F1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246887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3A3B8"/>
                </a:solidFill>
                <a:latin typeface="Segoe UI"/>
              </a:rP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69164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3A3B8"/>
                </a:solidFill>
                <a:latin typeface="Segoe UI"/>
              </a:rPr>
              <a:t>FP8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691640"/>
            <a:ext cx="146303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3A3B8"/>
                </a:solidFill>
                <a:latin typeface="Segoe UI"/>
              </a:rPr>
              <a:t>FP8 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9164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3A3B8"/>
                </a:solidFill>
                <a:latin typeface="Segoe UI"/>
              </a:rPr>
              <a:t>4-BIT 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691640"/>
            <a:ext cx="146303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3A3B8"/>
                </a:solidFill>
                <a:latin typeface="Segoe UI"/>
              </a:rPr>
              <a:t>4-BIT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72600" y="169164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3A3B8"/>
                </a:solidFill>
                <a:latin typeface="Segoe UI"/>
              </a:rPr>
              <a:t>VERDICT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19456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12700">
            <a:solidFill>
              <a:srgbClr val="25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194560"/>
            <a:ext cx="22860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1F5F9"/>
                </a:solidFill>
                <a:latin typeface="Segoe UI"/>
              </a:rPr>
              <a:t>Qwen3-235B-A22B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194560"/>
            <a:ext cx="13716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3A3B8"/>
                </a:solidFill>
                <a:latin typeface="Segoe UI"/>
              </a:rPr>
              <a:t>~235 GB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2459736"/>
            <a:ext cx="1234440" cy="310896"/>
          </a:xfrm>
          <a:prstGeom prst="roundRect">
            <a:avLst>
              <a:gd name="adj" fmla="val 35000"/>
            </a:avLst>
          </a:prstGeom>
          <a:solidFill>
            <a:srgbClr val="0F1727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0" y="2478024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34D399"/>
                </a:solidFill>
                <a:latin typeface="Segoe UI"/>
              </a:rPr>
              <a:t>FITS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194560"/>
            <a:ext cx="15544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3A3B8"/>
                </a:solidFill>
                <a:latin typeface="Segoe UI"/>
              </a:rPr>
              <a:t>~118 GB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2459736"/>
            <a:ext cx="1234440" cy="310896"/>
          </a:xfrm>
          <a:prstGeom prst="roundRect">
            <a:avLst>
              <a:gd name="adj" fmla="val 35000"/>
            </a:avLst>
          </a:prstGeom>
          <a:solidFill>
            <a:srgbClr val="0F1727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63840" y="2478024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34D399"/>
                </a:solidFill>
                <a:latin typeface="Segoe UI"/>
              </a:rPr>
              <a:t>FITS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194560"/>
            <a:ext cx="20116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Best fit — FP8, full ctx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099816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12700">
            <a:solidFill>
              <a:srgbClr val="25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3099816"/>
            <a:ext cx="22860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1F5F9"/>
                </a:solidFill>
                <a:latin typeface="Segoe UI"/>
              </a:rPr>
              <a:t>Qwen3-Coder-480B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099816"/>
            <a:ext cx="13716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3A3B8"/>
                </a:solidFill>
                <a:latin typeface="Segoe UI"/>
              </a:rPr>
              <a:t>~480 GB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0" y="3364992"/>
            <a:ext cx="1234440" cy="310896"/>
          </a:xfrm>
          <a:prstGeom prst="roundRect">
            <a:avLst>
              <a:gd name="adj" fmla="val 35000"/>
            </a:avLst>
          </a:prstGeom>
          <a:solidFill>
            <a:srgbClr val="0F1727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54880" y="3383280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34D399"/>
                </a:solidFill>
                <a:latin typeface="Segoe UI"/>
              </a:rPr>
              <a:t>FITS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099816"/>
            <a:ext cx="15544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3A3B8"/>
                </a:solidFill>
                <a:latin typeface="Segoe UI"/>
              </a:rPr>
              <a:t>~250 GB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0" y="3364992"/>
            <a:ext cx="1234440" cy="310896"/>
          </a:xfrm>
          <a:prstGeom prst="roundRect">
            <a:avLst>
              <a:gd name="adj" fmla="val 35000"/>
            </a:avLst>
          </a:prstGeom>
          <a:solidFill>
            <a:srgbClr val="0F1727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63840" y="3383280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34D399"/>
                </a:solidFill>
                <a:latin typeface="Segoe UI"/>
              </a:rPr>
              <a:t>ROOMY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3099816"/>
            <a:ext cx="20116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8D9E8"/>
                </a:solidFill>
                <a:latin typeface="Segoe UI"/>
              </a:rPr>
              <a:t>Strong — FP8 works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005072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12700">
            <a:solidFill>
              <a:srgbClr val="25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4005072"/>
            <a:ext cx="22860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1F5F9"/>
                </a:solidFill>
                <a:latin typeface="Segoe UI"/>
              </a:rPr>
              <a:t>GLM-5.2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4005072"/>
            <a:ext cx="13716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3A3B8"/>
                </a:solidFill>
                <a:latin typeface="Segoe UI"/>
              </a:rPr>
              <a:t>~743 GB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54880" y="4270248"/>
            <a:ext cx="1234440" cy="310896"/>
          </a:xfrm>
          <a:prstGeom prst="roundRect">
            <a:avLst>
              <a:gd name="adj" fmla="val 35000"/>
            </a:avLst>
          </a:prstGeom>
          <a:solidFill>
            <a:srgbClr val="0F1727"/>
          </a:solidFill>
          <a:ln w="1587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54880" y="4288536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87171"/>
                </a:solidFill>
                <a:latin typeface="Segoe UI"/>
              </a:rPr>
              <a:t>NO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4005072"/>
            <a:ext cx="15544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3A3B8"/>
                </a:solidFill>
                <a:latin typeface="Segoe UI"/>
              </a:rPr>
              <a:t>~370 GB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0" y="4270248"/>
            <a:ext cx="1234440" cy="310896"/>
          </a:xfrm>
          <a:prstGeom prst="roundRect">
            <a:avLst>
              <a:gd name="adj" fmla="val 35000"/>
            </a:avLst>
          </a:prstGeom>
          <a:solidFill>
            <a:srgbClr val="0F1727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63840" y="4288536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34D399"/>
                </a:solidFill>
                <a:latin typeface="Segoe UI"/>
              </a:rPr>
              <a:t>FITS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4005072"/>
            <a:ext cx="20116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BBF24"/>
                </a:solidFill>
                <a:latin typeface="Segoe UI"/>
              </a:rPr>
              <a:t>4-bit only — comfy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4910328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12700">
            <a:solidFill>
              <a:srgbClr val="25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68680" y="4910328"/>
            <a:ext cx="22860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1F5F9"/>
                </a:solidFill>
                <a:latin typeface="Segoe UI"/>
              </a:rPr>
              <a:t>Kimi K2.7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4910328"/>
            <a:ext cx="13716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3A3B8"/>
                </a:solidFill>
                <a:latin typeface="Segoe UI"/>
              </a:rPr>
              <a:t>~1000 GB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54880" y="5175504"/>
            <a:ext cx="1234440" cy="310896"/>
          </a:xfrm>
          <a:prstGeom prst="roundRect">
            <a:avLst>
              <a:gd name="adj" fmla="val 35000"/>
            </a:avLst>
          </a:prstGeom>
          <a:solidFill>
            <a:srgbClr val="0F1727"/>
          </a:solidFill>
          <a:ln w="1587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54880" y="5193792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87171"/>
                </a:solidFill>
                <a:latin typeface="Segoe UI"/>
              </a:rPr>
              <a:t>NO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4910328"/>
            <a:ext cx="15544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3A3B8"/>
                </a:solidFill>
                <a:latin typeface="Segoe UI"/>
              </a:rPr>
              <a:t>~500 GB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63840" y="5175504"/>
            <a:ext cx="1234440" cy="310896"/>
          </a:xfrm>
          <a:prstGeom prst="roundRect">
            <a:avLst>
              <a:gd name="adj" fmla="val 35000"/>
            </a:avLst>
          </a:prstGeom>
          <a:solidFill>
            <a:srgbClr val="0F1727"/>
          </a:solidFill>
          <a:ln w="1587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863840" y="5193792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BBF24"/>
                </a:solidFill>
                <a:latin typeface="Segoe UI"/>
              </a:rPr>
              <a:t>TIGHT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72600" y="4910328"/>
            <a:ext cx="20116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87171"/>
                </a:solidFill>
                <a:latin typeface="Segoe UI"/>
              </a:rPr>
              <a:t>4-bit, capped ctx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833872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FP8 ≈ params × 1 byte  ·  4-bit ≈ params × 0.5 byte.  “Fits” = weights + working KV cache under 564 GB.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6364224"/>
            <a:ext cx="10652760" cy="12801"/>
          </a:xfrm>
          <a:prstGeom prst="rect">
            <a:avLst/>
          </a:prstGeom>
          <a:solidFill>
            <a:srgbClr val="253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77240" y="64465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E7E6E6"/>
                </a:solidFill>
                <a:latin typeface="Calibri"/>
              </a:rPr>
              <a:t>PROPRIETARY AND CONFIDENTIAL   |   Open Access Technology International   |  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07040" y="6419088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93A3B8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749808" cy="570687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417320" y="502920"/>
            <a:ext cx="91440" cy="566928"/>
          </a:xfrm>
          <a:prstGeom prst="roundRect">
            <a:avLst>
              <a:gd name="adj" fmla="val 50000"/>
            </a:avLst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64208" y="457200"/>
            <a:ext cx="9875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8D9E8"/>
                </a:solidFill>
                <a:latin typeface="Segoe UI"/>
              </a:rPr>
              <a:t>MAKING IT WORK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F1F5F9"/>
                </a:solidFill>
                <a:latin typeface="Segoe UI"/>
              </a:rPr>
              <a:t>Best-Practice Tuning Checklist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45920"/>
            <a:ext cx="5349240" cy="123444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12700">
            <a:solidFill>
              <a:srgbClr val="25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91440" cy="1234440"/>
          </a:xfrm>
          <a:prstGeom prst="roundRect">
            <a:avLst>
              <a:gd name="adj" fmla="val 6000"/>
            </a:avLst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" y="1792224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38D9E8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19" y="1801368"/>
            <a:ext cx="42519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1F5F9"/>
                </a:solidFill>
                <a:latin typeface="Segoe UI"/>
              </a:rPr>
              <a:t>Enable expert parallelism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2157984"/>
            <a:ext cx="4206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3A3B8"/>
                </a:solidFill>
                <a:latin typeface="Segoe UI"/>
              </a:rPr>
              <a:t>Always pass --enable-expert-parallel for MoE. Shards the 100s of experts across GPUs instead of replicating.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19" y="1645920"/>
            <a:ext cx="5349240" cy="123444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12700">
            <a:solidFill>
              <a:srgbClr val="25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19" y="1645920"/>
            <a:ext cx="91440" cy="1234440"/>
          </a:xfrm>
          <a:prstGeom prst="roundRect">
            <a:avLst>
              <a:gd name="adj" fmla="val 6000"/>
            </a:avLst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0527" y="1792224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8B7CF6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599" y="1801368"/>
            <a:ext cx="42519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1F5F9"/>
                </a:solidFill>
                <a:latin typeface="Segoe UI"/>
              </a:rPr>
              <a:t>Keep TP=4 clean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599" y="2157984"/>
            <a:ext cx="4206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3A3B8"/>
                </a:solidFill>
                <a:latin typeface="Segoe UI"/>
              </a:rPr>
              <a:t>Attention heads &amp; experts divide by 4 on all four models, so tensor-parallel=4 shards evenly — no padding waste.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008376"/>
            <a:ext cx="5349240" cy="123444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12700">
            <a:solidFill>
              <a:srgbClr val="25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77240" y="3008376"/>
            <a:ext cx="91440" cy="1234440"/>
          </a:xfrm>
          <a:prstGeom prst="roundRect">
            <a:avLst>
              <a:gd name="adj" fmla="val 6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9848" y="315468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34D399"/>
                </a:solidFill>
                <a:latin typeface="Segoe U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19" y="3163824"/>
            <a:ext cx="42519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1F5F9"/>
                </a:solidFill>
                <a:latin typeface="Segoe UI"/>
              </a:rPr>
              <a:t>Cap max-model-len to reality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19" y="3520440"/>
            <a:ext cx="4206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3A3B8"/>
                </a:solidFill>
                <a:latin typeface="Segoe UI"/>
              </a:rPr>
              <a:t>Don't reserve 256K/1M KV if you serve 32–64K. Right-sizing context frees huge VRAM for concurrency.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19" y="3008376"/>
            <a:ext cx="5349240" cy="123444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12700">
            <a:solidFill>
              <a:srgbClr val="25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217919" y="3008376"/>
            <a:ext cx="91440" cy="1234440"/>
          </a:xfrm>
          <a:prstGeom prst="roundRect">
            <a:avLst>
              <a:gd name="adj" fmla="val 6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10527" y="315468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BBF24"/>
                </a:solidFill>
                <a:latin typeface="Segoe U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599" y="3163824"/>
            <a:ext cx="42519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1F5F9"/>
                </a:solidFill>
                <a:latin typeface="Segoe UI"/>
              </a:rPr>
              <a:t>Push gpu-mem-util to ~0.90–0.92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599" y="3520440"/>
            <a:ext cx="4206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3A3B8"/>
                </a:solidFill>
                <a:latin typeface="Segoe UI"/>
              </a:rPr>
              <a:t>Reclaim headroom safely; back off only if you hit fragmentation OOM at peak load.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370832"/>
            <a:ext cx="5349240" cy="123444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12700">
            <a:solidFill>
              <a:srgbClr val="25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77240" y="4370832"/>
            <a:ext cx="91440" cy="1234440"/>
          </a:xfrm>
          <a:prstGeom prst="roundRect">
            <a:avLst>
              <a:gd name="adj" fmla="val 6000"/>
            </a:avLst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9848" y="4517136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38D9E8"/>
                </a:solidFill>
                <a:latin typeface="Segoe U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19" y="4526280"/>
            <a:ext cx="42519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1F5F9"/>
                </a:solidFill>
                <a:latin typeface="Segoe UI"/>
              </a:rPr>
              <a:t>Use official FP8 / NVFP4 checkpoints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19" y="4882896"/>
            <a:ext cx="4206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3A3B8"/>
                </a:solidFill>
                <a:latin typeface="Segoe UI"/>
              </a:rPr>
              <a:t>Vendor-quantized weights (Qwen-FP8, GLM-5.2-NVFP4) beat home-rolled quant on quality and stability.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19" y="4370832"/>
            <a:ext cx="5349240" cy="123444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12700">
            <a:solidFill>
              <a:srgbClr val="25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217919" y="4370832"/>
            <a:ext cx="91440" cy="1234440"/>
          </a:xfrm>
          <a:prstGeom prst="roundRect">
            <a:avLst>
              <a:gd name="adj" fmla="val 6000"/>
            </a:avLst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10527" y="4517136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8B7CF6"/>
                </a:solidFill>
                <a:latin typeface="Segoe UI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599" y="4526280"/>
            <a:ext cx="42519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1F5F9"/>
                </a:solidFill>
                <a:latin typeface="Segoe UI"/>
              </a:rPr>
              <a:t>Scale out with PD disaggregation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599" y="4882896"/>
            <a:ext cx="4206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3A3B8"/>
                </a:solidFill>
                <a:latin typeface="Segoe UI"/>
              </a:rPr>
              <a:t>For high concurrency, split prefill/decode and lean on MLA's small KV cache before adding GPUs.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6364224"/>
            <a:ext cx="10652760" cy="12801"/>
          </a:xfrm>
          <a:prstGeom prst="rect">
            <a:avLst/>
          </a:prstGeom>
          <a:solidFill>
            <a:srgbClr val="253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7240" y="64465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E7E6E6"/>
                </a:solidFill>
                <a:latin typeface="Calibri"/>
              </a:rPr>
              <a:t>PROPRIETARY AND CONFIDENTIAL   |   Open Access Technology International   |  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6419088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93A3B8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749808" cy="570687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417320" y="502920"/>
            <a:ext cx="91440" cy="566928"/>
          </a:xfrm>
          <a:prstGeom prst="roundRect">
            <a:avLst>
              <a:gd name="adj" fmla="val 50000"/>
            </a:avLst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64208" y="457200"/>
            <a:ext cx="9875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8D9E8"/>
                </a:solidFill>
                <a:latin typeface="Segoe UI"/>
              </a:rPr>
              <a:t>DEPLOYMENT · vLLM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F1F5F9"/>
                </a:solidFill>
                <a:latin typeface="Segoe UI"/>
              </a:rPr>
              <a:t>High-Throughput OpenAI-Compatible Serving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5349240" cy="3977639"/>
          </a:xfrm>
          <a:prstGeom prst="roundRect">
            <a:avLst>
              <a:gd name="adj" fmla="val 6000"/>
            </a:avLst>
          </a:prstGeom>
          <a:solidFill>
            <a:srgbClr val="0C121F"/>
          </a:solidFill>
          <a:ln w="12700">
            <a:solidFill>
              <a:srgbClr val="25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349240" cy="45720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1" y="169164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34D399"/>
                </a:solidFill>
                <a:latin typeface="Segoe UI"/>
              </a:rPr>
              <a:t>Qwen3-235B-A22B  ·  FP8 (best fit)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331720"/>
            <a:ext cx="489204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1F5F9"/>
                </a:solidFill>
                <a:latin typeface="Consolas"/>
              </a:rPr>
              <a:t>vllm serve \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1F5F9"/>
                </a:solidFill>
                <a:latin typeface="Consolas"/>
              </a:rPr>
              <a:t>  Qwen/Qwen3-235B-A22B-Instruct-2507-FP8 \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1F5F9"/>
                </a:solidFill>
                <a:latin typeface="Consolas"/>
              </a:rPr>
              <a:t>  --tensor-parallel-size 4 \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1F5F9"/>
                </a:solidFill>
                <a:latin typeface="Consolas"/>
              </a:rPr>
              <a:t>  --enable-expert-parallel \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1F5F9"/>
                </a:solidFill>
                <a:latin typeface="Consolas"/>
              </a:rPr>
              <a:t>  --max-model-len 262144 \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1F5F9"/>
                </a:solidFill>
                <a:latin typeface="Consolas"/>
              </a:rPr>
              <a:t>  --gpu-memory-utilization 0.90 \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1F5F9"/>
                </a:solidFill>
                <a:latin typeface="Consolas"/>
              </a:rPr>
              <a:t>  --served-model-name qwen3-235b \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1F5F9"/>
                </a:solidFill>
                <a:latin typeface="Consolas"/>
              </a:rPr>
              <a:t>  --host 0.0.0.0 --port 8000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endParaRPr sz="1100" b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Consolas"/>
              </a:rPr>
              <a:t># ~235 GB weights → ~330 GB free for KV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691640"/>
            <a:ext cx="5349240" cy="3977639"/>
          </a:xfrm>
          <a:prstGeom prst="roundRect">
            <a:avLst>
              <a:gd name="adj" fmla="val 6000"/>
            </a:avLst>
          </a:prstGeom>
          <a:solidFill>
            <a:srgbClr val="0C121F"/>
          </a:solidFill>
          <a:ln w="12700">
            <a:solidFill>
              <a:srgbClr val="25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080760" y="1691640"/>
            <a:ext cx="5349240" cy="45720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69164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8B7CF6"/>
                </a:solidFill>
                <a:latin typeface="Segoe UI"/>
              </a:rPr>
              <a:t>GLM-5.2  ·  NVFP4 (frontier, 4-bit)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2331720"/>
            <a:ext cx="489204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1F5F9"/>
                </a:solidFill>
                <a:latin typeface="Consolas"/>
              </a:rPr>
              <a:t>vllm serve nvidia/GLM-5.2-NVFP4 \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1F5F9"/>
                </a:solidFill>
                <a:latin typeface="Consolas"/>
              </a:rPr>
              <a:t>  --tensor-parallel-size 4 \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1F5F9"/>
                </a:solidFill>
                <a:latin typeface="Consolas"/>
              </a:rPr>
              <a:t>  --enable-expert-parallel \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1F5F9"/>
                </a:solidFill>
                <a:latin typeface="Consolas"/>
              </a:rPr>
              <a:t>  --quantization modelopt_fp4 \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1F5F9"/>
                </a:solidFill>
                <a:latin typeface="Consolas"/>
              </a:rPr>
              <a:t>  --max-model-len 131072 \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1F5F9"/>
                </a:solidFill>
                <a:latin typeface="Consolas"/>
              </a:rPr>
              <a:t>  --gpu-memory-utilization 0.90 \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1F5F9"/>
                </a:solidFill>
                <a:latin typeface="Consolas"/>
              </a:rPr>
              <a:t>  --host 0.0.0.0 --port 8000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endParaRPr sz="1100" b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Consolas"/>
              </a:rPr>
              <a:t># ~370 GB weights → ~190 GB free for KV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Consolas"/>
              </a:rPr>
              <a:t># swap in AWQ/INT4 repo for Qwen-480B &amp; K2.7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797296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38D9E8"/>
                </a:solidFill>
                <a:latin typeface="Segoe UI"/>
              </a:rPr>
              <a:t>Why vLLM:  </a:t>
            </a:r>
            <a:r>
              <a:rPr sz="1100" b="0">
                <a:solidFill>
                  <a:srgbClr val="93A3B8"/>
                </a:solidFill>
                <a:latin typeface="Segoe UI"/>
              </a:rPr>
              <a:t>production-standard throughput, OpenAI-compatible API, and the broadest quantization support — FP8 · AWQ · GPTQ · NVFP4.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6364224"/>
            <a:ext cx="10652760" cy="12801"/>
          </a:xfrm>
          <a:prstGeom prst="rect">
            <a:avLst/>
          </a:prstGeom>
          <a:solidFill>
            <a:srgbClr val="253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64465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E7E6E6"/>
                </a:solidFill>
                <a:latin typeface="Calibri"/>
              </a:rPr>
              <a:t>PROPRIETARY AND CONFIDENTIAL   |   Open Access Technology International   | 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19088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93A3B8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749808" cy="570687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417320" y="502920"/>
            <a:ext cx="91440" cy="566928"/>
          </a:xfrm>
          <a:prstGeom prst="roundRect">
            <a:avLst>
              <a:gd name="adj" fmla="val 50000"/>
            </a:avLst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64208" y="457200"/>
            <a:ext cx="9875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8D9E8"/>
                </a:solidFill>
                <a:latin typeface="Segoe UI"/>
              </a:rPr>
              <a:t>DEPLOYMENT · SGLang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F1F5F9"/>
                </a:solidFill>
                <a:latin typeface="Segoe UI"/>
              </a:rPr>
              <a:t>Prefix-Cached, MLA / MoE-Optimized Serving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5349240" cy="3977639"/>
          </a:xfrm>
          <a:prstGeom prst="roundRect">
            <a:avLst>
              <a:gd name="adj" fmla="val 6000"/>
            </a:avLst>
          </a:prstGeom>
          <a:solidFill>
            <a:srgbClr val="0C121F"/>
          </a:solidFill>
          <a:ln w="12700">
            <a:solidFill>
              <a:srgbClr val="25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349240" cy="45720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1" y="169164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34D399"/>
                </a:solidFill>
                <a:latin typeface="Segoe UI"/>
              </a:rPr>
              <a:t>Qwen3-235B-A22B  ·  FP8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331720"/>
            <a:ext cx="489204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1F5F9"/>
                </a:solidFill>
                <a:latin typeface="Consolas"/>
              </a:rPr>
              <a:t>python -m sglang.launch_server \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1F5F9"/>
                </a:solidFill>
                <a:latin typeface="Consolas"/>
              </a:rPr>
              <a:t>  --model-path \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1F5F9"/>
                </a:solidFill>
                <a:latin typeface="Consolas"/>
              </a:rPr>
              <a:t>    Qwen/Qwen3-235B-A22B-Instruct-2507-FP8 \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1F5F9"/>
                </a:solidFill>
                <a:latin typeface="Consolas"/>
              </a:rPr>
              <a:t>  --tp 4 --ep-size 4 \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1F5F9"/>
                </a:solidFill>
                <a:latin typeface="Consolas"/>
              </a:rPr>
              <a:t>  --context-length 262144 \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1F5F9"/>
                </a:solidFill>
                <a:latin typeface="Consolas"/>
              </a:rPr>
              <a:t>  --mem-fraction-static 0.90 \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1F5F9"/>
                </a:solidFill>
                <a:latin typeface="Consolas"/>
              </a:rPr>
              <a:t>  --served-model-name qwen3-235b \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1F5F9"/>
                </a:solidFill>
                <a:latin typeface="Consolas"/>
              </a:rPr>
              <a:t>  --host 0.0.0.0 --port 8000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endParaRPr sz="1100" b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Consolas"/>
              </a:rPr>
              <a:t># RadixAttention prefix cache = big win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Consolas"/>
              </a:rPr>
              <a:t># for agents &amp; repeated system prompts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691640"/>
            <a:ext cx="5349240" cy="3977639"/>
          </a:xfrm>
          <a:prstGeom prst="roundRect">
            <a:avLst>
              <a:gd name="adj" fmla="val 6000"/>
            </a:avLst>
          </a:prstGeom>
          <a:solidFill>
            <a:srgbClr val="0C121F"/>
          </a:solidFill>
          <a:ln w="12700">
            <a:solidFill>
              <a:srgbClr val="25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080760" y="1691640"/>
            <a:ext cx="5349240" cy="45720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69164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BBF24"/>
                </a:solidFill>
                <a:latin typeface="Segoe UI"/>
              </a:rPr>
              <a:t>Kimi K2.7  ·  FP8  (needs 8× H200)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2331720"/>
            <a:ext cx="489204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1F5F9"/>
                </a:solidFill>
                <a:latin typeface="Consolas"/>
              </a:rPr>
              <a:t>python -m sglang.launch_server \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1F5F9"/>
                </a:solidFill>
                <a:latin typeface="Consolas"/>
              </a:rPr>
              <a:t>  --model-path moonshotai/Kimi-K2.7 \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1F5F9"/>
                </a:solidFill>
                <a:latin typeface="Consolas"/>
              </a:rPr>
              <a:t>  --tp 8 --ep-size 8 \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1F5F9"/>
                </a:solidFill>
                <a:latin typeface="Consolas"/>
              </a:rPr>
              <a:t>  --context-length 131072 \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1F5F9"/>
                </a:solidFill>
                <a:latin typeface="Consolas"/>
              </a:rPr>
              <a:t>  --mem-fraction-static 0.93 \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1F5F9"/>
                </a:solidFill>
                <a:latin typeface="Consolas"/>
              </a:rPr>
              <a:t>  --trust-remote-code \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1F5F9"/>
                </a:solidFill>
                <a:latin typeface="Consolas"/>
              </a:rPr>
              <a:t>  --host 0.0.0.0 --port 8000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endParaRPr sz="1100" b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Consolas"/>
              </a:rPr>
              <a:t># MLA + MoE tuned — ideal for K2.7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Consolas"/>
              </a:rPr>
              <a:t># FP8 weights ~1 TB → all 8 GPUs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797296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38D9E8"/>
                </a:solidFill>
                <a:latin typeface="Segoe UI"/>
              </a:rPr>
              <a:t>Why SGLang:  </a:t>
            </a:r>
            <a:r>
              <a:rPr sz="1100" b="0">
                <a:solidFill>
                  <a:srgbClr val="93A3B8"/>
                </a:solidFill>
                <a:latin typeface="Segoe UI"/>
              </a:rPr>
              <a:t>RadixAttention prefix caching + deep MLA/MoE tuning — best for multi-turn agents and DeepSeek/Kimi-class models.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6364224"/>
            <a:ext cx="10652760" cy="12801"/>
          </a:xfrm>
          <a:prstGeom prst="rect">
            <a:avLst/>
          </a:prstGeom>
          <a:solidFill>
            <a:srgbClr val="253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64465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E7E6E6"/>
                </a:solidFill>
                <a:latin typeface="Calibri"/>
              </a:rPr>
              <a:t>PROPRIETARY AND CONFIDENTIAL   |   Open Access Technology International   | 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19088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93A3B8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749808" cy="570687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417320" y="502920"/>
            <a:ext cx="91440" cy="566928"/>
          </a:xfrm>
          <a:prstGeom prst="roundRect">
            <a:avLst>
              <a:gd name="adj" fmla="val 50000"/>
            </a:avLst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64208" y="457200"/>
            <a:ext cx="9875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8D9E8"/>
                </a:solidFill>
                <a:latin typeface="Segoe UI"/>
              </a:rPr>
              <a:t>CAPACITY PLANNING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F1F5F9"/>
                </a:solidFill>
                <a:latin typeface="Segoe UI"/>
              </a:rPr>
              <a:t>How Many Users Can It Serve?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5349240" cy="3977639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12700">
            <a:solidFill>
              <a:srgbClr val="25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5349240" cy="548640"/>
          </a:xfrm>
          <a:prstGeom prst="roundRect">
            <a:avLst>
              <a:gd name="adj" fmla="val 6000"/>
            </a:avLst>
          </a:prstGeom>
          <a:solidFill>
            <a:srgbClr val="0F1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1" y="155448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38D9E8"/>
                </a:solidFill>
                <a:latin typeface="Segoe UI"/>
              </a:rPr>
              <a:t>4× H200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59" y="155448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3A3B8"/>
                </a:solidFill>
                <a:latin typeface="Segoe UI"/>
              </a:rPr>
              <a:t>564 GB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1284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93A3B8"/>
                </a:solidFill>
                <a:latin typeface="Segoe UI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21284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93A3B8"/>
                </a:solidFill>
                <a:latin typeface="Segoe UI"/>
              </a:rPr>
              <a:t>CONCURRENT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59" y="221284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93A3B8"/>
                </a:solidFill>
                <a:latin typeface="Segoe UI"/>
              </a:rPr>
              <a:t>USERS ~5%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8408" y="2542032"/>
            <a:ext cx="4946903" cy="658368"/>
          </a:xfrm>
          <a:prstGeom prst="roundRect">
            <a:avLst>
              <a:gd name="adj" fmla="val 9000"/>
            </a:avLst>
          </a:prstGeom>
          <a:solidFill>
            <a:srgbClr val="0F1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78408" y="2542032"/>
            <a:ext cx="73152" cy="658368"/>
          </a:xfrm>
          <a:prstGeom prst="roundRect">
            <a:avLst>
              <a:gd name="adj" fmla="val 6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61288" y="2624327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1F5F9"/>
                </a:solidFill>
                <a:latin typeface="Segoe UI"/>
              </a:rPr>
              <a:t>Qwen3-235B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2907791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3A3B8"/>
                </a:solidFill>
                <a:latin typeface="Segoe UI"/>
              </a:rPr>
              <a:t>FP8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542032"/>
            <a:ext cx="13716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~250–400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59" y="2542032"/>
            <a:ext cx="10515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1F5F9"/>
                </a:solidFill>
                <a:latin typeface="Segoe UI"/>
              </a:rPr>
              <a:t>~5–8K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" y="3273552"/>
            <a:ext cx="4946903" cy="658368"/>
          </a:xfrm>
          <a:prstGeom prst="roundRect">
            <a:avLst>
              <a:gd name="adj" fmla="val 9000"/>
            </a:avLst>
          </a:prstGeom>
          <a:solidFill>
            <a:srgbClr val="0F1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78408" y="3273552"/>
            <a:ext cx="73152" cy="658368"/>
          </a:xfrm>
          <a:prstGeom prst="roundRect">
            <a:avLst>
              <a:gd name="adj" fmla="val 6000"/>
            </a:avLst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61288" y="3355848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1F5F9"/>
                </a:solidFill>
                <a:latin typeface="Segoe UI"/>
              </a:rPr>
              <a:t>Qwen3-Coder-480B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" y="3639312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3A3B8"/>
                </a:solidFill>
                <a:latin typeface="Segoe UI"/>
              </a:rPr>
              <a:t>AWQ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273552"/>
            <a:ext cx="13716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8D9E8"/>
                </a:solidFill>
                <a:latin typeface="Segoe UI"/>
              </a:rPr>
              <a:t>~120–200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59" y="3273552"/>
            <a:ext cx="10515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1F5F9"/>
                </a:solidFill>
                <a:latin typeface="Segoe UI"/>
              </a:rPr>
              <a:t>~2.5–4K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408" y="4005072"/>
            <a:ext cx="4946903" cy="658368"/>
          </a:xfrm>
          <a:prstGeom prst="roundRect">
            <a:avLst>
              <a:gd name="adj" fmla="val 9000"/>
            </a:avLst>
          </a:prstGeom>
          <a:solidFill>
            <a:srgbClr val="0F1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78408" y="4005072"/>
            <a:ext cx="73152" cy="658368"/>
          </a:xfrm>
          <a:prstGeom prst="roundRect">
            <a:avLst>
              <a:gd name="adj" fmla="val 6000"/>
            </a:avLst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61288" y="4087368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1F5F9"/>
                </a:solidFill>
                <a:latin typeface="Segoe UI"/>
              </a:rPr>
              <a:t>GLM-5.2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1288" y="4370832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3A3B8"/>
                </a:solidFill>
                <a:latin typeface="Segoe UI"/>
              </a:rPr>
              <a:t>NVFP4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005072"/>
            <a:ext cx="13716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B7CF6"/>
                </a:solidFill>
                <a:latin typeface="Segoe UI"/>
              </a:rPr>
              <a:t>~80–150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59" y="4005072"/>
            <a:ext cx="10515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1F5F9"/>
                </a:solidFill>
                <a:latin typeface="Segoe UI"/>
              </a:rPr>
              <a:t>~1.6–3K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8408" y="4736592"/>
            <a:ext cx="4946903" cy="658368"/>
          </a:xfrm>
          <a:prstGeom prst="roundRect">
            <a:avLst>
              <a:gd name="adj" fmla="val 9000"/>
            </a:avLst>
          </a:prstGeom>
          <a:solidFill>
            <a:srgbClr val="0F1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78408" y="4736592"/>
            <a:ext cx="73152" cy="658368"/>
          </a:xfrm>
          <a:prstGeom prst="roundRect">
            <a:avLst>
              <a:gd name="adj" fmla="val 6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61288" y="4818888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1F5F9"/>
                </a:solidFill>
                <a:latin typeface="Segoe UI"/>
              </a:rPr>
              <a:t>Kimi K2.7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61288" y="5102352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3A3B8"/>
                </a:solidFill>
                <a:latin typeface="Segoe UI"/>
              </a:rPr>
              <a:t>INT4 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4736592"/>
            <a:ext cx="13716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BBF24"/>
                </a:solidFill>
                <a:latin typeface="Segoe UI"/>
              </a:rPr>
              <a:t>~10–25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59" y="4736592"/>
            <a:ext cx="10515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1F5F9"/>
                </a:solidFill>
                <a:latin typeface="Segoe UI"/>
              </a:rPr>
              <a:t>~0.2–0.5K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80760" y="1554480"/>
            <a:ext cx="5349240" cy="3977639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12700">
            <a:solidFill>
              <a:srgbClr val="25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080760" y="1554480"/>
            <a:ext cx="5349240" cy="548640"/>
          </a:xfrm>
          <a:prstGeom prst="roundRect">
            <a:avLst>
              <a:gd name="adj" fmla="val 6000"/>
            </a:avLst>
          </a:prstGeom>
          <a:solidFill>
            <a:srgbClr val="0F1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36792" y="155448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38D9E8"/>
                </a:solidFill>
                <a:latin typeface="Segoe UI"/>
              </a:rPr>
              <a:t>8× H200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155448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3A3B8"/>
                </a:solidFill>
                <a:latin typeface="Segoe UI"/>
              </a:rPr>
              <a:t>1,128 GB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221284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93A3B8"/>
                </a:solidFill>
                <a:latin typeface="Segoe UI"/>
              </a:rPr>
              <a:t>MODEL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221284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93A3B8"/>
                </a:solidFill>
                <a:latin typeface="Segoe UI"/>
              </a:rPr>
              <a:t>CONCURRENT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0" y="221284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93A3B8"/>
                </a:solidFill>
                <a:latin typeface="Segoe UI"/>
              </a:rPr>
              <a:t>USERS ~5%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81928" y="2542032"/>
            <a:ext cx="4946903" cy="658368"/>
          </a:xfrm>
          <a:prstGeom prst="roundRect">
            <a:avLst>
              <a:gd name="adj" fmla="val 9000"/>
            </a:avLst>
          </a:prstGeom>
          <a:solidFill>
            <a:srgbClr val="0F1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6281928" y="2542032"/>
            <a:ext cx="73152" cy="658368"/>
          </a:xfrm>
          <a:prstGeom prst="roundRect">
            <a:avLst>
              <a:gd name="adj" fmla="val 6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64808" y="2624327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1F5F9"/>
                </a:solidFill>
                <a:latin typeface="Segoe UI"/>
              </a:rPr>
              <a:t>Qwen3-235B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64808" y="2907791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3A3B8"/>
                </a:solidFill>
                <a:latin typeface="Segoe UI"/>
              </a:rPr>
              <a:t>FP8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80" y="2542032"/>
            <a:ext cx="13716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~500–800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2542032"/>
            <a:ext cx="10515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1F5F9"/>
                </a:solidFill>
                <a:latin typeface="Segoe UI"/>
              </a:rPr>
              <a:t>~10–16K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81928" y="3273552"/>
            <a:ext cx="4946903" cy="658368"/>
          </a:xfrm>
          <a:prstGeom prst="roundRect">
            <a:avLst>
              <a:gd name="adj" fmla="val 9000"/>
            </a:avLst>
          </a:prstGeom>
          <a:solidFill>
            <a:srgbClr val="0F1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6281928" y="3273552"/>
            <a:ext cx="73152" cy="658368"/>
          </a:xfrm>
          <a:prstGeom prst="roundRect">
            <a:avLst>
              <a:gd name="adj" fmla="val 6000"/>
            </a:avLst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64808" y="3355848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1F5F9"/>
                </a:solidFill>
                <a:latin typeface="Segoe UI"/>
              </a:rPr>
              <a:t>Qwen3-Coder-480B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64808" y="3639312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3A3B8"/>
                </a:solidFill>
                <a:latin typeface="Segoe UI"/>
              </a:rPr>
              <a:t>FP8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69680" y="3273552"/>
            <a:ext cx="13716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8D9E8"/>
                </a:solidFill>
                <a:latin typeface="Segoe UI"/>
              </a:rPr>
              <a:t>~300–500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41280" y="3273552"/>
            <a:ext cx="10515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1F5F9"/>
                </a:solidFill>
                <a:latin typeface="Segoe UI"/>
              </a:rPr>
              <a:t>~6–10K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81928" y="4005072"/>
            <a:ext cx="4946903" cy="658368"/>
          </a:xfrm>
          <a:prstGeom prst="roundRect">
            <a:avLst>
              <a:gd name="adj" fmla="val 9000"/>
            </a:avLst>
          </a:prstGeom>
          <a:solidFill>
            <a:srgbClr val="0F1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6281928" y="4005072"/>
            <a:ext cx="73152" cy="658368"/>
          </a:xfrm>
          <a:prstGeom prst="roundRect">
            <a:avLst>
              <a:gd name="adj" fmla="val 6000"/>
            </a:avLst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464808" y="4087368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1F5F9"/>
                </a:solidFill>
                <a:latin typeface="Segoe UI"/>
              </a:rPr>
              <a:t>GLM-5.2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64808" y="4370832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3A3B8"/>
                </a:solidFill>
                <a:latin typeface="Segoe UI"/>
              </a:rPr>
              <a:t>FP8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69680" y="4005072"/>
            <a:ext cx="13716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B7CF6"/>
                </a:solidFill>
                <a:latin typeface="Segoe UI"/>
              </a:rPr>
              <a:t>~200–350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41280" y="4005072"/>
            <a:ext cx="10515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1F5F9"/>
                </a:solidFill>
                <a:latin typeface="Segoe UI"/>
              </a:rPr>
              <a:t>~4–7K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81928" y="4736592"/>
            <a:ext cx="4946903" cy="658368"/>
          </a:xfrm>
          <a:prstGeom prst="roundRect">
            <a:avLst>
              <a:gd name="adj" fmla="val 9000"/>
            </a:avLst>
          </a:prstGeom>
          <a:solidFill>
            <a:srgbClr val="0F1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6281928" y="4736592"/>
            <a:ext cx="73152" cy="658368"/>
          </a:xfrm>
          <a:prstGeom prst="roundRect">
            <a:avLst>
              <a:gd name="adj" fmla="val 6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464808" y="4818888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1F5F9"/>
                </a:solidFill>
                <a:latin typeface="Segoe UI"/>
              </a:rPr>
              <a:t>Kimi K2.7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64808" y="5102352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3A3B8"/>
                </a:solidFill>
                <a:latin typeface="Segoe UI"/>
              </a:rPr>
              <a:t>FP8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869680" y="4736592"/>
            <a:ext cx="13716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BBF24"/>
                </a:solidFill>
                <a:latin typeface="Segoe UI"/>
              </a:rPr>
              <a:t>~150–250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41280" y="4736592"/>
            <a:ext cx="10515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1F5F9"/>
                </a:solidFill>
                <a:latin typeface="Segoe UI"/>
              </a:rPr>
              <a:t>~3–5K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7240" y="5705856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Assumes ~8–16K avg context, ~20–30 tok/s per user, FP8 KV cache, ~5% of named users active at once.  </a:t>
            </a:r>
            <a:r>
              <a:rPr sz="1050" b="1">
                <a:solidFill>
                  <a:srgbClr val="93A3B8"/>
                </a:solidFill>
                <a:latin typeface="Segoe UI"/>
              </a:rPr>
              <a:t>Planning estimates (±40%) — load-test to confirm.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77240" y="6364224"/>
            <a:ext cx="10652760" cy="12801"/>
          </a:xfrm>
          <a:prstGeom prst="rect">
            <a:avLst/>
          </a:prstGeom>
          <a:solidFill>
            <a:srgbClr val="253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77240" y="64465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E7E6E6"/>
                </a:solidFill>
                <a:latin typeface="Calibri"/>
              </a:rPr>
              <a:t>PROPRIETARY AND CONFIDENTIAL   |   Open Access Technology International   |   2026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07040" y="6419088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93A3B8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749808" cy="570687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417320" y="502920"/>
            <a:ext cx="91440" cy="566928"/>
          </a:xfrm>
          <a:prstGeom prst="roundRect">
            <a:avLst>
              <a:gd name="adj" fmla="val 50000"/>
            </a:avLst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64208" y="457200"/>
            <a:ext cx="9875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8D9E8"/>
                </a:solidFill>
                <a:latin typeface="Segoe UI"/>
              </a:rPr>
              <a:t>RECOMMENDATION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F1F5F9"/>
                </a:solidFill>
                <a:latin typeface="Segoe UI"/>
              </a:rPr>
              <a:t>What to Host — Ranked for This Node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6903720" cy="1024128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12700">
            <a:solidFill>
              <a:srgbClr val="25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91440" cy="1024128"/>
          </a:xfrm>
          <a:prstGeom prst="roundRect">
            <a:avLst>
              <a:gd name="adj" fmla="val 6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1560" y="1929384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0F1727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929384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34D399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856232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F1F5F9"/>
                </a:solidFill>
                <a:latin typeface="Segoe UI"/>
              </a:rPr>
              <a:t>Qwen3-235B-A22B · FP8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221992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3A3B8"/>
                </a:solidFill>
                <a:latin typeface="Segoe UI"/>
              </a:rPr>
              <a:t>Zero-drama default: full context, high concurrency, best speed/$. Start here.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788920"/>
            <a:ext cx="6903720" cy="1024128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12700">
            <a:solidFill>
              <a:srgbClr val="25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77240" y="2788920"/>
            <a:ext cx="91440" cy="1024128"/>
          </a:xfrm>
          <a:prstGeom prst="roundRect">
            <a:avLst>
              <a:gd name="adj" fmla="val 6000"/>
            </a:avLst>
          </a:prstGeom>
          <a:solidFill>
            <a:srgbClr val="38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1560" y="3026663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0F1727"/>
          </a:solidFill>
          <a:ln w="19050">
            <a:solidFill>
              <a:srgbClr val="38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3026663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38D9E8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953512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F1F5F9"/>
                </a:solidFill>
                <a:latin typeface="Segoe UI"/>
              </a:rPr>
              <a:t>Qwen3-Coder-480B · FP8 / AWQ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319272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3A3B8"/>
                </a:solidFill>
                <a:latin typeface="Segoe UI"/>
              </a:rPr>
              <a:t>When coding-agent quality leads and you can spend the headroom.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886200"/>
            <a:ext cx="6903720" cy="1024128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12700">
            <a:solidFill>
              <a:srgbClr val="25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77240" y="3886200"/>
            <a:ext cx="91440" cy="1024128"/>
          </a:xfrm>
          <a:prstGeom prst="roundRect">
            <a:avLst>
              <a:gd name="adj" fmla="val 6000"/>
            </a:avLst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1560" y="4123944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0F1727"/>
          </a:solidFill>
          <a:ln w="19050">
            <a:solidFill>
              <a:srgbClr val="8B7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4123944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8B7CF6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050791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F1F5F9"/>
                </a:solidFill>
                <a:latin typeface="Segoe UI"/>
              </a:rPr>
              <a:t>GLM-5.2 · NVFP4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416552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3A3B8"/>
                </a:solidFill>
                <a:latin typeface="Segoe UI"/>
              </a:rPr>
              <a:t>Highest capability of the set; accept 4-bit + a single-node comfort margin.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983480"/>
            <a:ext cx="6903720" cy="1024128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12700">
            <a:solidFill>
              <a:srgbClr val="25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77240" y="4983480"/>
            <a:ext cx="91440" cy="1024128"/>
          </a:xfrm>
          <a:prstGeom prst="roundRect">
            <a:avLst>
              <a:gd name="adj" fmla="val 6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51560" y="5221224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0F1727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1560" y="5221224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BBF24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148072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F1F5F9"/>
                </a:solidFill>
                <a:latin typeface="Segoe UI"/>
              </a:rPr>
              <a:t>Kimi K2.7 · INT4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513832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3A3B8"/>
                </a:solidFill>
                <a:latin typeface="Segoe UI"/>
              </a:rPr>
              <a:t>Only if you specifically need K2.7 — tightest squeeze, really wants 8 GPUs.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79" y="1691640"/>
            <a:ext cx="3520440" cy="425196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15875">
            <a:solidFill>
              <a:srgbClr val="38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0" y="192024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8D9E8"/>
                </a:solidFill>
                <a:latin typeface="Segoe UI"/>
              </a:rPr>
              <a:t>PICK BY USE CASE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37744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3A3B8"/>
                </a:solidFill>
                <a:latin typeface="Segoe UI"/>
              </a:rPr>
              <a:t>General chat / agents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633472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34D399"/>
                </a:solidFill>
                <a:latin typeface="Segoe UI"/>
              </a:rPr>
              <a:t>▸ Qwen3-235B FP8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072384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3A3B8"/>
                </a:solidFill>
                <a:latin typeface="Segoe UI"/>
              </a:rPr>
              <a:t>Coding copilot at scale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328416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38D9E8"/>
                </a:solidFill>
                <a:latin typeface="Segoe UI"/>
              </a:rPr>
              <a:t>▸ Qwen3-Coder-480B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376732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3A3B8"/>
                </a:solidFill>
                <a:latin typeface="Segoe UI"/>
              </a:rPr>
              <a:t>Max quality, cost-ok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02336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8B7CF6"/>
                </a:solidFill>
                <a:latin typeface="Segoe UI"/>
              </a:rPr>
              <a:t>▸ GLM-5.2 NVFP4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4462272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3A3B8"/>
                </a:solidFill>
                <a:latin typeface="Segoe UI"/>
              </a:rPr>
              <a:t>Need long 1M context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4718304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8B7CF6"/>
                </a:solidFill>
                <a:latin typeface="Segoe UI"/>
              </a:rPr>
              <a:t>▸ GLM-5.2 (1024K)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5157216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3A3B8"/>
                </a:solidFill>
                <a:latin typeface="Segoe UI"/>
              </a:rPr>
              <a:t>Must use K2.7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541324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BBF24"/>
                </a:solidFill>
                <a:latin typeface="Segoe UI"/>
              </a:rPr>
              <a:t>▸ Prefer 8× H200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6364224"/>
            <a:ext cx="10652760" cy="12801"/>
          </a:xfrm>
          <a:prstGeom prst="rect">
            <a:avLst/>
          </a:prstGeom>
          <a:solidFill>
            <a:srgbClr val="253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77240" y="64465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E7E6E6"/>
                </a:solidFill>
                <a:latin typeface="Calibri"/>
              </a:rPr>
              <a:t>PROPRIETARY AND CONFIDENTIAL   |   Open Access Technology International   |  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07040" y="6419088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93A3B8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4081</TotalTime>
  <Words>1234</Words>
  <Application>Microsoft Office PowerPoint</Application>
  <PresentationFormat>Widescreen</PresentationFormat>
  <Paragraphs>262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Komal Kumar</dc:creator>
  <cp:keywords/>
  <dc:description>generated using python-pptx</dc:description>
  <cp:lastModifiedBy>Komal Kumar</cp:lastModifiedBy>
  <cp:revision>2</cp:revision>
  <dcterms:created xsi:type="dcterms:W3CDTF">2013-01-27T09:14:16Z</dcterms:created>
  <dcterms:modified xsi:type="dcterms:W3CDTF">2026-07-13T12:19:39Z</dcterms:modified>
  <cp:category/>
</cp:coreProperties>
</file>