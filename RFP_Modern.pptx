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Records Added</c:v>
                </c:pt>
              </c:strCache>
            </c:strRef>
          </c:tx>
          <c:spPr>
            <a:solidFill>
              <a:srgbClr val="0D9488"/>
            </a:solidFill>
            <a:effectLst/>
          </c:spPr>
          <c:invertIfNegative val="0"/>
          <c:dLbls>
            <c:numFmt formatCode="#,##0" sourceLinked="0"/>
            <c:txPr>
              <a:bodyPr/>
              <a:lstStyle/>
              <a:p>
                <a:pPr>
                  <a:defRPr b="0" i="0" strike="noStrike" sz="700" u="none">
                    <a:solidFill>
                      <a:srgbClr val="1E293B"/>
                    </a:solidFill>
                    <a:latin typeface="Arial"/>
                  </a:defRPr>
                </a:pPr>
              </a:p>
            </c:txPr>
            <c:showLegendKey val="0"/>
            <c:showVal val="1"/>
            <c:showCatName val="0"/>
            <c:showSerName val="0"/>
            <c:showPercent val="0"/>
            <c:showBubbleSize val="0"/>
            <c:showLeaderLines val="0"/>
          </c:dLbls>
          <c:cat>
            <c:multiLvlStrRef>
              <c:f>Sheet1!$A$2:$A$11</c:f>
              <c:multiLvlStrCache>
                <c:ptCount val="10"/>
                <c:lvl>
                  <c:pt idx="0">
                    <c:v>2017</c:v>
                  </c:pt>
                  <c:pt idx="1">
                    <c:v>2018</c:v>
                  </c:pt>
                  <c:pt idx="2">
                    <c:v>2019</c:v>
                  </c:pt>
                  <c:pt idx="3">
                    <c:v>2020</c:v>
                  </c:pt>
                  <c:pt idx="4">
                    <c:v>2021</c:v>
                  </c:pt>
                  <c:pt idx="5">
                    <c:v>2022</c:v>
                  </c:pt>
                  <c:pt idx="6">
                    <c:v>2023</c:v>
                  </c:pt>
                  <c:pt idx="7">
                    <c:v>2024</c:v>
                  </c:pt>
                  <c:pt idx="8">
                    <c:v>2025</c:v>
                  </c:pt>
                  <c:pt idx="9">
                    <c:v>2026</c:v>
                  </c:pt>
                </c:lvl>
              </c:multiLvlStrCache>
            </c:multiLvlStrRef>
          </c:cat>
          <c:val>
            <c:numRef>
              <c:f>Sheet1!$B$2:$B$11</c:f>
              <c:numCache>
                <c:formatCode>General</c:formatCode>
                <c:ptCount val="10"/>
                <c:pt idx="0">
                  <c:v>306</c:v>
                </c:pt>
                <c:pt idx="1">
                  <c:v>407</c:v>
                </c:pt>
                <c:pt idx="2">
                  <c:v>61</c:v>
                </c:pt>
                <c:pt idx="3">
                  <c:v>560</c:v>
                </c:pt>
                <c:pt idx="4">
                  <c:v>5563</c:v>
                </c:pt>
                <c:pt idx="5">
                  <c:v>10193</c:v>
                </c:pt>
                <c:pt idx="6">
                  <c:v>6727</c:v>
                </c:pt>
                <c:pt idx="7">
                  <c:v>10362</c:v>
                </c:pt>
                <c:pt idx="8">
                  <c:v>11419</c:v>
                </c:pt>
                <c:pt idx="9">
                  <c:v>781</c:v>
                </c:pt>
              </c:numCache>
            </c:numRef>
          </c:val>
        </c:ser>
        <c:dLbls>
          <c:numFmt formatCode="#,##0" sourceLinked="0"/>
          <c:txPr>
            <a:bodyPr/>
            <a:lstStyle/>
            <a:p>
              <a:pPr>
                <a:defRPr b="0" i="0" strike="noStrike" sz="7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E"/>
        </a:solidFill>
      </p:bgPr>
    </p:bg>
    <p:spTree>
      <p:nvGrpSpPr>
        <p:cNvPr id="1" name=""/>
        <p:cNvGrpSpPr/>
        <p:nvPr/>
      </p:nvGrpSpPr>
      <p:grpSpPr>
        <a:xfrm>
          <a:off x="0" y="0"/>
          <a:ext cx="0" cy="0"/>
          <a:chOff x="0" y="0"/>
          <a:chExt cx="0" cy="0"/>
        </a:xfrm>
      </p:grpSpPr>
      <p:sp>
        <p:nvSpPr>
          <p:cNvPr id="2" name="Shape 0"/>
          <p:cNvSpPr/>
          <p:nvPr/>
        </p:nvSpPr>
        <p:spPr>
          <a:xfrm>
            <a:off x="0" y="4434840"/>
            <a:ext cx="9144000" cy="708660"/>
          </a:xfrm>
          <a:prstGeom prst="rect">
            <a:avLst/>
          </a:prstGeom>
          <a:solidFill>
            <a:srgbClr val="071527"/>
          </a:solidFill>
          <a:ln w="12700">
            <a:solidFill>
              <a:srgbClr val="071527"/>
            </a:solidFill>
            <a:prstDash val="solid"/>
          </a:ln>
        </p:spPr>
      </p:sp>
      <p:sp>
        <p:nvSpPr>
          <p:cNvPr id="3" name="Shape 1"/>
          <p:cNvSpPr/>
          <p:nvPr/>
        </p:nvSpPr>
        <p:spPr>
          <a:xfrm>
            <a:off x="0" y="0"/>
            <a:ext cx="411480" cy="5143500"/>
          </a:xfrm>
          <a:prstGeom prst="rect">
            <a:avLst/>
          </a:prstGeom>
          <a:solidFill>
            <a:srgbClr val="0D9488"/>
          </a:solidFill>
          <a:ln w="12700">
            <a:solidFill>
              <a:srgbClr val="0D9488"/>
            </a:solidFill>
            <a:prstDash val="solid"/>
          </a:ln>
        </p:spPr>
      </p:sp>
      <p:sp>
        <p:nvSpPr>
          <p:cNvPr id="4" name="Shape 2"/>
          <p:cNvSpPr/>
          <p:nvPr/>
        </p:nvSpPr>
        <p:spPr>
          <a:xfrm>
            <a:off x="411480" y="0"/>
            <a:ext cx="82296" cy="5143500"/>
          </a:xfrm>
          <a:prstGeom prst="rect">
            <a:avLst/>
          </a:prstGeom>
          <a:solidFill>
            <a:srgbClr val="0F766E"/>
          </a:solidFill>
          <a:ln w="12700">
            <a:solidFill>
              <a:srgbClr val="0F766E"/>
            </a:solidFill>
            <a:prstDash val="solid"/>
          </a:ln>
        </p:spPr>
      </p:sp>
      <p:sp>
        <p:nvSpPr>
          <p:cNvPr id="5" name="Text 3"/>
          <p:cNvSpPr/>
          <p:nvPr/>
        </p:nvSpPr>
        <p:spPr>
          <a:xfrm>
            <a:off x="914400" y="1097280"/>
            <a:ext cx="7315200" cy="347472"/>
          </a:xfrm>
          <a:prstGeom prst="rect">
            <a:avLst/>
          </a:prstGeom>
          <a:noFill/>
          <a:ln/>
        </p:spPr>
        <p:txBody>
          <a:bodyPr wrap="square" lIns="0" tIns="0" rIns="0" bIns="0" rtlCol="0" anchor="ctr"/>
          <a:lstStyle/>
          <a:p>
            <a:pPr algn="l" indent="0" marL="0">
              <a:buNone/>
            </a:pPr>
            <a:r>
              <a:rPr lang="en-US" sz="900" b="1" spc="300" kern="0" dirty="0">
                <a:solidFill>
                  <a:srgbClr val="0D9488"/>
                </a:solidFill>
                <a:latin typeface="Calibri" pitchFamily="34" charset="0"/>
                <a:ea typeface="Calibri" pitchFamily="34" charset="-122"/>
                <a:cs typeface="Calibri" pitchFamily="34" charset="-120"/>
              </a:rPr>
              <a:t>ARTIFICIAL INTELLIGENCE  |  OATI GENIE</a:t>
            </a:r>
            <a:endParaRPr lang="en-US" sz="900" dirty="0"/>
          </a:p>
        </p:txBody>
      </p:sp>
      <p:sp>
        <p:nvSpPr>
          <p:cNvPr id="6" name="Text 4"/>
          <p:cNvSpPr/>
          <p:nvPr/>
        </p:nvSpPr>
        <p:spPr>
          <a:xfrm>
            <a:off x="914400" y="1417320"/>
            <a:ext cx="7772400" cy="1783080"/>
          </a:xfrm>
          <a:prstGeom prst="rect">
            <a:avLst/>
          </a:prstGeom>
          <a:noFill/>
          <a:ln/>
        </p:spPr>
        <p:txBody>
          <a:bodyPr wrap="square" lIns="0" tIns="0" rIns="0" bIns="0" rtlCol="0" anchor="t"/>
          <a:lstStyle/>
          <a:p>
            <a:pPr algn="l" indent="0" marL="0">
              <a:buNone/>
            </a:pPr>
            <a:r>
              <a:rPr lang="en-US" sz="4800" b="1" dirty="0">
                <a:solidFill>
                  <a:srgbClr val="FFFFFF"/>
                </a:solidFill>
                <a:latin typeface="Calibri" pitchFamily="34" charset="0"/>
                <a:ea typeface="Calibri" pitchFamily="34" charset="-122"/>
                <a:cs typeface="Calibri" pitchFamily="34" charset="-120"/>
              </a:rPr>
              <a:t>Genie RFP Responder</a:t>
            </a:r>
            <a:endParaRPr lang="en-US" sz="4800" dirty="0"/>
          </a:p>
          <a:p>
            <a:pPr algn="l" indent="0" marL="0">
              <a:buNone/>
            </a:pPr>
            <a:r>
              <a:rPr lang="en-US" sz="4800" b="1" dirty="0">
                <a:solidFill>
                  <a:srgbClr val="FFFFFF"/>
                </a:solidFill>
                <a:latin typeface="Calibri" pitchFamily="34" charset="0"/>
                <a:ea typeface="Calibri" pitchFamily="34" charset="-122"/>
                <a:cs typeface="Calibri" pitchFamily="34" charset="-120"/>
              </a:rPr>
              <a:t>Updates</a:t>
            </a:r>
            <a:endParaRPr lang="en-US" sz="4800" dirty="0"/>
          </a:p>
        </p:txBody>
      </p:sp>
      <p:sp>
        <p:nvSpPr>
          <p:cNvPr id="7" name="Shape 5"/>
          <p:cNvSpPr/>
          <p:nvPr/>
        </p:nvSpPr>
        <p:spPr>
          <a:xfrm>
            <a:off x="914400" y="3310128"/>
            <a:ext cx="2560320" cy="50292"/>
          </a:xfrm>
          <a:prstGeom prst="rect">
            <a:avLst/>
          </a:prstGeom>
          <a:solidFill>
            <a:srgbClr val="0D9488"/>
          </a:solidFill>
          <a:ln w="12700">
            <a:solidFill>
              <a:srgbClr val="0D9488"/>
            </a:solidFill>
            <a:prstDash val="solid"/>
          </a:ln>
        </p:spPr>
      </p:sp>
      <p:sp>
        <p:nvSpPr>
          <p:cNvPr id="8" name="Text 6"/>
          <p:cNvSpPr/>
          <p:nvPr/>
        </p:nvSpPr>
        <p:spPr>
          <a:xfrm>
            <a:off x="914400" y="3456432"/>
            <a:ext cx="4572000" cy="365760"/>
          </a:xfrm>
          <a:prstGeom prst="rect">
            <a:avLst/>
          </a:prstGeom>
          <a:noFill/>
          <a:ln/>
        </p:spPr>
        <p:txBody>
          <a:bodyPr wrap="square" lIns="0" tIns="0" rIns="0" bIns="0" rtlCol="0" anchor="ctr"/>
          <a:lstStyle/>
          <a:p>
            <a:pPr algn="l" indent="0" marL="0">
              <a:buNone/>
            </a:pPr>
            <a:r>
              <a:rPr lang="en-US" sz="1400" dirty="0">
                <a:solidFill>
                  <a:srgbClr val="CADCFC"/>
                </a:solidFill>
                <a:latin typeface="Calibri" pitchFamily="34" charset="0"/>
                <a:ea typeface="Calibri" pitchFamily="34" charset="-122"/>
                <a:cs typeface="Calibri" pitchFamily="34" charset="-120"/>
              </a:rPr>
              <a:t>May 14, 2026</a:t>
            </a:r>
            <a:endParaRPr lang="en-US" sz="1400" dirty="0"/>
          </a:p>
        </p:txBody>
      </p:sp>
      <p:sp>
        <p:nvSpPr>
          <p:cNvPr id="9" name="Text 7"/>
          <p:cNvSpPr/>
          <p:nvPr/>
        </p:nvSpPr>
        <p:spPr>
          <a:xfrm>
            <a:off x="914400" y="4480560"/>
            <a:ext cx="7315200" cy="301752"/>
          </a:xfrm>
          <a:prstGeom prst="rect">
            <a:avLst/>
          </a:prstGeom>
          <a:noFill/>
          <a:ln/>
        </p:spPr>
        <p:txBody>
          <a:bodyPr wrap="square" lIns="0" tIns="0" rIns="0" bIns="0" rtlCol="0" anchor="ctr"/>
          <a:lstStyle/>
          <a:p>
            <a:pPr algn="l" indent="0" marL="0">
              <a:buNone/>
            </a:pPr>
            <a:r>
              <a:rPr lang="en-US" sz="900" dirty="0">
                <a:solidFill>
                  <a:srgbClr val="5B7FA6"/>
                </a:solidFill>
                <a:latin typeface="Calibri" pitchFamily="34" charset="0"/>
                <a:ea typeface="Calibri" pitchFamily="34" charset="-122"/>
                <a:cs typeface="Calibri" pitchFamily="34" charset="-120"/>
              </a:rPr>
              <a:t>Open Access Technology International, Inc.  |  www.oati.com/AI-genie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D3E"/>
        </a:solidFill>
      </p:bgPr>
    </p:bg>
    <p:spTree>
      <p:nvGrpSpPr>
        <p:cNvPr id="1" name=""/>
        <p:cNvGrpSpPr/>
        <p:nvPr/>
      </p:nvGrpSpPr>
      <p:grpSpPr>
        <a:xfrm>
          <a:off x="0" y="0"/>
          <a:ext cx="0" cy="0"/>
          <a:chOff x="0" y="0"/>
          <a:chExt cx="0" cy="0"/>
        </a:xfrm>
      </p:grpSpPr>
      <p:sp>
        <p:nvSpPr>
          <p:cNvPr id="2" name="Shape 0"/>
          <p:cNvSpPr/>
          <p:nvPr/>
        </p:nvSpPr>
        <p:spPr>
          <a:xfrm>
            <a:off x="0" y="4434840"/>
            <a:ext cx="9144000" cy="708660"/>
          </a:xfrm>
          <a:prstGeom prst="rect">
            <a:avLst/>
          </a:prstGeom>
          <a:solidFill>
            <a:srgbClr val="071527"/>
          </a:solidFill>
          <a:ln w="12700">
            <a:solidFill>
              <a:srgbClr val="071527"/>
            </a:solidFill>
            <a:prstDash val="solid"/>
          </a:ln>
        </p:spPr>
      </p:sp>
      <p:sp>
        <p:nvSpPr>
          <p:cNvPr id="3" name="Shape 1"/>
          <p:cNvSpPr/>
          <p:nvPr/>
        </p:nvSpPr>
        <p:spPr>
          <a:xfrm>
            <a:off x="0" y="0"/>
            <a:ext cx="82296" cy="5143500"/>
          </a:xfrm>
          <a:prstGeom prst="rect">
            <a:avLst/>
          </a:prstGeom>
          <a:solidFill>
            <a:srgbClr val="0D9488"/>
          </a:solidFill>
          <a:ln w="12700">
            <a:solidFill>
              <a:srgbClr val="0D9488"/>
            </a:solidFill>
            <a:prstDash val="solid"/>
          </a:ln>
        </p:spPr>
      </p:sp>
      <p:sp>
        <p:nvSpPr>
          <p:cNvPr id="4" name="Text 2"/>
          <p:cNvSpPr/>
          <p:nvPr/>
        </p:nvSpPr>
        <p:spPr>
          <a:xfrm>
            <a:off x="228600" y="4434840"/>
            <a:ext cx="7772400" cy="70866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5" name="Text 3"/>
          <p:cNvSpPr/>
          <p:nvPr/>
        </p:nvSpPr>
        <p:spPr>
          <a:xfrm>
            <a:off x="457200" y="502920"/>
            <a:ext cx="8229600" cy="347472"/>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CONFIDENTIALITY NOTICE</a:t>
            </a:r>
            <a:endParaRPr lang="en-US" sz="900" dirty="0"/>
          </a:p>
        </p:txBody>
      </p:sp>
      <p:sp>
        <p:nvSpPr>
          <p:cNvPr id="6" name="Text 4"/>
          <p:cNvSpPr/>
          <p:nvPr/>
        </p:nvSpPr>
        <p:spPr>
          <a:xfrm>
            <a:off x="457200" y="960120"/>
            <a:ext cx="82296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Trade Secret</a:t>
            </a:r>
            <a:endParaRPr lang="en-US" sz="2400" dirty="0"/>
          </a:p>
        </p:txBody>
      </p:sp>
      <p:sp>
        <p:nvSpPr>
          <p:cNvPr id="7" name="Text 5"/>
          <p:cNvSpPr/>
          <p:nvPr/>
        </p:nvSpPr>
        <p:spPr>
          <a:xfrm>
            <a:off x="457200" y="1508760"/>
            <a:ext cx="8229600" cy="9601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This document and attachments contain confidential and proprietary information of Open Access Technology International, Inc. This information is not to be used, disseminated, distributed, or otherwise transferred without the expressed written permission of Open Access Technology International, Inc.</a:t>
            </a:r>
            <a:endParaRPr lang="en-US" sz="1200" dirty="0"/>
          </a:p>
        </p:txBody>
      </p:sp>
      <p:sp>
        <p:nvSpPr>
          <p:cNvPr id="8" name="Shape 6"/>
          <p:cNvSpPr/>
          <p:nvPr/>
        </p:nvSpPr>
        <p:spPr>
          <a:xfrm>
            <a:off x="457200" y="2606040"/>
            <a:ext cx="8229600" cy="32004"/>
          </a:xfrm>
          <a:prstGeom prst="rect">
            <a:avLst/>
          </a:prstGeom>
          <a:solidFill>
            <a:srgbClr val="1E3A5F"/>
          </a:solidFill>
          <a:ln w="12700">
            <a:solidFill>
              <a:srgbClr val="1E3A5F"/>
            </a:solidFill>
            <a:prstDash val="solid"/>
          </a:ln>
        </p:spPr>
      </p:sp>
      <p:sp>
        <p:nvSpPr>
          <p:cNvPr id="9" name="Text 7"/>
          <p:cNvSpPr/>
          <p:nvPr/>
        </p:nvSpPr>
        <p:spPr>
          <a:xfrm>
            <a:off x="457200" y="2743200"/>
            <a:ext cx="82296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Proprietary Notice</a:t>
            </a:r>
            <a:endParaRPr lang="en-US" sz="2400" dirty="0"/>
          </a:p>
        </p:txBody>
      </p:sp>
      <p:sp>
        <p:nvSpPr>
          <p:cNvPr id="10" name="Text 8"/>
          <p:cNvSpPr/>
          <p:nvPr/>
        </p:nvSpPr>
        <p:spPr>
          <a:xfrm>
            <a:off x="457200" y="3291840"/>
            <a:ext cx="8229600" cy="5943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All OATI products and services listed are trademarks and service marks of Open Access Technology International, Inc. All rights reserved.</a:t>
            </a:r>
            <a:endParaRPr lang="en-US" sz="1200" dirty="0"/>
          </a:p>
        </p:txBody>
      </p:sp>
      <p:sp>
        <p:nvSpPr>
          <p:cNvPr id="11" name="Text 9"/>
          <p:cNvSpPr/>
          <p:nvPr/>
        </p:nvSpPr>
        <p:spPr>
          <a:xfrm>
            <a:off x="457200" y="3886200"/>
            <a:ext cx="8229600" cy="320040"/>
          </a:xfrm>
          <a:prstGeom prst="rect">
            <a:avLst/>
          </a:prstGeom>
          <a:noFill/>
          <a:ln/>
        </p:spPr>
        <p:txBody>
          <a:bodyPr wrap="square" lIns="0" tIns="0" rIns="0" bIns="0" rtlCol="0" anchor="ctr"/>
          <a:lstStyle/>
          <a:p>
            <a:pPr indent="0" marL="0">
              <a:buNone/>
            </a:pPr>
            <a:r>
              <a:rPr lang="en-US" sz="1000" dirty="0">
                <a:solidFill>
                  <a:srgbClr val="5B7FA6"/>
                </a:solidFill>
                <a:latin typeface="Calibri" pitchFamily="34" charset="0"/>
                <a:ea typeface="Calibri" pitchFamily="34" charset="-122"/>
                <a:cs typeface="Calibri" pitchFamily="34" charset="-120"/>
              </a:rPr>
              <a:t>www.oati.net  |  Open Access Technology International, Inc.</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E"/>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071527"/>
          </a:solidFill>
          <a:ln w="12700">
            <a:solidFill>
              <a:srgbClr val="071527"/>
            </a:solidFill>
            <a:prstDash val="solid"/>
          </a:ln>
        </p:spPr>
      </p:sp>
      <p:sp>
        <p:nvSpPr>
          <p:cNvPr id="3" name="Shape 1"/>
          <p:cNvSpPr/>
          <p:nvPr/>
        </p:nvSpPr>
        <p:spPr>
          <a:xfrm>
            <a:off x="0" y="4434840"/>
            <a:ext cx="9144000" cy="708660"/>
          </a:xfrm>
          <a:prstGeom prst="rect">
            <a:avLst/>
          </a:prstGeom>
          <a:solidFill>
            <a:srgbClr val="0A1525"/>
          </a:solidFill>
          <a:ln w="12700">
            <a:solidFill>
              <a:srgbClr val="0A1525"/>
            </a:solidFill>
            <a:prstDash val="solid"/>
          </a:ln>
        </p:spPr>
      </p:sp>
      <p:sp>
        <p:nvSpPr>
          <p:cNvPr id="4" name="Shape 2"/>
          <p:cNvSpPr/>
          <p:nvPr/>
        </p:nvSpPr>
        <p:spPr>
          <a:xfrm>
            <a:off x="0" y="0"/>
            <a:ext cx="82296" cy="5143500"/>
          </a:xfrm>
          <a:prstGeom prst="rect">
            <a:avLst/>
          </a:prstGeom>
          <a:solidFill>
            <a:srgbClr val="0D9488"/>
          </a:solidFill>
          <a:ln w="12700">
            <a:solidFill>
              <a:srgbClr val="0D9488"/>
            </a:solidFill>
            <a:prstDash val="solid"/>
          </a:ln>
        </p:spPr>
      </p:sp>
      <p:sp>
        <p:nvSpPr>
          <p:cNvPr id="5" name="Text 3"/>
          <p:cNvSpPr/>
          <p:nvPr/>
        </p:nvSpPr>
        <p:spPr>
          <a:xfrm>
            <a:off x="228600" y="4434840"/>
            <a:ext cx="7772400" cy="70866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6" name="Text 4"/>
          <p:cNvSpPr/>
          <p:nvPr/>
        </p:nvSpPr>
        <p:spPr>
          <a:xfrm>
            <a:off x="457200" y="365760"/>
            <a:ext cx="5029200" cy="411480"/>
          </a:xfrm>
          <a:prstGeom prst="rect">
            <a:avLst/>
          </a:prstGeom>
          <a:noFill/>
          <a:ln/>
        </p:spPr>
        <p:txBody>
          <a:bodyPr wrap="square" lIns="0" tIns="0" rIns="0" bIns="0" rtlCol="0" anchor="ctr"/>
          <a:lstStyle/>
          <a:p>
            <a:pPr indent="0" marL="0">
              <a:buNone/>
            </a:pPr>
            <a:r>
              <a:rPr lang="en-US" sz="1100" b="1" spc="500" kern="0" dirty="0">
                <a:solidFill>
                  <a:srgbClr val="0D9488"/>
                </a:solidFill>
                <a:latin typeface="Calibri" pitchFamily="34" charset="0"/>
                <a:ea typeface="Calibri" pitchFamily="34" charset="-122"/>
                <a:cs typeface="Calibri" pitchFamily="34" charset="-120"/>
              </a:rPr>
              <a:t>AGENDA</a:t>
            </a:r>
            <a:endParaRPr lang="en-US" sz="1100" dirty="0"/>
          </a:p>
        </p:txBody>
      </p:sp>
      <p:sp>
        <p:nvSpPr>
          <p:cNvPr id="7" name="Text 5"/>
          <p:cNvSpPr/>
          <p:nvPr/>
        </p:nvSpPr>
        <p:spPr>
          <a:xfrm>
            <a:off x="365760" y="960120"/>
            <a:ext cx="914400" cy="594360"/>
          </a:xfrm>
          <a:prstGeom prst="rect">
            <a:avLst/>
          </a:prstGeom>
          <a:noFill/>
          <a:ln/>
        </p:spPr>
        <p:txBody>
          <a:bodyPr wrap="square" lIns="0" tIns="0" rIns="0" bIns="0" rtlCol="0" anchor="ctr"/>
          <a:lstStyle/>
          <a:p>
            <a:pPr algn="r" indent="0" marL="0">
              <a:buNone/>
            </a:pPr>
            <a:r>
              <a:rPr lang="en-US" sz="3000" b="1" dirty="0">
                <a:solidFill>
                  <a:srgbClr val="0D9488"/>
                </a:solidFill>
                <a:latin typeface="Calibri" pitchFamily="34" charset="0"/>
                <a:ea typeface="Calibri" pitchFamily="34" charset="-122"/>
                <a:cs typeface="Calibri" pitchFamily="34" charset="-120"/>
              </a:rPr>
              <a:t>01</a:t>
            </a:r>
            <a:endParaRPr lang="en-US" sz="3000" dirty="0"/>
          </a:p>
        </p:txBody>
      </p:sp>
      <p:sp>
        <p:nvSpPr>
          <p:cNvPr id="8" name="Text 6"/>
          <p:cNvSpPr/>
          <p:nvPr/>
        </p:nvSpPr>
        <p:spPr>
          <a:xfrm>
            <a:off x="1463040" y="960120"/>
            <a:ext cx="4572000" cy="59436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a:t>
            </a:r>
            <a:endParaRPr lang="en-US" sz="2200" dirty="0"/>
          </a:p>
        </p:txBody>
      </p:sp>
      <p:sp>
        <p:nvSpPr>
          <p:cNvPr id="9" name="Shape 7"/>
          <p:cNvSpPr/>
          <p:nvPr/>
        </p:nvSpPr>
        <p:spPr>
          <a:xfrm>
            <a:off x="365760" y="1618488"/>
            <a:ext cx="5669280" cy="20117"/>
          </a:xfrm>
          <a:prstGeom prst="rect">
            <a:avLst/>
          </a:prstGeom>
          <a:solidFill>
            <a:srgbClr val="1E3A5F"/>
          </a:solidFill>
          <a:ln w="12700">
            <a:solidFill>
              <a:srgbClr val="1E3A5F"/>
            </a:solidFill>
            <a:prstDash val="solid"/>
          </a:ln>
        </p:spPr>
      </p:sp>
      <p:sp>
        <p:nvSpPr>
          <p:cNvPr id="10" name="Text 8"/>
          <p:cNvSpPr/>
          <p:nvPr/>
        </p:nvSpPr>
        <p:spPr>
          <a:xfrm>
            <a:off x="365760" y="1728216"/>
            <a:ext cx="914400" cy="594360"/>
          </a:xfrm>
          <a:prstGeom prst="rect">
            <a:avLst/>
          </a:prstGeom>
          <a:noFill/>
          <a:ln/>
        </p:spPr>
        <p:txBody>
          <a:bodyPr wrap="square" lIns="0" tIns="0" rIns="0" bIns="0" rtlCol="0" anchor="ctr"/>
          <a:lstStyle/>
          <a:p>
            <a:pPr algn="r" indent="0" marL="0">
              <a:buNone/>
            </a:pPr>
            <a:r>
              <a:rPr lang="en-US" sz="3000" b="1" dirty="0">
                <a:solidFill>
                  <a:srgbClr val="0D9488"/>
                </a:solidFill>
                <a:latin typeface="Calibri" pitchFamily="34" charset="0"/>
                <a:ea typeface="Calibri" pitchFamily="34" charset="-122"/>
                <a:cs typeface="Calibri" pitchFamily="34" charset="-120"/>
              </a:rPr>
              <a:t>02</a:t>
            </a:r>
            <a:endParaRPr lang="en-US" sz="3000" dirty="0"/>
          </a:p>
        </p:txBody>
      </p:sp>
      <p:sp>
        <p:nvSpPr>
          <p:cNvPr id="11" name="Text 9"/>
          <p:cNvSpPr/>
          <p:nvPr/>
        </p:nvSpPr>
        <p:spPr>
          <a:xfrm>
            <a:off x="1463040" y="1728216"/>
            <a:ext cx="4572000" cy="59436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Current Workflow</a:t>
            </a:r>
            <a:endParaRPr lang="en-US" sz="2200" dirty="0"/>
          </a:p>
        </p:txBody>
      </p:sp>
      <p:sp>
        <p:nvSpPr>
          <p:cNvPr id="12" name="Shape 10"/>
          <p:cNvSpPr/>
          <p:nvPr/>
        </p:nvSpPr>
        <p:spPr>
          <a:xfrm>
            <a:off x="365760" y="2386584"/>
            <a:ext cx="5669280" cy="20117"/>
          </a:xfrm>
          <a:prstGeom prst="rect">
            <a:avLst/>
          </a:prstGeom>
          <a:solidFill>
            <a:srgbClr val="1E3A5F"/>
          </a:solidFill>
          <a:ln w="12700">
            <a:solidFill>
              <a:srgbClr val="1E3A5F"/>
            </a:solidFill>
            <a:prstDash val="solid"/>
          </a:ln>
        </p:spPr>
      </p:sp>
      <p:sp>
        <p:nvSpPr>
          <p:cNvPr id="13" name="Text 11"/>
          <p:cNvSpPr/>
          <p:nvPr/>
        </p:nvSpPr>
        <p:spPr>
          <a:xfrm>
            <a:off x="365760" y="2496312"/>
            <a:ext cx="914400" cy="594360"/>
          </a:xfrm>
          <a:prstGeom prst="rect">
            <a:avLst/>
          </a:prstGeom>
          <a:noFill/>
          <a:ln/>
        </p:spPr>
        <p:txBody>
          <a:bodyPr wrap="square" lIns="0" tIns="0" rIns="0" bIns="0" rtlCol="0" anchor="ctr"/>
          <a:lstStyle/>
          <a:p>
            <a:pPr algn="r" indent="0" marL="0">
              <a:buNone/>
            </a:pPr>
            <a:r>
              <a:rPr lang="en-US" sz="3000" b="1" dirty="0">
                <a:solidFill>
                  <a:srgbClr val="0D9488"/>
                </a:solidFill>
                <a:latin typeface="Calibri" pitchFamily="34" charset="0"/>
                <a:ea typeface="Calibri" pitchFamily="34" charset="-122"/>
                <a:cs typeface="Calibri" pitchFamily="34" charset="-120"/>
              </a:rPr>
              <a:t>03</a:t>
            </a:r>
            <a:endParaRPr lang="en-US" sz="3000" dirty="0"/>
          </a:p>
        </p:txBody>
      </p:sp>
      <p:sp>
        <p:nvSpPr>
          <p:cNvPr id="14" name="Text 12"/>
          <p:cNvSpPr/>
          <p:nvPr/>
        </p:nvSpPr>
        <p:spPr>
          <a:xfrm>
            <a:off x="1463040" y="2496312"/>
            <a:ext cx="4572000" cy="59436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Data Sources</a:t>
            </a:r>
            <a:endParaRPr lang="en-US" sz="2200" dirty="0"/>
          </a:p>
        </p:txBody>
      </p:sp>
      <p:sp>
        <p:nvSpPr>
          <p:cNvPr id="15" name="Shape 13"/>
          <p:cNvSpPr/>
          <p:nvPr/>
        </p:nvSpPr>
        <p:spPr>
          <a:xfrm>
            <a:off x="365760" y="3154680"/>
            <a:ext cx="5669280" cy="20117"/>
          </a:xfrm>
          <a:prstGeom prst="rect">
            <a:avLst/>
          </a:prstGeom>
          <a:solidFill>
            <a:srgbClr val="1E3A5F"/>
          </a:solidFill>
          <a:ln w="12700">
            <a:solidFill>
              <a:srgbClr val="1E3A5F"/>
            </a:solidFill>
            <a:prstDash val="solid"/>
          </a:ln>
        </p:spPr>
      </p:sp>
      <p:sp>
        <p:nvSpPr>
          <p:cNvPr id="16" name="Text 14"/>
          <p:cNvSpPr/>
          <p:nvPr/>
        </p:nvSpPr>
        <p:spPr>
          <a:xfrm>
            <a:off x="365760" y="3264408"/>
            <a:ext cx="914400" cy="594360"/>
          </a:xfrm>
          <a:prstGeom prst="rect">
            <a:avLst/>
          </a:prstGeom>
          <a:noFill/>
          <a:ln/>
        </p:spPr>
        <p:txBody>
          <a:bodyPr wrap="square" lIns="0" tIns="0" rIns="0" bIns="0" rtlCol="0" anchor="ctr"/>
          <a:lstStyle/>
          <a:p>
            <a:pPr algn="r" indent="0" marL="0">
              <a:buNone/>
            </a:pPr>
            <a:r>
              <a:rPr lang="en-US" sz="3000" b="1" dirty="0">
                <a:solidFill>
                  <a:srgbClr val="0D9488"/>
                </a:solidFill>
                <a:latin typeface="Calibri" pitchFamily="34" charset="0"/>
                <a:ea typeface="Calibri" pitchFamily="34" charset="-122"/>
                <a:cs typeface="Calibri" pitchFamily="34" charset="-120"/>
              </a:rPr>
              <a:t>04</a:t>
            </a:r>
            <a:endParaRPr lang="en-US" sz="3000" dirty="0"/>
          </a:p>
        </p:txBody>
      </p:sp>
      <p:sp>
        <p:nvSpPr>
          <p:cNvPr id="17" name="Text 15"/>
          <p:cNvSpPr/>
          <p:nvPr/>
        </p:nvSpPr>
        <p:spPr>
          <a:xfrm>
            <a:off x="1463040" y="3264408"/>
            <a:ext cx="4572000" cy="59436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LLM Models</a:t>
            </a:r>
            <a:endParaRPr lang="en-US" sz="2200" dirty="0"/>
          </a:p>
        </p:txBody>
      </p:sp>
      <p:sp>
        <p:nvSpPr>
          <p:cNvPr id="18" name="Shape 16"/>
          <p:cNvSpPr/>
          <p:nvPr/>
        </p:nvSpPr>
        <p:spPr>
          <a:xfrm>
            <a:off x="365760" y="3922776"/>
            <a:ext cx="5669280" cy="20117"/>
          </a:xfrm>
          <a:prstGeom prst="rect">
            <a:avLst/>
          </a:prstGeom>
          <a:solidFill>
            <a:srgbClr val="1E3A5F"/>
          </a:solidFill>
          <a:ln w="12700">
            <a:solidFill>
              <a:srgbClr val="1E3A5F"/>
            </a:solidFill>
            <a:prstDash val="solid"/>
          </a:ln>
        </p:spPr>
      </p:sp>
      <p:sp>
        <p:nvSpPr>
          <p:cNvPr id="19" name="Text 17"/>
          <p:cNvSpPr/>
          <p:nvPr/>
        </p:nvSpPr>
        <p:spPr>
          <a:xfrm>
            <a:off x="365760" y="4032504"/>
            <a:ext cx="914400" cy="594360"/>
          </a:xfrm>
          <a:prstGeom prst="rect">
            <a:avLst/>
          </a:prstGeom>
          <a:noFill/>
          <a:ln/>
        </p:spPr>
        <p:txBody>
          <a:bodyPr wrap="square" lIns="0" tIns="0" rIns="0" bIns="0" rtlCol="0" anchor="ctr"/>
          <a:lstStyle/>
          <a:p>
            <a:pPr algn="r" indent="0" marL="0">
              <a:buNone/>
            </a:pPr>
            <a:r>
              <a:rPr lang="en-US" sz="3000" b="1" dirty="0">
                <a:solidFill>
                  <a:srgbClr val="0D9488"/>
                </a:solidFill>
                <a:latin typeface="Calibri" pitchFamily="34" charset="0"/>
                <a:ea typeface="Calibri" pitchFamily="34" charset="-122"/>
                <a:cs typeface="Calibri" pitchFamily="34" charset="-120"/>
              </a:rPr>
              <a:t>05</a:t>
            </a:r>
            <a:endParaRPr lang="en-US" sz="3000" dirty="0"/>
          </a:p>
        </p:txBody>
      </p:sp>
      <p:sp>
        <p:nvSpPr>
          <p:cNvPr id="20" name="Text 18"/>
          <p:cNvSpPr/>
          <p:nvPr/>
        </p:nvSpPr>
        <p:spPr>
          <a:xfrm>
            <a:off x="1463040" y="4032504"/>
            <a:ext cx="4572000" cy="59436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Next Steps</a:t>
            </a:r>
            <a:endParaRPr lang="en-US" sz="2200" dirty="0"/>
          </a:p>
        </p:txBody>
      </p:sp>
      <p:sp>
        <p:nvSpPr>
          <p:cNvPr id="21" name="Text 19"/>
          <p:cNvSpPr/>
          <p:nvPr/>
        </p:nvSpPr>
        <p:spPr>
          <a:xfrm>
            <a:off x="6355080" y="914400"/>
            <a:ext cx="2606040" cy="502920"/>
          </a:xfrm>
          <a:prstGeom prst="rect">
            <a:avLst/>
          </a:prstGeom>
          <a:noFill/>
          <a:ln/>
        </p:spPr>
        <p:txBody>
          <a:bodyPr wrap="square" lIns="0" tIns="0" rIns="0" bIns="0" rtlCol="0" anchor="ctr"/>
          <a:lstStyle/>
          <a:p>
            <a:pPr algn="ctr" indent="0" marL="0">
              <a:buNone/>
            </a:pPr>
            <a:r>
              <a:rPr lang="en-US" sz="1100" b="1" spc="800" kern="0" dirty="0">
                <a:solidFill>
                  <a:srgbClr val="0D9488"/>
                </a:solidFill>
                <a:latin typeface="Calibri" pitchFamily="34" charset="0"/>
                <a:ea typeface="Calibri" pitchFamily="34" charset="-122"/>
                <a:cs typeface="Calibri" pitchFamily="34" charset="-120"/>
              </a:rPr>
              <a:t>GENIE</a:t>
            </a:r>
            <a:endParaRPr lang="en-US" sz="1100" dirty="0"/>
          </a:p>
        </p:txBody>
      </p:sp>
      <p:sp>
        <p:nvSpPr>
          <p:cNvPr id="22" name="Text 20"/>
          <p:cNvSpPr/>
          <p:nvPr/>
        </p:nvSpPr>
        <p:spPr>
          <a:xfrm>
            <a:off x="6355080" y="1481328"/>
            <a:ext cx="2606040" cy="12344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RFP</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Responder</a:t>
            </a:r>
            <a:endParaRPr lang="en-US" sz="3200" dirty="0"/>
          </a:p>
        </p:txBody>
      </p:sp>
      <p:sp>
        <p:nvSpPr>
          <p:cNvPr id="23" name="Shape 21"/>
          <p:cNvSpPr/>
          <p:nvPr/>
        </p:nvSpPr>
        <p:spPr>
          <a:xfrm>
            <a:off x="6858000" y="2788920"/>
            <a:ext cx="1600200" cy="41148"/>
          </a:xfrm>
          <a:prstGeom prst="rect">
            <a:avLst/>
          </a:prstGeom>
          <a:solidFill>
            <a:srgbClr val="0D9488"/>
          </a:solidFill>
          <a:ln w="12700">
            <a:solidFill>
              <a:srgbClr val="0D9488"/>
            </a:solidFill>
            <a:prstDash val="solid"/>
          </a:ln>
        </p:spPr>
      </p:sp>
      <p:sp>
        <p:nvSpPr>
          <p:cNvPr id="24" name="Text 22"/>
          <p:cNvSpPr/>
          <p:nvPr/>
        </p:nvSpPr>
        <p:spPr>
          <a:xfrm>
            <a:off x="6355080" y="2926080"/>
            <a:ext cx="2606040" cy="77724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AI-Powered</a:t>
            </a:r>
            <a:endParaRPr lang="en-US" sz="1100" dirty="0"/>
          </a:p>
          <a:p>
            <a:pPr algn="ctr" indent="0" marL="0">
              <a:buNone/>
            </a:pPr>
            <a:r>
              <a:rPr lang="en-US" sz="1100" dirty="0">
                <a:solidFill>
                  <a:srgbClr val="CBD5E1"/>
                </a:solidFill>
                <a:latin typeface="Calibri" pitchFamily="34" charset="0"/>
                <a:ea typeface="Calibri" pitchFamily="34" charset="-122"/>
                <a:cs typeface="Calibri" pitchFamily="34" charset="-120"/>
              </a:rPr>
              <a:t>Response Assistant</a:t>
            </a:r>
            <a:endParaRPr lang="en-US" sz="1100" dirty="0"/>
          </a:p>
        </p:txBody>
      </p:sp>
      <p:sp>
        <p:nvSpPr>
          <p:cNvPr id="25" name="Text 23"/>
          <p:cNvSpPr/>
          <p:nvPr/>
        </p:nvSpPr>
        <p:spPr>
          <a:xfrm>
            <a:off x="6355080" y="3840480"/>
            <a:ext cx="2606040" cy="320040"/>
          </a:xfrm>
          <a:prstGeom prst="rect">
            <a:avLst/>
          </a:prstGeom>
          <a:noFill/>
          <a:ln/>
        </p:spPr>
        <p:txBody>
          <a:bodyPr wrap="square" lIns="0" tIns="0" rIns="0" bIns="0" rtlCol="0" anchor="ctr"/>
          <a:lstStyle/>
          <a:p>
            <a:pPr algn="ctr" indent="0" marL="0">
              <a:buNone/>
            </a:pPr>
            <a:r>
              <a:rPr lang="en-US" sz="1000" dirty="0">
                <a:solidFill>
                  <a:srgbClr val="5B7FA6"/>
                </a:solidFill>
                <a:latin typeface="Calibri" pitchFamily="34" charset="0"/>
                <a:ea typeface="Calibri" pitchFamily="34" charset="-122"/>
                <a:cs typeface="Calibri" pitchFamily="34" charset="-120"/>
              </a:rPr>
              <a:t>May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Objective</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4</a:t>
            </a:r>
            <a:endParaRPr lang="en-US" sz="700" dirty="0"/>
          </a:p>
        </p:txBody>
      </p:sp>
      <p:sp>
        <p:nvSpPr>
          <p:cNvPr id="8" name="Shape 6"/>
          <p:cNvSpPr/>
          <p:nvPr/>
        </p:nvSpPr>
        <p:spPr>
          <a:xfrm>
            <a:off x="274320" y="914400"/>
            <a:ext cx="3931920" cy="374904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914400"/>
            <a:ext cx="82296" cy="3749040"/>
          </a:xfrm>
          <a:prstGeom prst="rect">
            <a:avLst/>
          </a:prstGeom>
          <a:solidFill>
            <a:srgbClr val="0D9488"/>
          </a:solidFill>
          <a:ln w="12700">
            <a:solidFill>
              <a:srgbClr val="0D9488"/>
            </a:solidFill>
            <a:prstDash val="solid"/>
          </a:ln>
        </p:spPr>
      </p:sp>
      <p:sp>
        <p:nvSpPr>
          <p:cNvPr id="10" name="Text 8"/>
          <p:cNvSpPr/>
          <p:nvPr/>
        </p:nvSpPr>
        <p:spPr>
          <a:xfrm>
            <a:off x="548640" y="1097280"/>
            <a:ext cx="3474720" cy="1828800"/>
          </a:xfrm>
          <a:prstGeom prst="rect">
            <a:avLst/>
          </a:prstGeom>
          <a:noFill/>
          <a:ln/>
        </p:spPr>
        <p:txBody>
          <a:bodyPr wrap="square" lIns="0" tIns="0" rIns="0" bIns="0" rtlCol="0" anchor="t"/>
          <a:lstStyle/>
          <a:p>
            <a:pPr algn="l" indent="0" marL="0">
              <a:buNone/>
            </a:pPr>
            <a:r>
              <a:rPr lang="en-US" sz="2800" b="1" dirty="0">
                <a:solidFill>
                  <a:srgbClr val="FFFFFF"/>
                </a:solidFill>
                <a:latin typeface="Calibri" pitchFamily="34" charset="0"/>
                <a:ea typeface="Calibri" pitchFamily="34" charset="-122"/>
                <a:cs typeface="Calibri" pitchFamily="34" charset="-120"/>
              </a:rPr>
              <a:t>Automate RFP Response Using Generative AI</a:t>
            </a:r>
            <a:endParaRPr lang="en-US" sz="2800" dirty="0"/>
          </a:p>
        </p:txBody>
      </p:sp>
      <p:sp>
        <p:nvSpPr>
          <p:cNvPr id="11" name="Shape 9"/>
          <p:cNvSpPr/>
          <p:nvPr/>
        </p:nvSpPr>
        <p:spPr>
          <a:xfrm>
            <a:off x="548640" y="2999232"/>
            <a:ext cx="2011680" cy="50292"/>
          </a:xfrm>
          <a:prstGeom prst="rect">
            <a:avLst/>
          </a:prstGeom>
          <a:solidFill>
            <a:srgbClr val="0D9488"/>
          </a:solidFill>
          <a:ln w="12700">
            <a:solidFill>
              <a:srgbClr val="0D9488"/>
            </a:solidFill>
            <a:prstDash val="solid"/>
          </a:ln>
        </p:spPr>
      </p:sp>
      <p:sp>
        <p:nvSpPr>
          <p:cNvPr id="12" name="Text 10"/>
          <p:cNvSpPr/>
          <p:nvPr/>
        </p:nvSpPr>
        <p:spPr>
          <a:xfrm>
            <a:off x="548640" y="3127248"/>
            <a:ext cx="3474720" cy="320040"/>
          </a:xfrm>
          <a:prstGeom prst="rect">
            <a:avLst/>
          </a:prstGeom>
          <a:noFill/>
          <a:ln/>
        </p:spPr>
        <p:txBody>
          <a:bodyPr wrap="square" lIns="0" tIns="0" rIns="0" bIns="0" rtlCol="0" anchor="ctr"/>
          <a:lstStyle/>
          <a:p>
            <a:pPr indent="0" marL="0">
              <a:buNone/>
            </a:pPr>
            <a:r>
              <a:rPr lang="en-US" sz="1100" dirty="0">
                <a:solidFill>
                  <a:srgbClr val="5B7FA6"/>
                </a:solidFill>
                <a:latin typeface="Calibri" pitchFamily="34" charset="0"/>
                <a:ea typeface="Calibri" pitchFamily="34" charset="-122"/>
                <a:cs typeface="Calibri" pitchFamily="34" charset="-120"/>
              </a:rPr>
              <a:t>OATI Genie  |  Phase 1</a:t>
            </a:r>
            <a:endParaRPr lang="en-US" sz="1100" dirty="0"/>
          </a:p>
        </p:txBody>
      </p:sp>
      <p:sp>
        <p:nvSpPr>
          <p:cNvPr id="13" name="Text 11"/>
          <p:cNvSpPr/>
          <p:nvPr/>
        </p:nvSpPr>
        <p:spPr>
          <a:xfrm>
            <a:off x="548640" y="3474720"/>
            <a:ext cx="3474720" cy="320040"/>
          </a:xfrm>
          <a:prstGeom prst="rect">
            <a:avLst/>
          </a:prstGeom>
          <a:noFill/>
          <a:ln/>
        </p:spPr>
        <p:txBody>
          <a:bodyPr wrap="square" lIns="0" tIns="0" rIns="0" bIns="0" rtlCol="0" anchor="ctr"/>
          <a:lstStyle/>
          <a:p>
            <a:pPr indent="0" marL="0">
              <a:buNone/>
            </a:pPr>
            <a:r>
              <a:rPr lang="en-US" sz="1000" i="1" dirty="0">
                <a:solidFill>
                  <a:srgbClr val="CCFBF1"/>
                </a:solidFill>
                <a:latin typeface="Calibri" pitchFamily="34" charset="0"/>
                <a:ea typeface="Calibri" pitchFamily="34" charset="-122"/>
                <a:cs typeface="Calibri" pitchFamily="34" charset="-120"/>
              </a:rPr>
              <a:t>Powered by RAG + webSupport KB</a:t>
            </a:r>
            <a:endParaRPr lang="en-US" sz="1000" dirty="0"/>
          </a:p>
        </p:txBody>
      </p:sp>
      <p:sp>
        <p:nvSpPr>
          <p:cNvPr id="14" name="Shape 12"/>
          <p:cNvSpPr/>
          <p:nvPr/>
        </p:nvSpPr>
        <p:spPr>
          <a:xfrm>
            <a:off x="4434840" y="914400"/>
            <a:ext cx="4434840" cy="80467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5" name="Shape 13"/>
          <p:cNvSpPr/>
          <p:nvPr/>
        </p:nvSpPr>
        <p:spPr>
          <a:xfrm>
            <a:off x="4434840" y="914400"/>
            <a:ext cx="64008" cy="804672"/>
          </a:xfrm>
          <a:prstGeom prst="rect">
            <a:avLst/>
          </a:prstGeom>
          <a:solidFill>
            <a:srgbClr val="0D9488"/>
          </a:solidFill>
          <a:ln w="12700">
            <a:solidFill>
              <a:srgbClr val="0D9488"/>
            </a:solidFill>
            <a:prstDash val="solid"/>
          </a:ln>
        </p:spPr>
      </p:sp>
      <p:sp>
        <p:nvSpPr>
          <p:cNvPr id="16" name="Text 14"/>
          <p:cNvSpPr/>
          <p:nvPr/>
        </p:nvSpPr>
        <p:spPr>
          <a:xfrm>
            <a:off x="4617720" y="969264"/>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Knowledge Base</a:t>
            </a:r>
            <a:endParaRPr lang="en-US" sz="1300" dirty="0"/>
          </a:p>
        </p:txBody>
      </p:sp>
      <p:sp>
        <p:nvSpPr>
          <p:cNvPr id="17" name="Text 15"/>
          <p:cNvSpPr/>
          <p:nvPr/>
        </p:nvSpPr>
        <p:spPr>
          <a:xfrm>
            <a:off x="4617720" y="1280160"/>
            <a:ext cx="411480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Leverage webSupport — 46,000+ curated, approved RFP responses</a:t>
            </a:r>
            <a:endParaRPr lang="en-US" sz="1050" dirty="0"/>
          </a:p>
        </p:txBody>
      </p:sp>
      <p:sp>
        <p:nvSpPr>
          <p:cNvPr id="18" name="Shape 16"/>
          <p:cNvSpPr/>
          <p:nvPr/>
        </p:nvSpPr>
        <p:spPr>
          <a:xfrm>
            <a:off x="4434840" y="1847088"/>
            <a:ext cx="4434840" cy="80467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9" name="Shape 17"/>
          <p:cNvSpPr/>
          <p:nvPr/>
        </p:nvSpPr>
        <p:spPr>
          <a:xfrm>
            <a:off x="4434840" y="1847088"/>
            <a:ext cx="64008" cy="804672"/>
          </a:xfrm>
          <a:prstGeom prst="rect">
            <a:avLst/>
          </a:prstGeom>
          <a:solidFill>
            <a:srgbClr val="0D9488"/>
          </a:solidFill>
          <a:ln w="12700">
            <a:solidFill>
              <a:srgbClr val="0D9488"/>
            </a:solidFill>
            <a:prstDash val="solid"/>
          </a:ln>
        </p:spPr>
      </p:sp>
      <p:sp>
        <p:nvSpPr>
          <p:cNvPr id="20" name="Text 18"/>
          <p:cNvSpPr/>
          <p:nvPr/>
        </p:nvSpPr>
        <p:spPr>
          <a:xfrm>
            <a:off x="4617720" y="1901952"/>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RAG Pipeline</a:t>
            </a:r>
            <a:endParaRPr lang="en-US" sz="1300" dirty="0"/>
          </a:p>
        </p:txBody>
      </p:sp>
      <p:sp>
        <p:nvSpPr>
          <p:cNvPr id="21" name="Text 19"/>
          <p:cNvSpPr/>
          <p:nvPr/>
        </p:nvSpPr>
        <p:spPr>
          <a:xfrm>
            <a:off x="4617720" y="2212848"/>
            <a:ext cx="411480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Retrieval-Augmented Generation for grounded, hallucination-free answers</a:t>
            </a:r>
            <a:endParaRPr lang="en-US" sz="1050" dirty="0"/>
          </a:p>
        </p:txBody>
      </p:sp>
      <p:sp>
        <p:nvSpPr>
          <p:cNvPr id="22" name="Shape 20"/>
          <p:cNvSpPr/>
          <p:nvPr/>
        </p:nvSpPr>
        <p:spPr>
          <a:xfrm>
            <a:off x="4434840" y="2779776"/>
            <a:ext cx="4434840" cy="80467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3" name="Shape 21"/>
          <p:cNvSpPr/>
          <p:nvPr/>
        </p:nvSpPr>
        <p:spPr>
          <a:xfrm>
            <a:off x="4434840" y="2779776"/>
            <a:ext cx="64008" cy="804672"/>
          </a:xfrm>
          <a:prstGeom prst="rect">
            <a:avLst/>
          </a:prstGeom>
          <a:solidFill>
            <a:srgbClr val="0D9488"/>
          </a:solidFill>
          <a:ln w="12700">
            <a:solidFill>
              <a:srgbClr val="0D9488"/>
            </a:solidFill>
            <a:prstDash val="solid"/>
          </a:ln>
        </p:spPr>
      </p:sp>
      <p:sp>
        <p:nvSpPr>
          <p:cNvPr id="24" name="Text 22"/>
          <p:cNvSpPr/>
          <p:nvPr/>
        </p:nvSpPr>
        <p:spPr>
          <a:xfrm>
            <a:off x="4617720" y="2834640"/>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Chat Interface</a:t>
            </a:r>
            <a:endParaRPr lang="en-US" sz="1300" dirty="0"/>
          </a:p>
        </p:txBody>
      </p:sp>
      <p:sp>
        <p:nvSpPr>
          <p:cNvPr id="25" name="Text 23"/>
          <p:cNvSpPr/>
          <p:nvPr/>
        </p:nvSpPr>
        <p:spPr>
          <a:xfrm>
            <a:off x="4617720" y="3145536"/>
            <a:ext cx="411480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Chat-based UI for SMEs to ask questions and receive draft responses</a:t>
            </a:r>
            <a:endParaRPr lang="en-US" sz="1050" dirty="0"/>
          </a:p>
        </p:txBody>
      </p:sp>
      <p:sp>
        <p:nvSpPr>
          <p:cNvPr id="26" name="Shape 24"/>
          <p:cNvSpPr/>
          <p:nvPr/>
        </p:nvSpPr>
        <p:spPr>
          <a:xfrm>
            <a:off x="4434840" y="3712464"/>
            <a:ext cx="4434840" cy="80467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7" name="Shape 25"/>
          <p:cNvSpPr/>
          <p:nvPr/>
        </p:nvSpPr>
        <p:spPr>
          <a:xfrm>
            <a:off x="4434840" y="3712464"/>
            <a:ext cx="64008" cy="804672"/>
          </a:xfrm>
          <a:prstGeom prst="rect">
            <a:avLst/>
          </a:prstGeom>
          <a:solidFill>
            <a:srgbClr val="0D9488"/>
          </a:solidFill>
          <a:ln w="12700">
            <a:solidFill>
              <a:srgbClr val="0D9488"/>
            </a:solidFill>
            <a:prstDash val="solid"/>
          </a:ln>
        </p:spPr>
      </p:sp>
      <p:sp>
        <p:nvSpPr>
          <p:cNvPr id="28" name="Text 26"/>
          <p:cNvSpPr/>
          <p:nvPr/>
        </p:nvSpPr>
        <p:spPr>
          <a:xfrm>
            <a:off x="4617720" y="3767328"/>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Writing-Optimized LLM</a:t>
            </a:r>
            <a:endParaRPr lang="en-US" sz="1300" dirty="0"/>
          </a:p>
        </p:txBody>
      </p:sp>
      <p:sp>
        <p:nvSpPr>
          <p:cNvPr id="29" name="Text 27"/>
          <p:cNvSpPr/>
          <p:nvPr/>
        </p:nvSpPr>
        <p:spPr>
          <a:xfrm>
            <a:off x="4617720" y="4078224"/>
            <a:ext cx="411480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LLM selected specifically for formal, structured document writing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RFP Response Process Flow — Current</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5</a:t>
            </a:r>
            <a:endParaRPr lang="en-US" sz="700" dirty="0"/>
          </a:p>
        </p:txBody>
      </p:sp>
      <p:sp>
        <p:nvSpPr>
          <p:cNvPr id="8" name="Shape 6"/>
          <p:cNvSpPr/>
          <p:nvPr/>
        </p:nvSpPr>
        <p:spPr>
          <a:xfrm>
            <a:off x="274320"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886968"/>
            <a:ext cx="1572768" cy="347472"/>
          </a:xfrm>
          <a:prstGeom prst="rect">
            <a:avLst/>
          </a:prstGeom>
          <a:solidFill>
            <a:srgbClr val="0B1D3E"/>
          </a:solidFill>
          <a:ln w="12700">
            <a:solidFill>
              <a:srgbClr val="0B1D3E"/>
            </a:solidFill>
            <a:prstDash val="solid"/>
          </a:ln>
        </p:spPr>
      </p:sp>
      <p:sp>
        <p:nvSpPr>
          <p:cNvPr id="10" name="Text 8"/>
          <p:cNvSpPr/>
          <p:nvPr/>
        </p:nvSpPr>
        <p:spPr>
          <a:xfrm>
            <a:off x="320040"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566928"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Receive RFP Docs</a:t>
            </a:r>
            <a:endParaRPr lang="en-US" sz="950" dirty="0"/>
          </a:p>
        </p:txBody>
      </p:sp>
      <p:sp>
        <p:nvSpPr>
          <p:cNvPr id="12" name="Text 10"/>
          <p:cNvSpPr/>
          <p:nvPr/>
        </p:nvSpPr>
        <p:spPr>
          <a:xfrm>
            <a:off x="365760"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PDF · Word · Excel</a:t>
            </a:r>
            <a:endParaRPr lang="en-US" sz="950" dirty="0"/>
          </a:p>
        </p:txBody>
      </p:sp>
      <p:sp>
        <p:nvSpPr>
          <p:cNvPr id="13" name="Text 11"/>
          <p:cNvSpPr/>
          <p:nvPr/>
        </p:nvSpPr>
        <p:spPr>
          <a:xfrm>
            <a:off x="1847088"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2002536"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5" name="Shape 13"/>
          <p:cNvSpPr/>
          <p:nvPr/>
        </p:nvSpPr>
        <p:spPr>
          <a:xfrm>
            <a:off x="2002536" y="886968"/>
            <a:ext cx="1572768" cy="347472"/>
          </a:xfrm>
          <a:prstGeom prst="rect">
            <a:avLst/>
          </a:prstGeom>
          <a:solidFill>
            <a:srgbClr val="112D5E"/>
          </a:solidFill>
          <a:ln w="12700">
            <a:solidFill>
              <a:srgbClr val="112D5E"/>
            </a:solidFill>
            <a:prstDash val="solid"/>
          </a:ln>
        </p:spPr>
      </p:sp>
      <p:sp>
        <p:nvSpPr>
          <p:cNvPr id="16" name="Text 14"/>
          <p:cNvSpPr/>
          <p:nvPr/>
        </p:nvSpPr>
        <p:spPr>
          <a:xfrm>
            <a:off x="2048256"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2</a:t>
            </a:r>
            <a:endParaRPr lang="en-US" sz="1000" dirty="0"/>
          </a:p>
        </p:txBody>
      </p:sp>
      <p:sp>
        <p:nvSpPr>
          <p:cNvPr id="17" name="Text 15"/>
          <p:cNvSpPr/>
          <p:nvPr/>
        </p:nvSpPr>
        <p:spPr>
          <a:xfrm>
            <a:off x="2295144"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Initial Review</a:t>
            </a:r>
            <a:endParaRPr lang="en-US" sz="950" dirty="0"/>
          </a:p>
        </p:txBody>
      </p:sp>
      <p:sp>
        <p:nvSpPr>
          <p:cNvPr id="18" name="Text 16"/>
          <p:cNvSpPr/>
          <p:nvPr/>
        </p:nvSpPr>
        <p:spPr>
          <a:xfrm>
            <a:off x="2093976"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Prepare questionnaires, categorize: technical, pricing, legal</a:t>
            </a:r>
            <a:endParaRPr lang="en-US" sz="950" dirty="0"/>
          </a:p>
        </p:txBody>
      </p:sp>
      <p:sp>
        <p:nvSpPr>
          <p:cNvPr id="19" name="Text 17"/>
          <p:cNvSpPr/>
          <p:nvPr/>
        </p:nvSpPr>
        <p:spPr>
          <a:xfrm>
            <a:off x="3575304"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3730752"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1" name="Shape 19"/>
          <p:cNvSpPr/>
          <p:nvPr/>
        </p:nvSpPr>
        <p:spPr>
          <a:xfrm>
            <a:off x="3730752" y="886968"/>
            <a:ext cx="1572768" cy="347472"/>
          </a:xfrm>
          <a:prstGeom prst="rect">
            <a:avLst/>
          </a:prstGeom>
          <a:solidFill>
            <a:srgbClr val="1D4ED8"/>
          </a:solidFill>
          <a:ln w="12700">
            <a:solidFill>
              <a:srgbClr val="1D4ED8"/>
            </a:solidFill>
            <a:prstDash val="solid"/>
          </a:ln>
        </p:spPr>
      </p:sp>
      <p:sp>
        <p:nvSpPr>
          <p:cNvPr id="22" name="Text 20"/>
          <p:cNvSpPr/>
          <p:nvPr/>
        </p:nvSpPr>
        <p:spPr>
          <a:xfrm>
            <a:off x="3776472"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3</a:t>
            </a:r>
            <a:endParaRPr lang="en-US" sz="1000" dirty="0"/>
          </a:p>
        </p:txBody>
      </p:sp>
      <p:sp>
        <p:nvSpPr>
          <p:cNvPr id="23" name="Text 21"/>
          <p:cNvSpPr/>
          <p:nvPr/>
        </p:nvSpPr>
        <p:spPr>
          <a:xfrm>
            <a:off x="4023360"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AE Coordination</a:t>
            </a:r>
            <a:endParaRPr lang="en-US" sz="950" dirty="0"/>
          </a:p>
        </p:txBody>
      </p:sp>
      <p:sp>
        <p:nvSpPr>
          <p:cNvPr id="24" name="Text 22"/>
          <p:cNvSpPr/>
          <p:nvPr/>
        </p:nvSpPr>
        <p:spPr>
          <a:xfrm>
            <a:off x="3822192"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Review scope, define ownership &amp; timelines</a:t>
            </a:r>
            <a:endParaRPr lang="en-US" sz="950" dirty="0"/>
          </a:p>
        </p:txBody>
      </p:sp>
      <p:sp>
        <p:nvSpPr>
          <p:cNvPr id="25" name="Text 23"/>
          <p:cNvSpPr/>
          <p:nvPr/>
        </p:nvSpPr>
        <p:spPr>
          <a:xfrm>
            <a:off x="5303520"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5458968"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7" name="Shape 25"/>
          <p:cNvSpPr/>
          <p:nvPr/>
        </p:nvSpPr>
        <p:spPr>
          <a:xfrm>
            <a:off x="5458968" y="886968"/>
            <a:ext cx="1572768" cy="347472"/>
          </a:xfrm>
          <a:prstGeom prst="rect">
            <a:avLst/>
          </a:prstGeom>
          <a:solidFill>
            <a:srgbClr val="0F766E"/>
          </a:solidFill>
          <a:ln w="12700">
            <a:solidFill>
              <a:srgbClr val="0F766E"/>
            </a:solidFill>
            <a:prstDash val="solid"/>
          </a:ln>
        </p:spPr>
      </p:sp>
      <p:sp>
        <p:nvSpPr>
          <p:cNvPr id="28" name="Text 26"/>
          <p:cNvSpPr/>
          <p:nvPr/>
        </p:nvSpPr>
        <p:spPr>
          <a:xfrm>
            <a:off x="5504688"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4</a:t>
            </a:r>
            <a:endParaRPr lang="en-US" sz="1000" dirty="0"/>
          </a:p>
        </p:txBody>
      </p:sp>
      <p:sp>
        <p:nvSpPr>
          <p:cNvPr id="29" name="Text 27"/>
          <p:cNvSpPr/>
          <p:nvPr/>
        </p:nvSpPr>
        <p:spPr>
          <a:xfrm>
            <a:off x="5751576"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Assign to SME</a:t>
            </a:r>
            <a:endParaRPr lang="en-US" sz="950" dirty="0"/>
          </a:p>
        </p:txBody>
      </p:sp>
      <p:sp>
        <p:nvSpPr>
          <p:cNvPr id="30" name="Text 28"/>
          <p:cNvSpPr/>
          <p:nvPr/>
        </p:nvSpPr>
        <p:spPr>
          <a:xfrm>
            <a:off x="5550408"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Technical sections, functional responsibilities</a:t>
            </a:r>
            <a:endParaRPr lang="en-US" sz="950" dirty="0"/>
          </a:p>
        </p:txBody>
      </p:sp>
      <p:sp>
        <p:nvSpPr>
          <p:cNvPr id="31" name="Text 29"/>
          <p:cNvSpPr/>
          <p:nvPr/>
        </p:nvSpPr>
        <p:spPr>
          <a:xfrm>
            <a:off x="7031736"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7187184"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33" name="Shape 31"/>
          <p:cNvSpPr/>
          <p:nvPr/>
        </p:nvSpPr>
        <p:spPr>
          <a:xfrm>
            <a:off x="7187184" y="886968"/>
            <a:ext cx="1572768" cy="347472"/>
          </a:xfrm>
          <a:prstGeom prst="rect">
            <a:avLst/>
          </a:prstGeom>
          <a:solidFill>
            <a:srgbClr val="065F46"/>
          </a:solidFill>
          <a:ln w="12700">
            <a:solidFill>
              <a:srgbClr val="065F46"/>
            </a:solidFill>
            <a:prstDash val="solid"/>
          </a:ln>
        </p:spPr>
      </p:sp>
      <p:sp>
        <p:nvSpPr>
          <p:cNvPr id="34" name="Text 32"/>
          <p:cNvSpPr/>
          <p:nvPr/>
        </p:nvSpPr>
        <p:spPr>
          <a:xfrm>
            <a:off x="7232904"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7479792"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Response Prep</a:t>
            </a:r>
            <a:endParaRPr lang="en-US" sz="950" dirty="0"/>
          </a:p>
        </p:txBody>
      </p:sp>
      <p:sp>
        <p:nvSpPr>
          <p:cNvPr id="36" name="Text 34"/>
          <p:cNvSpPr/>
          <p:nvPr/>
        </p:nvSpPr>
        <p:spPr>
          <a:xfrm>
            <a:off x="7278624"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Search webSupport, reuse or create new responses</a:t>
            </a:r>
            <a:endParaRPr lang="en-US" sz="950" dirty="0"/>
          </a:p>
        </p:txBody>
      </p:sp>
      <p:sp>
        <p:nvSpPr>
          <p:cNvPr id="37" name="Text 35"/>
          <p:cNvSpPr/>
          <p:nvPr/>
        </p:nvSpPr>
        <p:spPr>
          <a:xfrm>
            <a:off x="7772400" y="2606040"/>
            <a:ext cx="914400" cy="320040"/>
          </a:xfrm>
          <a:prstGeom prst="rect">
            <a:avLst/>
          </a:prstGeom>
          <a:noFill/>
          <a:ln/>
        </p:spPr>
        <p:txBody>
          <a:bodyPr wrap="square" lIns="0" tIns="0" rIns="0" bIns="0" rtlCol="0" anchor="ctr"/>
          <a:lstStyle/>
          <a:p>
            <a:pPr algn="ctr" indent="0" marL="0">
              <a:buNone/>
            </a:pPr>
            <a:r>
              <a:rPr lang="en-US" sz="2000" dirty="0">
                <a:solidFill>
                  <a:srgbClr val="0D9488"/>
                </a:solidFill>
                <a:latin typeface="Calibri" pitchFamily="34" charset="0"/>
                <a:ea typeface="Calibri" pitchFamily="34" charset="-122"/>
                <a:cs typeface="Calibri" pitchFamily="34" charset="-120"/>
              </a:rPr>
              <a:t>↓</a:t>
            </a:r>
            <a:endParaRPr lang="en-US" sz="2000" dirty="0"/>
          </a:p>
        </p:txBody>
      </p:sp>
      <p:sp>
        <p:nvSpPr>
          <p:cNvPr id="38" name="Shape 36"/>
          <p:cNvSpPr/>
          <p:nvPr/>
        </p:nvSpPr>
        <p:spPr>
          <a:xfrm>
            <a:off x="66751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39" name="Shape 37"/>
          <p:cNvSpPr/>
          <p:nvPr/>
        </p:nvSpPr>
        <p:spPr>
          <a:xfrm>
            <a:off x="6675120" y="2944368"/>
            <a:ext cx="1901952" cy="347472"/>
          </a:xfrm>
          <a:prstGeom prst="rect">
            <a:avLst/>
          </a:prstGeom>
          <a:solidFill>
            <a:srgbClr val="7C3AED"/>
          </a:solidFill>
          <a:ln w="12700">
            <a:solidFill>
              <a:srgbClr val="7C3AED"/>
            </a:solidFill>
            <a:prstDash val="solid"/>
          </a:ln>
        </p:spPr>
      </p:sp>
      <p:sp>
        <p:nvSpPr>
          <p:cNvPr id="40" name="Text 38"/>
          <p:cNvSpPr/>
          <p:nvPr/>
        </p:nvSpPr>
        <p:spPr>
          <a:xfrm>
            <a:off x="67208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69677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Proposal Review</a:t>
            </a:r>
            <a:endParaRPr lang="en-US" sz="950" dirty="0"/>
          </a:p>
        </p:txBody>
      </p:sp>
      <p:sp>
        <p:nvSpPr>
          <p:cNvPr id="42" name="Text 40"/>
          <p:cNvSpPr/>
          <p:nvPr/>
        </p:nvSpPr>
        <p:spPr>
          <a:xfrm>
            <a:off x="67665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Collect responses, verify consistency, webDoc approval</a:t>
            </a:r>
            <a:endParaRPr lang="en-US" sz="950" dirty="0"/>
          </a:p>
        </p:txBody>
      </p:sp>
      <p:sp>
        <p:nvSpPr>
          <p:cNvPr id="43" name="Text 41"/>
          <p:cNvSpPr/>
          <p:nvPr/>
        </p:nvSpPr>
        <p:spPr>
          <a:xfrm>
            <a:off x="6501384" y="3648456"/>
            <a:ext cx="192024"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44" name="Shape 42"/>
          <p:cNvSpPr/>
          <p:nvPr/>
        </p:nvSpPr>
        <p:spPr>
          <a:xfrm>
            <a:off x="46177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45" name="Shape 43"/>
          <p:cNvSpPr/>
          <p:nvPr/>
        </p:nvSpPr>
        <p:spPr>
          <a:xfrm>
            <a:off x="4617720" y="2944368"/>
            <a:ext cx="1901952" cy="347472"/>
          </a:xfrm>
          <a:prstGeom prst="rect">
            <a:avLst/>
          </a:prstGeom>
          <a:solidFill>
            <a:srgbClr val="B45309"/>
          </a:solidFill>
          <a:ln w="12700">
            <a:solidFill>
              <a:srgbClr val="B45309"/>
            </a:solidFill>
            <a:prstDash val="solid"/>
          </a:ln>
        </p:spPr>
      </p:sp>
      <p:sp>
        <p:nvSpPr>
          <p:cNvPr id="46" name="Text 44"/>
          <p:cNvSpPr/>
          <p:nvPr/>
        </p:nvSpPr>
        <p:spPr>
          <a:xfrm>
            <a:off x="46634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7</a:t>
            </a:r>
            <a:endParaRPr lang="en-US" sz="1000" dirty="0"/>
          </a:p>
        </p:txBody>
      </p:sp>
      <p:sp>
        <p:nvSpPr>
          <p:cNvPr id="47" name="Text 45"/>
          <p:cNvSpPr/>
          <p:nvPr/>
        </p:nvSpPr>
        <p:spPr>
          <a:xfrm>
            <a:off x="49103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Consolidation</a:t>
            </a:r>
            <a:endParaRPr lang="en-US" sz="950" dirty="0"/>
          </a:p>
        </p:txBody>
      </p:sp>
      <p:sp>
        <p:nvSpPr>
          <p:cNvPr id="48" name="Text 46"/>
          <p:cNvSpPr/>
          <p:nvPr/>
        </p:nvSpPr>
        <p:spPr>
          <a:xfrm>
            <a:off x="47091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Merge to master, quality review, remove duplicates</a:t>
            </a:r>
            <a:endParaRPr lang="en-US" sz="950" dirty="0"/>
          </a:p>
        </p:txBody>
      </p:sp>
      <p:sp>
        <p:nvSpPr>
          <p:cNvPr id="49" name="Text 47"/>
          <p:cNvSpPr/>
          <p:nvPr/>
        </p:nvSpPr>
        <p:spPr>
          <a:xfrm>
            <a:off x="4443984" y="3648456"/>
            <a:ext cx="192024"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50" name="Shape 48"/>
          <p:cNvSpPr/>
          <p:nvPr/>
        </p:nvSpPr>
        <p:spPr>
          <a:xfrm>
            <a:off x="25603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51" name="Shape 49"/>
          <p:cNvSpPr/>
          <p:nvPr/>
        </p:nvSpPr>
        <p:spPr>
          <a:xfrm>
            <a:off x="2560320" y="2944368"/>
            <a:ext cx="1901952" cy="347472"/>
          </a:xfrm>
          <a:prstGeom prst="rect">
            <a:avLst/>
          </a:prstGeom>
          <a:solidFill>
            <a:srgbClr val="9D174D"/>
          </a:solidFill>
          <a:ln w="12700">
            <a:solidFill>
              <a:srgbClr val="9D174D"/>
            </a:solidFill>
            <a:prstDash val="solid"/>
          </a:ln>
        </p:spPr>
      </p:sp>
      <p:sp>
        <p:nvSpPr>
          <p:cNvPr id="52" name="Text 50"/>
          <p:cNvSpPr/>
          <p:nvPr/>
        </p:nvSpPr>
        <p:spPr>
          <a:xfrm>
            <a:off x="26060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8</a:t>
            </a:r>
            <a:endParaRPr lang="en-US" sz="1000" dirty="0"/>
          </a:p>
        </p:txBody>
      </p:sp>
      <p:sp>
        <p:nvSpPr>
          <p:cNvPr id="53" name="Text 51"/>
          <p:cNvSpPr/>
          <p:nvPr/>
        </p:nvSpPr>
        <p:spPr>
          <a:xfrm>
            <a:off x="28529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Upload to webSupport</a:t>
            </a:r>
            <a:endParaRPr lang="en-US" sz="950" dirty="0"/>
          </a:p>
        </p:txBody>
      </p:sp>
      <p:sp>
        <p:nvSpPr>
          <p:cNvPr id="54" name="Text 52"/>
          <p:cNvSpPr/>
          <p:nvPr/>
        </p:nvSpPr>
        <p:spPr>
          <a:xfrm>
            <a:off x="26517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Create new Q/A records in knowledge base</a:t>
            </a:r>
            <a:endParaRPr lang="en-US" sz="950" dirty="0"/>
          </a:p>
        </p:txBody>
      </p:sp>
      <p:sp>
        <p:nvSpPr>
          <p:cNvPr id="55" name="Text 53"/>
          <p:cNvSpPr/>
          <p:nvPr/>
        </p:nvSpPr>
        <p:spPr>
          <a:xfrm>
            <a:off x="2386584" y="3648456"/>
            <a:ext cx="192024"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56" name="Shape 54"/>
          <p:cNvSpPr/>
          <p:nvPr/>
        </p:nvSpPr>
        <p:spPr>
          <a:xfrm>
            <a:off x="5029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57" name="Shape 55"/>
          <p:cNvSpPr/>
          <p:nvPr/>
        </p:nvSpPr>
        <p:spPr>
          <a:xfrm>
            <a:off x="502920" y="2944368"/>
            <a:ext cx="1901952" cy="347472"/>
          </a:xfrm>
          <a:prstGeom prst="rect">
            <a:avLst/>
          </a:prstGeom>
          <a:solidFill>
            <a:srgbClr val="166534"/>
          </a:solidFill>
          <a:ln w="12700">
            <a:solidFill>
              <a:srgbClr val="166534"/>
            </a:solidFill>
            <a:prstDash val="solid"/>
          </a:ln>
        </p:spPr>
      </p:sp>
      <p:sp>
        <p:nvSpPr>
          <p:cNvPr id="58" name="Text 56"/>
          <p:cNvSpPr/>
          <p:nvPr/>
        </p:nvSpPr>
        <p:spPr>
          <a:xfrm>
            <a:off x="5486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9</a:t>
            </a:r>
            <a:endParaRPr lang="en-US" sz="1000" dirty="0"/>
          </a:p>
        </p:txBody>
      </p:sp>
      <p:sp>
        <p:nvSpPr>
          <p:cNvPr id="59" name="Text 57"/>
          <p:cNvSpPr/>
          <p:nvPr/>
        </p:nvSpPr>
        <p:spPr>
          <a:xfrm>
            <a:off x="7955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Final Repository</a:t>
            </a:r>
            <a:endParaRPr lang="en-US" sz="950" dirty="0"/>
          </a:p>
        </p:txBody>
      </p:sp>
      <p:sp>
        <p:nvSpPr>
          <p:cNvPr id="60" name="Text 58"/>
          <p:cNvSpPr/>
          <p:nvPr/>
        </p:nvSpPr>
        <p:spPr>
          <a:xfrm>
            <a:off x="5943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webSupport KB + historical responses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Key Analysis — Current Challenges</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6</a:t>
            </a:r>
            <a:endParaRPr lang="en-US" sz="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3840480"/>
        </p:xfrm>
        <a:graphic>
          <a:graphicData uri="http://schemas.openxmlformats.org/drawingml/2006/table">
            <a:tbl>
              <a:tblPr/>
              <a:tblGrid>
                <a:gridCol w="3931920"/>
                <a:gridCol w="4663440"/>
              </a:tblGrid>
              <a:tr h="47548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Current Activity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Current Challenge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766E"/>
                    </a:solidFill>
                  </a:tcPr>
                </a:tc>
              </a:tr>
              <a:tr h="47548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Review RFP documents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Multiple formats (PDF, Excel, Word)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Extract questions manually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Time-consuming and inconsistent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F"/>
                    </a:solidFill>
                  </a:tcPr>
                </a:tc>
              </a:tr>
              <a:tr h="47548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Assign questions to SMEs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Requires coordination meetings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Search webSupport manually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Hard to find best answer; risk of incorrect responses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F"/>
                    </a:solidFill>
                  </a:tcPr>
                </a:tc>
              </a:tr>
              <a:tr h="47548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Create new responses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Repetitive work across similar RFPs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Consolidate responses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Duplicate content, formatting issues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F"/>
                    </a:solidFill>
                  </a:tcPr>
                </a:tc>
              </a:tr>
              <a:tr h="47548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Remove duplicate answers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Manual validation required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274320" y="4690872"/>
            <a:ext cx="8595360" cy="201168"/>
          </a:xfrm>
          <a:prstGeom prst="rect">
            <a:avLst/>
          </a:prstGeom>
          <a:noFill/>
          <a:ln/>
        </p:spPr>
        <p:txBody>
          <a:bodyPr wrap="square" lIns="0" tIns="0" rIns="0" bIns="0" rtlCol="0" anchor="ctr"/>
          <a:lstStyle/>
          <a:p>
            <a:pPr indent="0" marL="0">
              <a:buNone/>
            </a:pPr>
            <a:r>
              <a:rPr lang="en-US" sz="850" i="1" dirty="0">
                <a:solidFill>
                  <a:srgbClr val="5B7FA6"/>
                </a:solidFill>
                <a:latin typeface="Calibri" pitchFamily="34" charset="0"/>
                <a:ea typeface="Calibri" pitchFamily="34" charset="-122"/>
                <a:cs typeface="Calibri" pitchFamily="34" charset="-120"/>
              </a:rPr>
              <a:t>Teams manually extract questions, search WebSupport, adapt previous answers, and consolidate responses — labor-intensive and error-prone.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Knowledge Base — webSupport</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7</a:t>
            </a:r>
            <a:endParaRPr lang="en-US" sz="700" dirty="0"/>
          </a:p>
        </p:txBody>
      </p:sp>
      <p:sp>
        <p:nvSpPr>
          <p:cNvPr id="8" name="Text 6"/>
          <p:cNvSpPr/>
          <p:nvPr/>
        </p:nvSpPr>
        <p:spPr>
          <a:xfrm>
            <a:off x="274320" y="886968"/>
            <a:ext cx="8595360" cy="34747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Our competitive advantage: 46,000+ curated, reviewed, and approved Q/A pairs — already structured for AI retrieval.</a:t>
            </a:r>
            <a:endParaRPr lang="en-US" sz="1200" dirty="0"/>
          </a:p>
        </p:txBody>
      </p:sp>
      <p:sp>
        <p:nvSpPr>
          <p:cNvPr id="9" name="Shape 7"/>
          <p:cNvSpPr/>
          <p:nvPr/>
        </p:nvSpPr>
        <p:spPr>
          <a:xfrm>
            <a:off x="274320" y="1325880"/>
            <a:ext cx="8595360" cy="338328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0" name="Text 8"/>
          <p:cNvSpPr/>
          <p:nvPr/>
        </p:nvSpPr>
        <p:spPr>
          <a:xfrm>
            <a:off x="502920" y="1444752"/>
            <a:ext cx="5486400" cy="365760"/>
          </a:xfrm>
          <a:prstGeom prst="rect">
            <a:avLst/>
          </a:prstGeom>
          <a:noFill/>
          <a:ln/>
        </p:spPr>
        <p:txBody>
          <a:bodyPr wrap="square" lIns="0" tIns="0" rIns="0" bIns="0" rtlCol="0" anchor="ctr"/>
          <a:lstStyle/>
          <a:p>
            <a:pPr indent="0" marL="0">
              <a:buNone/>
            </a:pPr>
            <a:r>
              <a:rPr lang="en-US" sz="1400" b="1" dirty="0">
                <a:solidFill>
                  <a:srgbClr val="0B1D3E"/>
                </a:solidFill>
                <a:latin typeface="Calibri" pitchFamily="34" charset="0"/>
                <a:ea typeface="Calibri" pitchFamily="34" charset="-122"/>
                <a:cs typeface="Calibri" pitchFamily="34" charset="-120"/>
              </a:rPr>
              <a:t>RFP Q/A Schema — webSupport</a:t>
            </a:r>
            <a:endParaRPr lang="en-US" sz="1400" dirty="0"/>
          </a:p>
        </p:txBody>
      </p:sp>
      <p:sp>
        <p:nvSpPr>
          <p:cNvPr id="11" name="Shape 9"/>
          <p:cNvSpPr/>
          <p:nvPr/>
        </p:nvSpPr>
        <p:spPr>
          <a:xfrm>
            <a:off x="502920" y="1920240"/>
            <a:ext cx="4114800" cy="694944"/>
          </a:xfrm>
          <a:prstGeom prst="rect">
            <a:avLst/>
          </a:prstGeom>
          <a:solidFill>
            <a:srgbClr val="F8FAFC"/>
          </a:solidFill>
          <a:ln w="12700">
            <a:solidFill>
              <a:srgbClr val="E2E8F0"/>
            </a:solidFill>
            <a:prstDash val="solid"/>
          </a:ln>
        </p:spPr>
      </p:sp>
      <p:sp>
        <p:nvSpPr>
          <p:cNvPr id="12" name="Shape 10"/>
          <p:cNvSpPr/>
          <p:nvPr/>
        </p:nvSpPr>
        <p:spPr>
          <a:xfrm>
            <a:off x="502920" y="1920240"/>
            <a:ext cx="54864" cy="694944"/>
          </a:xfrm>
          <a:prstGeom prst="rect">
            <a:avLst/>
          </a:prstGeom>
          <a:solidFill>
            <a:srgbClr val="0D9488"/>
          </a:solidFill>
          <a:ln w="12700">
            <a:solidFill>
              <a:srgbClr val="0D9488"/>
            </a:solidFill>
            <a:prstDash val="solid"/>
          </a:ln>
        </p:spPr>
      </p:sp>
      <p:sp>
        <p:nvSpPr>
          <p:cNvPr id="13" name="Text 11"/>
          <p:cNvSpPr/>
          <p:nvPr/>
        </p:nvSpPr>
        <p:spPr>
          <a:xfrm>
            <a:off x="640080" y="1984248"/>
            <a:ext cx="20116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Question</a:t>
            </a:r>
            <a:endParaRPr lang="en-US" sz="1200" dirty="0"/>
          </a:p>
        </p:txBody>
      </p:sp>
      <p:sp>
        <p:nvSpPr>
          <p:cNvPr id="14" name="Text 12"/>
          <p:cNvSpPr/>
          <p:nvPr/>
        </p:nvSpPr>
        <p:spPr>
          <a:xfrm>
            <a:off x="2743200" y="1984248"/>
            <a:ext cx="1737360" cy="256032"/>
          </a:xfrm>
          <a:prstGeom prst="rect">
            <a:avLst/>
          </a:prstGeom>
          <a:noFill/>
          <a:ln/>
        </p:spPr>
        <p:txBody>
          <a:bodyPr wrap="square" lIns="0" tIns="0" rIns="0" bIns="0" rtlCol="0" anchor="ctr"/>
          <a:lstStyle/>
          <a:p>
            <a:pPr algn="r" indent="0" marL="0">
              <a:buNone/>
            </a:pPr>
            <a:r>
              <a:rPr lang="en-US" sz="1000" dirty="0">
                <a:solidFill>
                  <a:srgbClr val="0D9488"/>
                </a:solidFill>
                <a:latin typeface="Calibri" pitchFamily="34" charset="0"/>
                <a:ea typeface="Calibri" pitchFamily="34" charset="-122"/>
                <a:cs typeface="Calibri" pitchFamily="34" charset="-120"/>
              </a:rPr>
              <a:t>TEXT</a:t>
            </a:r>
            <a:endParaRPr lang="en-US" sz="1000" dirty="0"/>
          </a:p>
        </p:txBody>
      </p:sp>
      <p:sp>
        <p:nvSpPr>
          <p:cNvPr id="15" name="Text 13"/>
          <p:cNvSpPr/>
          <p:nvPr/>
        </p:nvSpPr>
        <p:spPr>
          <a:xfrm>
            <a:off x="640080" y="2276856"/>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RFP question text</a:t>
            </a:r>
            <a:endParaRPr lang="en-US" sz="1000" dirty="0"/>
          </a:p>
        </p:txBody>
      </p:sp>
      <p:sp>
        <p:nvSpPr>
          <p:cNvPr id="16" name="Shape 14"/>
          <p:cNvSpPr/>
          <p:nvPr/>
        </p:nvSpPr>
        <p:spPr>
          <a:xfrm>
            <a:off x="4846320" y="1920240"/>
            <a:ext cx="4114800" cy="694944"/>
          </a:xfrm>
          <a:prstGeom prst="rect">
            <a:avLst/>
          </a:prstGeom>
          <a:solidFill>
            <a:srgbClr val="F8FAFC"/>
          </a:solidFill>
          <a:ln w="12700">
            <a:solidFill>
              <a:srgbClr val="E2E8F0"/>
            </a:solidFill>
            <a:prstDash val="solid"/>
          </a:ln>
        </p:spPr>
      </p:sp>
      <p:sp>
        <p:nvSpPr>
          <p:cNvPr id="17" name="Shape 15"/>
          <p:cNvSpPr/>
          <p:nvPr/>
        </p:nvSpPr>
        <p:spPr>
          <a:xfrm>
            <a:off x="4846320" y="1920240"/>
            <a:ext cx="54864" cy="694944"/>
          </a:xfrm>
          <a:prstGeom prst="rect">
            <a:avLst/>
          </a:prstGeom>
          <a:solidFill>
            <a:srgbClr val="0D9488"/>
          </a:solidFill>
          <a:ln w="12700">
            <a:solidFill>
              <a:srgbClr val="0D9488"/>
            </a:solidFill>
            <a:prstDash val="solid"/>
          </a:ln>
        </p:spPr>
      </p:sp>
      <p:sp>
        <p:nvSpPr>
          <p:cNvPr id="18" name="Text 16"/>
          <p:cNvSpPr/>
          <p:nvPr/>
        </p:nvSpPr>
        <p:spPr>
          <a:xfrm>
            <a:off x="4983480" y="1984248"/>
            <a:ext cx="20116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Response</a:t>
            </a:r>
            <a:endParaRPr lang="en-US" sz="1200" dirty="0"/>
          </a:p>
        </p:txBody>
      </p:sp>
      <p:sp>
        <p:nvSpPr>
          <p:cNvPr id="19" name="Text 17"/>
          <p:cNvSpPr/>
          <p:nvPr/>
        </p:nvSpPr>
        <p:spPr>
          <a:xfrm>
            <a:off x="7086600" y="1984248"/>
            <a:ext cx="1737360" cy="256032"/>
          </a:xfrm>
          <a:prstGeom prst="rect">
            <a:avLst/>
          </a:prstGeom>
          <a:noFill/>
          <a:ln/>
        </p:spPr>
        <p:txBody>
          <a:bodyPr wrap="square" lIns="0" tIns="0" rIns="0" bIns="0" rtlCol="0" anchor="ctr"/>
          <a:lstStyle/>
          <a:p>
            <a:pPr algn="r" indent="0" marL="0">
              <a:buNone/>
            </a:pPr>
            <a:r>
              <a:rPr lang="en-US" sz="1000" dirty="0">
                <a:solidFill>
                  <a:srgbClr val="0D9488"/>
                </a:solidFill>
                <a:latin typeface="Calibri" pitchFamily="34" charset="0"/>
                <a:ea typeface="Calibri" pitchFamily="34" charset="-122"/>
                <a:cs typeface="Calibri" pitchFamily="34" charset="-120"/>
              </a:rPr>
              <a:t>TEXT (LONG)</a:t>
            </a:r>
            <a:endParaRPr lang="en-US" sz="1000" dirty="0"/>
          </a:p>
        </p:txBody>
      </p:sp>
      <p:sp>
        <p:nvSpPr>
          <p:cNvPr id="20" name="Text 18"/>
          <p:cNvSpPr/>
          <p:nvPr/>
        </p:nvSpPr>
        <p:spPr>
          <a:xfrm>
            <a:off x="4983480" y="2276856"/>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Approved answer — average 280 chars, up to 30,000</a:t>
            </a:r>
            <a:endParaRPr lang="en-US" sz="1000" dirty="0"/>
          </a:p>
        </p:txBody>
      </p:sp>
      <p:sp>
        <p:nvSpPr>
          <p:cNvPr id="21" name="Shape 19"/>
          <p:cNvSpPr/>
          <p:nvPr/>
        </p:nvSpPr>
        <p:spPr>
          <a:xfrm>
            <a:off x="502920" y="2743200"/>
            <a:ext cx="4114800" cy="694944"/>
          </a:xfrm>
          <a:prstGeom prst="rect">
            <a:avLst/>
          </a:prstGeom>
          <a:solidFill>
            <a:srgbClr val="F8FAFC"/>
          </a:solidFill>
          <a:ln w="12700">
            <a:solidFill>
              <a:srgbClr val="E2E8F0"/>
            </a:solidFill>
            <a:prstDash val="solid"/>
          </a:ln>
        </p:spPr>
      </p:sp>
      <p:sp>
        <p:nvSpPr>
          <p:cNvPr id="22" name="Shape 20"/>
          <p:cNvSpPr/>
          <p:nvPr/>
        </p:nvSpPr>
        <p:spPr>
          <a:xfrm>
            <a:off x="502920" y="2743200"/>
            <a:ext cx="54864" cy="694944"/>
          </a:xfrm>
          <a:prstGeom prst="rect">
            <a:avLst/>
          </a:prstGeom>
          <a:solidFill>
            <a:srgbClr val="0D9488"/>
          </a:solidFill>
          <a:ln w="12700">
            <a:solidFill>
              <a:srgbClr val="0D9488"/>
            </a:solidFill>
            <a:prstDash val="solid"/>
          </a:ln>
        </p:spPr>
      </p:sp>
      <p:sp>
        <p:nvSpPr>
          <p:cNvPr id="23" name="Text 21"/>
          <p:cNvSpPr/>
          <p:nvPr/>
        </p:nvSpPr>
        <p:spPr>
          <a:xfrm>
            <a:off x="640080" y="2807208"/>
            <a:ext cx="20116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Category</a:t>
            </a:r>
            <a:endParaRPr lang="en-US" sz="1200" dirty="0"/>
          </a:p>
        </p:txBody>
      </p:sp>
      <p:sp>
        <p:nvSpPr>
          <p:cNvPr id="24" name="Text 22"/>
          <p:cNvSpPr/>
          <p:nvPr/>
        </p:nvSpPr>
        <p:spPr>
          <a:xfrm>
            <a:off x="2743200" y="2807208"/>
            <a:ext cx="1737360" cy="256032"/>
          </a:xfrm>
          <a:prstGeom prst="rect">
            <a:avLst/>
          </a:prstGeom>
          <a:noFill/>
          <a:ln/>
        </p:spPr>
        <p:txBody>
          <a:bodyPr wrap="square" lIns="0" tIns="0" rIns="0" bIns="0" rtlCol="0" anchor="ctr"/>
          <a:lstStyle/>
          <a:p>
            <a:pPr algn="r" indent="0" marL="0">
              <a:buNone/>
            </a:pPr>
            <a:r>
              <a:rPr lang="en-US" sz="1000" dirty="0">
                <a:solidFill>
                  <a:srgbClr val="0D9488"/>
                </a:solidFill>
                <a:latin typeface="Calibri" pitchFamily="34" charset="0"/>
                <a:ea typeface="Calibri" pitchFamily="34" charset="-122"/>
                <a:cs typeface="Calibri" pitchFamily="34" charset="-120"/>
              </a:rPr>
              <a:t>VARCHAR</a:t>
            </a:r>
            <a:endParaRPr lang="en-US" sz="1000" dirty="0"/>
          </a:p>
        </p:txBody>
      </p:sp>
      <p:sp>
        <p:nvSpPr>
          <p:cNvPr id="25" name="Text 23"/>
          <p:cNvSpPr/>
          <p:nvPr/>
        </p:nvSpPr>
        <p:spPr>
          <a:xfrm>
            <a:off x="640080" y="3099816"/>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16 distinct categories</a:t>
            </a:r>
            <a:endParaRPr lang="en-US" sz="1000" dirty="0"/>
          </a:p>
        </p:txBody>
      </p:sp>
      <p:sp>
        <p:nvSpPr>
          <p:cNvPr id="26" name="Shape 24"/>
          <p:cNvSpPr/>
          <p:nvPr/>
        </p:nvSpPr>
        <p:spPr>
          <a:xfrm>
            <a:off x="4846320" y="2743200"/>
            <a:ext cx="4114800" cy="694944"/>
          </a:xfrm>
          <a:prstGeom prst="rect">
            <a:avLst/>
          </a:prstGeom>
          <a:solidFill>
            <a:srgbClr val="F8FAFC"/>
          </a:solidFill>
          <a:ln w="12700">
            <a:solidFill>
              <a:srgbClr val="E2E8F0"/>
            </a:solidFill>
            <a:prstDash val="solid"/>
          </a:ln>
        </p:spPr>
      </p:sp>
      <p:sp>
        <p:nvSpPr>
          <p:cNvPr id="27" name="Shape 25"/>
          <p:cNvSpPr/>
          <p:nvPr/>
        </p:nvSpPr>
        <p:spPr>
          <a:xfrm>
            <a:off x="4846320" y="2743200"/>
            <a:ext cx="54864" cy="694944"/>
          </a:xfrm>
          <a:prstGeom prst="rect">
            <a:avLst/>
          </a:prstGeom>
          <a:solidFill>
            <a:srgbClr val="0D9488"/>
          </a:solidFill>
          <a:ln w="12700">
            <a:solidFill>
              <a:srgbClr val="0D9488"/>
            </a:solidFill>
            <a:prstDash val="solid"/>
          </a:ln>
        </p:spPr>
      </p:sp>
      <p:sp>
        <p:nvSpPr>
          <p:cNvPr id="28" name="Text 26"/>
          <p:cNvSpPr/>
          <p:nvPr/>
        </p:nvSpPr>
        <p:spPr>
          <a:xfrm>
            <a:off x="4983480" y="2807208"/>
            <a:ext cx="20116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Product</a:t>
            </a:r>
            <a:endParaRPr lang="en-US" sz="1200" dirty="0"/>
          </a:p>
        </p:txBody>
      </p:sp>
      <p:sp>
        <p:nvSpPr>
          <p:cNvPr id="29" name="Text 27"/>
          <p:cNvSpPr/>
          <p:nvPr/>
        </p:nvSpPr>
        <p:spPr>
          <a:xfrm>
            <a:off x="7086600" y="2807208"/>
            <a:ext cx="1737360" cy="256032"/>
          </a:xfrm>
          <a:prstGeom prst="rect">
            <a:avLst/>
          </a:prstGeom>
          <a:noFill/>
          <a:ln/>
        </p:spPr>
        <p:txBody>
          <a:bodyPr wrap="square" lIns="0" tIns="0" rIns="0" bIns="0" rtlCol="0" anchor="ctr"/>
          <a:lstStyle/>
          <a:p>
            <a:pPr algn="r" indent="0" marL="0">
              <a:buNone/>
            </a:pPr>
            <a:r>
              <a:rPr lang="en-US" sz="1000" dirty="0">
                <a:solidFill>
                  <a:srgbClr val="0D9488"/>
                </a:solidFill>
                <a:latin typeface="Calibri" pitchFamily="34" charset="0"/>
                <a:ea typeface="Calibri" pitchFamily="34" charset="-122"/>
                <a:cs typeface="Calibri" pitchFamily="34" charset="-120"/>
              </a:rPr>
              <a:t>VARCHAR</a:t>
            </a:r>
            <a:endParaRPr lang="en-US" sz="1000" dirty="0"/>
          </a:p>
        </p:txBody>
      </p:sp>
      <p:sp>
        <p:nvSpPr>
          <p:cNvPr id="30" name="Text 28"/>
          <p:cNvSpPr/>
          <p:nvPr/>
        </p:nvSpPr>
        <p:spPr>
          <a:xfrm>
            <a:off x="4983480" y="3099816"/>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44 distinct products</a:t>
            </a:r>
            <a:endParaRPr lang="en-US" sz="1000" dirty="0"/>
          </a:p>
        </p:txBody>
      </p:sp>
      <p:sp>
        <p:nvSpPr>
          <p:cNvPr id="31" name="Shape 29"/>
          <p:cNvSpPr/>
          <p:nvPr/>
        </p:nvSpPr>
        <p:spPr>
          <a:xfrm>
            <a:off x="502920" y="3566160"/>
            <a:ext cx="4114800" cy="694944"/>
          </a:xfrm>
          <a:prstGeom prst="rect">
            <a:avLst/>
          </a:prstGeom>
          <a:solidFill>
            <a:srgbClr val="F8FAFC"/>
          </a:solidFill>
          <a:ln w="12700">
            <a:solidFill>
              <a:srgbClr val="E2E8F0"/>
            </a:solidFill>
            <a:prstDash val="solid"/>
          </a:ln>
        </p:spPr>
      </p:sp>
      <p:sp>
        <p:nvSpPr>
          <p:cNvPr id="32" name="Shape 30"/>
          <p:cNvSpPr/>
          <p:nvPr/>
        </p:nvSpPr>
        <p:spPr>
          <a:xfrm>
            <a:off x="502920" y="3566160"/>
            <a:ext cx="54864" cy="694944"/>
          </a:xfrm>
          <a:prstGeom prst="rect">
            <a:avLst/>
          </a:prstGeom>
          <a:solidFill>
            <a:srgbClr val="0D9488"/>
          </a:solidFill>
          <a:ln w="12700">
            <a:solidFill>
              <a:srgbClr val="0D9488"/>
            </a:solidFill>
            <a:prstDash val="solid"/>
          </a:ln>
        </p:spPr>
      </p:sp>
      <p:sp>
        <p:nvSpPr>
          <p:cNvPr id="33" name="Text 31"/>
          <p:cNvSpPr/>
          <p:nvPr/>
        </p:nvSpPr>
        <p:spPr>
          <a:xfrm>
            <a:off x="640080" y="3630168"/>
            <a:ext cx="20116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Company</a:t>
            </a:r>
            <a:endParaRPr lang="en-US" sz="1200" dirty="0"/>
          </a:p>
        </p:txBody>
      </p:sp>
      <p:sp>
        <p:nvSpPr>
          <p:cNvPr id="34" name="Text 32"/>
          <p:cNvSpPr/>
          <p:nvPr/>
        </p:nvSpPr>
        <p:spPr>
          <a:xfrm>
            <a:off x="2743200" y="3630168"/>
            <a:ext cx="1737360" cy="256032"/>
          </a:xfrm>
          <a:prstGeom prst="rect">
            <a:avLst/>
          </a:prstGeom>
          <a:noFill/>
          <a:ln/>
        </p:spPr>
        <p:txBody>
          <a:bodyPr wrap="square" lIns="0" tIns="0" rIns="0" bIns="0" rtlCol="0" anchor="ctr"/>
          <a:lstStyle/>
          <a:p>
            <a:pPr algn="r" indent="0" marL="0">
              <a:buNone/>
            </a:pPr>
            <a:r>
              <a:rPr lang="en-US" sz="1000" dirty="0">
                <a:solidFill>
                  <a:srgbClr val="0D9488"/>
                </a:solidFill>
                <a:latin typeface="Calibri" pitchFamily="34" charset="0"/>
                <a:ea typeface="Calibri" pitchFamily="34" charset="-122"/>
                <a:cs typeface="Calibri" pitchFamily="34" charset="-120"/>
              </a:rPr>
              <a:t>VARCHAR</a:t>
            </a:r>
            <a:endParaRPr lang="en-US" sz="1000" dirty="0"/>
          </a:p>
        </p:txBody>
      </p:sp>
      <p:sp>
        <p:nvSpPr>
          <p:cNvPr id="35" name="Text 33"/>
          <p:cNvSpPr/>
          <p:nvPr/>
        </p:nvSpPr>
        <p:spPr>
          <a:xfrm>
            <a:off x="640080" y="3922776"/>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242 distinct companies</a:t>
            </a:r>
            <a:endParaRPr lang="en-US" sz="1000" dirty="0"/>
          </a:p>
        </p:txBody>
      </p:sp>
      <p:sp>
        <p:nvSpPr>
          <p:cNvPr id="36" name="Shape 34"/>
          <p:cNvSpPr/>
          <p:nvPr/>
        </p:nvSpPr>
        <p:spPr>
          <a:xfrm>
            <a:off x="4846320" y="3566160"/>
            <a:ext cx="4114800" cy="694944"/>
          </a:xfrm>
          <a:prstGeom prst="rect">
            <a:avLst/>
          </a:prstGeom>
          <a:solidFill>
            <a:srgbClr val="F8FAFC"/>
          </a:solidFill>
          <a:ln w="12700">
            <a:solidFill>
              <a:srgbClr val="E2E8F0"/>
            </a:solidFill>
            <a:prstDash val="solid"/>
          </a:ln>
        </p:spPr>
      </p:sp>
      <p:sp>
        <p:nvSpPr>
          <p:cNvPr id="37" name="Shape 35"/>
          <p:cNvSpPr/>
          <p:nvPr/>
        </p:nvSpPr>
        <p:spPr>
          <a:xfrm>
            <a:off x="4846320" y="3566160"/>
            <a:ext cx="54864" cy="694944"/>
          </a:xfrm>
          <a:prstGeom prst="rect">
            <a:avLst/>
          </a:prstGeom>
          <a:solidFill>
            <a:srgbClr val="0D9488"/>
          </a:solidFill>
          <a:ln w="12700">
            <a:solidFill>
              <a:srgbClr val="0D9488"/>
            </a:solidFill>
            <a:prstDash val="solid"/>
          </a:ln>
        </p:spPr>
      </p:sp>
      <p:sp>
        <p:nvSpPr>
          <p:cNvPr id="38" name="Text 36"/>
          <p:cNvSpPr/>
          <p:nvPr/>
        </p:nvSpPr>
        <p:spPr>
          <a:xfrm>
            <a:off x="4983480" y="3630168"/>
            <a:ext cx="20116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Date Added</a:t>
            </a:r>
            <a:endParaRPr lang="en-US" sz="1200" dirty="0"/>
          </a:p>
        </p:txBody>
      </p:sp>
      <p:sp>
        <p:nvSpPr>
          <p:cNvPr id="39" name="Text 37"/>
          <p:cNvSpPr/>
          <p:nvPr/>
        </p:nvSpPr>
        <p:spPr>
          <a:xfrm>
            <a:off x="7086600" y="3630168"/>
            <a:ext cx="1737360" cy="256032"/>
          </a:xfrm>
          <a:prstGeom prst="rect">
            <a:avLst/>
          </a:prstGeom>
          <a:noFill/>
          <a:ln/>
        </p:spPr>
        <p:txBody>
          <a:bodyPr wrap="square" lIns="0" tIns="0" rIns="0" bIns="0" rtlCol="0" anchor="ctr"/>
          <a:lstStyle/>
          <a:p>
            <a:pPr algn="r" indent="0" marL="0">
              <a:buNone/>
            </a:pPr>
            <a:r>
              <a:rPr lang="en-US" sz="1000" dirty="0">
                <a:solidFill>
                  <a:srgbClr val="0D9488"/>
                </a:solidFill>
                <a:latin typeface="Calibri" pitchFamily="34" charset="0"/>
                <a:ea typeface="Calibri" pitchFamily="34" charset="-122"/>
                <a:cs typeface="Calibri" pitchFamily="34" charset="-120"/>
              </a:rPr>
              <a:t>DATE</a:t>
            </a:r>
            <a:endParaRPr lang="en-US" sz="1000" dirty="0"/>
          </a:p>
        </p:txBody>
      </p:sp>
      <p:sp>
        <p:nvSpPr>
          <p:cNvPr id="40" name="Text 38"/>
          <p:cNvSpPr/>
          <p:nvPr/>
        </p:nvSpPr>
        <p:spPr>
          <a:xfrm>
            <a:off x="4983480" y="3922776"/>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Record creation date (oldest: 1900, newest: 5/5/2026)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Analysis on Data Source</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8</a:t>
            </a:r>
            <a:endParaRPr lang="en-US" sz="700" dirty="0"/>
          </a:p>
        </p:txBody>
      </p:sp>
      <p:sp>
        <p:nvSpPr>
          <p:cNvPr id="8" name="Shape 6"/>
          <p:cNvSpPr/>
          <p:nvPr/>
        </p:nvSpPr>
        <p:spPr>
          <a:xfrm>
            <a:off x="274320" y="914400"/>
            <a:ext cx="1609344" cy="96012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914400"/>
            <a:ext cx="1609344" cy="64008"/>
          </a:xfrm>
          <a:prstGeom prst="rect">
            <a:avLst/>
          </a:prstGeom>
          <a:solidFill>
            <a:srgbClr val="0D9488"/>
          </a:solidFill>
          <a:ln w="12700">
            <a:solidFill>
              <a:srgbClr val="0D9488"/>
            </a:solidFill>
            <a:prstDash val="solid"/>
          </a:ln>
        </p:spPr>
      </p:sp>
      <p:sp>
        <p:nvSpPr>
          <p:cNvPr id="10" name="Text 8"/>
          <p:cNvSpPr/>
          <p:nvPr/>
        </p:nvSpPr>
        <p:spPr>
          <a:xfrm>
            <a:off x="274320" y="987552"/>
            <a:ext cx="1609344" cy="50292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46,476</a:t>
            </a:r>
            <a:endParaRPr lang="en-US" sz="2400" dirty="0"/>
          </a:p>
        </p:txBody>
      </p:sp>
      <p:sp>
        <p:nvSpPr>
          <p:cNvPr id="11" name="Text 9"/>
          <p:cNvSpPr/>
          <p:nvPr/>
        </p:nvSpPr>
        <p:spPr>
          <a:xfrm>
            <a:off x="274320" y="1481328"/>
            <a:ext cx="1609344" cy="30175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Q/A Records</a:t>
            </a:r>
            <a:endParaRPr lang="en-US" sz="950" dirty="0"/>
          </a:p>
        </p:txBody>
      </p:sp>
      <p:sp>
        <p:nvSpPr>
          <p:cNvPr id="12" name="Shape 10"/>
          <p:cNvSpPr/>
          <p:nvPr/>
        </p:nvSpPr>
        <p:spPr>
          <a:xfrm>
            <a:off x="2011680" y="914400"/>
            <a:ext cx="1609344" cy="96012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13" name="Shape 11"/>
          <p:cNvSpPr/>
          <p:nvPr/>
        </p:nvSpPr>
        <p:spPr>
          <a:xfrm>
            <a:off x="2011680" y="914400"/>
            <a:ext cx="1609344" cy="64008"/>
          </a:xfrm>
          <a:prstGeom prst="rect">
            <a:avLst/>
          </a:prstGeom>
          <a:solidFill>
            <a:srgbClr val="0D9488"/>
          </a:solidFill>
          <a:ln w="12700">
            <a:solidFill>
              <a:srgbClr val="0D9488"/>
            </a:solidFill>
            <a:prstDash val="solid"/>
          </a:ln>
        </p:spPr>
      </p:sp>
      <p:sp>
        <p:nvSpPr>
          <p:cNvPr id="14" name="Text 12"/>
          <p:cNvSpPr/>
          <p:nvPr/>
        </p:nvSpPr>
        <p:spPr>
          <a:xfrm>
            <a:off x="2011680" y="987552"/>
            <a:ext cx="1609344" cy="50292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53 MB</a:t>
            </a:r>
            <a:endParaRPr lang="en-US" sz="2400" dirty="0"/>
          </a:p>
        </p:txBody>
      </p:sp>
      <p:sp>
        <p:nvSpPr>
          <p:cNvPr id="15" name="Text 13"/>
          <p:cNvSpPr/>
          <p:nvPr/>
        </p:nvSpPr>
        <p:spPr>
          <a:xfrm>
            <a:off x="2011680" y="1481328"/>
            <a:ext cx="1609344" cy="30175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Database Size</a:t>
            </a:r>
            <a:endParaRPr lang="en-US" sz="950" dirty="0"/>
          </a:p>
        </p:txBody>
      </p:sp>
      <p:sp>
        <p:nvSpPr>
          <p:cNvPr id="16" name="Shape 14"/>
          <p:cNvSpPr/>
          <p:nvPr/>
        </p:nvSpPr>
        <p:spPr>
          <a:xfrm>
            <a:off x="3749040" y="914400"/>
            <a:ext cx="1609344" cy="96012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17" name="Shape 15"/>
          <p:cNvSpPr/>
          <p:nvPr/>
        </p:nvSpPr>
        <p:spPr>
          <a:xfrm>
            <a:off x="3749040" y="914400"/>
            <a:ext cx="1609344" cy="64008"/>
          </a:xfrm>
          <a:prstGeom prst="rect">
            <a:avLst/>
          </a:prstGeom>
          <a:solidFill>
            <a:srgbClr val="0D9488"/>
          </a:solidFill>
          <a:ln w="12700">
            <a:solidFill>
              <a:srgbClr val="0D9488"/>
            </a:solidFill>
            <a:prstDash val="solid"/>
          </a:ln>
        </p:spPr>
      </p:sp>
      <p:sp>
        <p:nvSpPr>
          <p:cNvPr id="18" name="Text 16"/>
          <p:cNvSpPr/>
          <p:nvPr/>
        </p:nvSpPr>
        <p:spPr>
          <a:xfrm>
            <a:off x="3749040" y="987552"/>
            <a:ext cx="1609344" cy="50292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16</a:t>
            </a:r>
            <a:endParaRPr lang="en-US" sz="2400" dirty="0"/>
          </a:p>
        </p:txBody>
      </p:sp>
      <p:sp>
        <p:nvSpPr>
          <p:cNvPr id="19" name="Text 17"/>
          <p:cNvSpPr/>
          <p:nvPr/>
        </p:nvSpPr>
        <p:spPr>
          <a:xfrm>
            <a:off x="3749040" y="1481328"/>
            <a:ext cx="1609344" cy="30175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Categories</a:t>
            </a:r>
            <a:endParaRPr lang="en-US" sz="950" dirty="0"/>
          </a:p>
        </p:txBody>
      </p:sp>
      <p:sp>
        <p:nvSpPr>
          <p:cNvPr id="20" name="Shape 18"/>
          <p:cNvSpPr/>
          <p:nvPr/>
        </p:nvSpPr>
        <p:spPr>
          <a:xfrm>
            <a:off x="5486400" y="914400"/>
            <a:ext cx="1609344" cy="96012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21" name="Shape 19"/>
          <p:cNvSpPr/>
          <p:nvPr/>
        </p:nvSpPr>
        <p:spPr>
          <a:xfrm>
            <a:off x="5486400" y="914400"/>
            <a:ext cx="1609344" cy="64008"/>
          </a:xfrm>
          <a:prstGeom prst="rect">
            <a:avLst/>
          </a:prstGeom>
          <a:solidFill>
            <a:srgbClr val="0D9488"/>
          </a:solidFill>
          <a:ln w="12700">
            <a:solidFill>
              <a:srgbClr val="0D9488"/>
            </a:solidFill>
            <a:prstDash val="solid"/>
          </a:ln>
        </p:spPr>
      </p:sp>
      <p:sp>
        <p:nvSpPr>
          <p:cNvPr id="22" name="Text 20"/>
          <p:cNvSpPr/>
          <p:nvPr/>
        </p:nvSpPr>
        <p:spPr>
          <a:xfrm>
            <a:off x="5486400" y="987552"/>
            <a:ext cx="1609344" cy="50292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44</a:t>
            </a:r>
            <a:endParaRPr lang="en-US" sz="2400" dirty="0"/>
          </a:p>
        </p:txBody>
      </p:sp>
      <p:sp>
        <p:nvSpPr>
          <p:cNvPr id="23" name="Text 21"/>
          <p:cNvSpPr/>
          <p:nvPr/>
        </p:nvSpPr>
        <p:spPr>
          <a:xfrm>
            <a:off x="5486400" y="1481328"/>
            <a:ext cx="1609344" cy="30175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Products</a:t>
            </a:r>
            <a:endParaRPr lang="en-US" sz="950" dirty="0"/>
          </a:p>
        </p:txBody>
      </p:sp>
      <p:sp>
        <p:nvSpPr>
          <p:cNvPr id="24" name="Shape 22"/>
          <p:cNvSpPr/>
          <p:nvPr/>
        </p:nvSpPr>
        <p:spPr>
          <a:xfrm>
            <a:off x="7223760" y="914400"/>
            <a:ext cx="1609344" cy="96012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25" name="Shape 23"/>
          <p:cNvSpPr/>
          <p:nvPr/>
        </p:nvSpPr>
        <p:spPr>
          <a:xfrm>
            <a:off x="7223760" y="914400"/>
            <a:ext cx="1609344" cy="64008"/>
          </a:xfrm>
          <a:prstGeom prst="rect">
            <a:avLst/>
          </a:prstGeom>
          <a:solidFill>
            <a:srgbClr val="0D9488"/>
          </a:solidFill>
          <a:ln w="12700">
            <a:solidFill>
              <a:srgbClr val="0D9488"/>
            </a:solidFill>
            <a:prstDash val="solid"/>
          </a:ln>
        </p:spPr>
      </p:sp>
      <p:sp>
        <p:nvSpPr>
          <p:cNvPr id="26" name="Text 24"/>
          <p:cNvSpPr/>
          <p:nvPr/>
        </p:nvSpPr>
        <p:spPr>
          <a:xfrm>
            <a:off x="7223760" y="987552"/>
            <a:ext cx="1609344" cy="502920"/>
          </a:xfrm>
          <a:prstGeom prst="rect">
            <a:avLst/>
          </a:prstGeom>
          <a:noFill/>
          <a:ln/>
        </p:spPr>
        <p:txBody>
          <a:bodyPr wrap="square" lIns="0" tIns="0" rIns="0" bIns="0" rtlCol="0" anchor="ctr"/>
          <a:lstStyle/>
          <a:p>
            <a:pPr algn="ctr" indent="0" marL="0">
              <a:buNone/>
            </a:pPr>
            <a:r>
              <a:rPr lang="en-US" sz="2400" b="1" dirty="0">
                <a:solidFill>
                  <a:srgbClr val="0D9488"/>
                </a:solidFill>
                <a:latin typeface="Calibri" pitchFamily="34" charset="0"/>
                <a:ea typeface="Calibri" pitchFamily="34" charset="-122"/>
                <a:cs typeface="Calibri" pitchFamily="34" charset="-120"/>
              </a:rPr>
              <a:t>242</a:t>
            </a:r>
            <a:endParaRPr lang="en-US" sz="2400" dirty="0"/>
          </a:p>
        </p:txBody>
      </p:sp>
      <p:sp>
        <p:nvSpPr>
          <p:cNvPr id="27" name="Text 25"/>
          <p:cNvSpPr/>
          <p:nvPr/>
        </p:nvSpPr>
        <p:spPr>
          <a:xfrm>
            <a:off x="7223760" y="1481328"/>
            <a:ext cx="1609344" cy="30175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Companies</a:t>
            </a:r>
            <a:endParaRPr lang="en-US" sz="950" dirty="0"/>
          </a:p>
        </p:txBody>
      </p:sp>
      <p:sp>
        <p:nvSpPr>
          <p:cNvPr id="28" name="Text 26"/>
          <p:cNvSpPr/>
          <p:nvPr/>
        </p:nvSpPr>
        <p:spPr>
          <a:xfrm>
            <a:off x="274320" y="2011680"/>
            <a:ext cx="5029200" cy="320040"/>
          </a:xfrm>
          <a:prstGeom prst="rect">
            <a:avLst/>
          </a:prstGeom>
          <a:noFill/>
          <a:ln/>
        </p:spPr>
        <p:txBody>
          <a:bodyPr wrap="square" lIns="0" tIns="0" rIns="0" bIns="0" rtlCol="0" anchor="ctr"/>
          <a:lstStyle/>
          <a:p>
            <a:pPr indent="0" marL="0">
              <a:buNone/>
            </a:pPr>
            <a:r>
              <a:rPr lang="en-US" sz="1300" b="1" dirty="0">
                <a:solidFill>
                  <a:srgbClr val="0B1D3E"/>
                </a:solidFill>
                <a:latin typeface="Calibri" pitchFamily="34" charset="0"/>
                <a:ea typeface="Calibri" pitchFamily="34" charset="-122"/>
                <a:cs typeface="Calibri" pitchFamily="34" charset="-120"/>
              </a:rPr>
              <a:t>Data Growth by Year</a:t>
            </a:r>
            <a:endParaRPr lang="en-US" sz="1300" dirty="0"/>
          </a:p>
        </p:txBody>
      </p:sp>
      <p:graphicFrame>
        <p:nvGraphicFramePr>
          <p:cNvPr id="29" name="Chart 0" descr=""/>
          <p:cNvGraphicFramePr/>
          <p:nvPr/>
        </p:nvGraphicFramePr>
        <p:xfrm>
          <a:off x="274320" y="2377440"/>
          <a:ext cx="5394960" cy="2423160"/>
        </p:xfrm>
        <a:graphic xmlns:a="http://schemas.openxmlformats.org/drawingml/2006/main">
          <a:graphicData uri="http://schemas.openxmlformats.org/drawingml/2006/chart">
            <c:chart xmlns:c="http://schemas.openxmlformats.org/drawingml/2006/chart" r:id="rId1"/>
          </a:graphicData>
        </a:graphic>
      </p:graphicFrame>
      <p:sp>
        <p:nvSpPr>
          <p:cNvPr id="30" name="Shape 27"/>
          <p:cNvSpPr/>
          <p:nvPr/>
        </p:nvSpPr>
        <p:spPr>
          <a:xfrm>
            <a:off x="5852160" y="2011680"/>
            <a:ext cx="3017520" cy="274320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31" name="Shape 28"/>
          <p:cNvSpPr/>
          <p:nvPr/>
        </p:nvSpPr>
        <p:spPr>
          <a:xfrm>
            <a:off x="5852160" y="2011680"/>
            <a:ext cx="64008" cy="2743200"/>
          </a:xfrm>
          <a:prstGeom prst="rect">
            <a:avLst/>
          </a:prstGeom>
          <a:solidFill>
            <a:srgbClr val="F97316"/>
          </a:solidFill>
          <a:ln w="12700">
            <a:solidFill>
              <a:srgbClr val="F97316"/>
            </a:solidFill>
            <a:prstDash val="solid"/>
          </a:ln>
        </p:spPr>
      </p:sp>
      <p:sp>
        <p:nvSpPr>
          <p:cNvPr id="32" name="Text 29"/>
          <p:cNvSpPr/>
          <p:nvPr/>
        </p:nvSpPr>
        <p:spPr>
          <a:xfrm>
            <a:off x="6035040" y="2103120"/>
            <a:ext cx="2651760" cy="320040"/>
          </a:xfrm>
          <a:prstGeom prst="rect">
            <a:avLst/>
          </a:prstGeom>
          <a:noFill/>
          <a:ln/>
        </p:spPr>
        <p:txBody>
          <a:bodyPr wrap="square" lIns="0" tIns="0" rIns="0" bIns="0" rtlCol="0" anchor="ctr"/>
          <a:lstStyle/>
          <a:p>
            <a:pPr indent="0" marL="0">
              <a:buNone/>
            </a:pPr>
            <a:r>
              <a:rPr lang="en-US" sz="1300" b="1" dirty="0">
                <a:solidFill>
                  <a:srgbClr val="0B1D3E"/>
                </a:solidFill>
                <a:latin typeface="Calibri" pitchFamily="34" charset="0"/>
                <a:ea typeface="Calibri" pitchFamily="34" charset="-122"/>
                <a:cs typeface="Calibri" pitchFamily="34" charset="-120"/>
              </a:rPr>
              <a:t>Key Observations</a:t>
            </a:r>
            <a:endParaRPr lang="en-US" sz="1300" dirty="0"/>
          </a:p>
        </p:txBody>
      </p:sp>
      <p:sp>
        <p:nvSpPr>
          <p:cNvPr id="33" name="Text 30"/>
          <p:cNvSpPr/>
          <p:nvPr/>
        </p:nvSpPr>
        <p:spPr>
          <a:xfrm>
            <a:off x="6035040" y="2487168"/>
            <a:ext cx="2743200" cy="384048"/>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Compact 53 MB — manageable for full vectorization</a:t>
            </a:r>
            <a:endParaRPr lang="en-US" sz="950" dirty="0"/>
          </a:p>
        </p:txBody>
      </p:sp>
      <p:sp>
        <p:nvSpPr>
          <p:cNvPr id="34" name="Text 31"/>
          <p:cNvSpPr/>
          <p:nvPr/>
        </p:nvSpPr>
        <p:spPr>
          <a:xfrm>
            <a:off x="6035040" y="2907792"/>
            <a:ext cx="2743200" cy="384048"/>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Every record has Question/Response + Category/Product metadata</a:t>
            </a:r>
            <a:endParaRPr lang="en-US" sz="950" dirty="0"/>
          </a:p>
        </p:txBody>
      </p:sp>
      <p:sp>
        <p:nvSpPr>
          <p:cNvPr id="35" name="Text 32"/>
          <p:cNvSpPr/>
          <p:nvPr/>
        </p:nvSpPr>
        <p:spPr>
          <a:xfrm>
            <a:off x="6035040" y="3328416"/>
            <a:ext cx="2743200" cy="384048"/>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Responses range from 1 word to 30,000 characters</a:t>
            </a:r>
            <a:endParaRPr lang="en-US" sz="950" dirty="0"/>
          </a:p>
        </p:txBody>
      </p:sp>
      <p:sp>
        <p:nvSpPr>
          <p:cNvPr id="36" name="Text 33"/>
          <p:cNvSpPr/>
          <p:nvPr/>
        </p:nvSpPr>
        <p:spPr>
          <a:xfrm>
            <a:off x="6035040" y="3749040"/>
            <a:ext cx="2743200" cy="384048"/>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95% of records added 2021–2025 — knowledge is current</a:t>
            </a:r>
            <a:endParaRPr lang="en-US" sz="950" dirty="0"/>
          </a:p>
        </p:txBody>
      </p:sp>
      <p:sp>
        <p:nvSpPr>
          <p:cNvPr id="37" name="Text 34"/>
          <p:cNvSpPr/>
          <p:nvPr/>
        </p:nvSpPr>
        <p:spPr>
          <a:xfrm>
            <a:off x="6035040" y="4169664"/>
            <a:ext cx="2743200" cy="384048"/>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46,470 of 46,476 records are complete Q/A pairs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RFP Responder Assistant</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9</a:t>
            </a:r>
            <a:endParaRPr lang="en-US" sz="700" dirty="0"/>
          </a:p>
        </p:txBody>
      </p:sp>
      <p:sp>
        <p:nvSpPr>
          <p:cNvPr id="8" name="Shape 6"/>
          <p:cNvSpPr/>
          <p:nvPr/>
        </p:nvSpPr>
        <p:spPr>
          <a:xfrm>
            <a:off x="274320" y="914400"/>
            <a:ext cx="3749040" cy="379476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914400"/>
            <a:ext cx="82296" cy="3794760"/>
          </a:xfrm>
          <a:prstGeom prst="rect">
            <a:avLst/>
          </a:prstGeom>
          <a:solidFill>
            <a:srgbClr val="0D9488"/>
          </a:solidFill>
          <a:ln w="12700">
            <a:solidFill>
              <a:srgbClr val="0D9488"/>
            </a:solidFill>
            <a:prstDash val="solid"/>
          </a:ln>
        </p:spPr>
      </p:sp>
      <p:sp>
        <p:nvSpPr>
          <p:cNvPr id="10" name="Text 8"/>
          <p:cNvSpPr/>
          <p:nvPr/>
        </p:nvSpPr>
        <p:spPr>
          <a:xfrm>
            <a:off x="548640" y="1097280"/>
            <a:ext cx="3291840" cy="1691640"/>
          </a:xfrm>
          <a:prstGeom prst="rect">
            <a:avLst/>
          </a:prstGeom>
          <a:noFill/>
          <a:ln/>
        </p:spPr>
        <p:txBody>
          <a:bodyPr wrap="square" lIns="0" tIns="0" rIns="0" bIns="0" rtlCol="0" anchor="t"/>
          <a:lstStyle/>
          <a:p>
            <a:pPr algn="l" indent="0" marL="0">
              <a:buNone/>
            </a:pPr>
            <a:r>
              <a:rPr lang="en-US" sz="2800" b="1" dirty="0">
                <a:solidFill>
                  <a:srgbClr val="FFFFFF"/>
                </a:solidFill>
                <a:latin typeface="Calibri" pitchFamily="34" charset="0"/>
                <a:ea typeface="Calibri" pitchFamily="34" charset="-122"/>
                <a:cs typeface="Calibri" pitchFamily="34" charset="-120"/>
              </a:rPr>
              <a:t>SME-Assisted</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RFP Drafting</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at Scale</a:t>
            </a:r>
            <a:endParaRPr lang="en-US" sz="2800" dirty="0"/>
          </a:p>
        </p:txBody>
      </p:sp>
      <p:sp>
        <p:nvSpPr>
          <p:cNvPr id="11" name="Shape 9"/>
          <p:cNvSpPr/>
          <p:nvPr/>
        </p:nvSpPr>
        <p:spPr>
          <a:xfrm>
            <a:off x="548640" y="2834640"/>
            <a:ext cx="2103120" cy="50292"/>
          </a:xfrm>
          <a:prstGeom prst="rect">
            <a:avLst/>
          </a:prstGeom>
          <a:solidFill>
            <a:srgbClr val="0D9488"/>
          </a:solidFill>
          <a:ln w="12700">
            <a:solidFill>
              <a:srgbClr val="0D9488"/>
            </a:solidFill>
            <a:prstDash val="solid"/>
          </a:ln>
        </p:spPr>
      </p:sp>
      <p:sp>
        <p:nvSpPr>
          <p:cNvPr id="12" name="Text 10"/>
          <p:cNvSpPr/>
          <p:nvPr/>
        </p:nvSpPr>
        <p:spPr>
          <a:xfrm>
            <a:off x="548640" y="2971800"/>
            <a:ext cx="3291840" cy="1554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The goal is not to replace SMEs.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It is to eliminate repetitive work so experts can focus on reviewing and refining answers — not starting from scratch.</a:t>
            </a:r>
            <a:endParaRPr lang="en-US" sz="1100" dirty="0"/>
          </a:p>
        </p:txBody>
      </p:sp>
      <p:sp>
        <p:nvSpPr>
          <p:cNvPr id="13" name="Shape 11"/>
          <p:cNvSpPr/>
          <p:nvPr/>
        </p:nvSpPr>
        <p:spPr>
          <a:xfrm>
            <a:off x="4251960" y="914400"/>
            <a:ext cx="4617720" cy="822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4" name="Shape 12"/>
          <p:cNvSpPr/>
          <p:nvPr/>
        </p:nvSpPr>
        <p:spPr>
          <a:xfrm>
            <a:off x="4251960" y="914400"/>
            <a:ext cx="64008" cy="822960"/>
          </a:xfrm>
          <a:prstGeom prst="rect">
            <a:avLst/>
          </a:prstGeom>
          <a:solidFill>
            <a:srgbClr val="0D9488"/>
          </a:solidFill>
          <a:ln w="12700">
            <a:solidFill>
              <a:srgbClr val="0D9488"/>
            </a:solidFill>
            <a:prstDash val="solid"/>
          </a:ln>
        </p:spPr>
      </p:sp>
      <p:sp>
        <p:nvSpPr>
          <p:cNvPr id="15" name="Text 13"/>
          <p:cNvSpPr/>
          <p:nvPr/>
        </p:nvSpPr>
        <p:spPr>
          <a:xfrm>
            <a:off x="4434840" y="969264"/>
            <a:ext cx="429768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Grounded Responses</a:t>
            </a:r>
            <a:endParaRPr lang="en-US" sz="1300" dirty="0"/>
          </a:p>
        </p:txBody>
      </p:sp>
      <p:sp>
        <p:nvSpPr>
          <p:cNvPr id="16" name="Text 14"/>
          <p:cNvSpPr/>
          <p:nvPr/>
        </p:nvSpPr>
        <p:spPr>
          <a:xfrm>
            <a:off x="4434840" y="1298448"/>
            <a:ext cx="429768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Answers derived exclusively from webSupport — no hallucination, no out-of-scope content</a:t>
            </a:r>
            <a:endParaRPr lang="en-US" sz="1050" dirty="0"/>
          </a:p>
        </p:txBody>
      </p:sp>
      <p:sp>
        <p:nvSpPr>
          <p:cNvPr id="17" name="Shape 15"/>
          <p:cNvSpPr/>
          <p:nvPr/>
        </p:nvSpPr>
        <p:spPr>
          <a:xfrm>
            <a:off x="4251960" y="1856232"/>
            <a:ext cx="4617720" cy="822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8" name="Shape 16"/>
          <p:cNvSpPr/>
          <p:nvPr/>
        </p:nvSpPr>
        <p:spPr>
          <a:xfrm>
            <a:off x="4251960" y="1856232"/>
            <a:ext cx="64008" cy="822960"/>
          </a:xfrm>
          <a:prstGeom prst="rect">
            <a:avLst/>
          </a:prstGeom>
          <a:solidFill>
            <a:srgbClr val="0D9488"/>
          </a:solidFill>
          <a:ln w="12700">
            <a:solidFill>
              <a:srgbClr val="0D9488"/>
            </a:solidFill>
            <a:prstDash val="solid"/>
          </a:ln>
        </p:spPr>
      </p:sp>
      <p:sp>
        <p:nvSpPr>
          <p:cNvPr id="19" name="Text 17"/>
          <p:cNvSpPr/>
          <p:nvPr/>
        </p:nvSpPr>
        <p:spPr>
          <a:xfrm>
            <a:off x="4434840" y="1911096"/>
            <a:ext cx="429768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Consistent Quality</a:t>
            </a:r>
            <a:endParaRPr lang="en-US" sz="1300" dirty="0"/>
          </a:p>
        </p:txBody>
      </p:sp>
      <p:sp>
        <p:nvSpPr>
          <p:cNvPr id="20" name="Text 18"/>
          <p:cNvSpPr/>
          <p:nvPr/>
        </p:nvSpPr>
        <p:spPr>
          <a:xfrm>
            <a:off x="4434840" y="2240280"/>
            <a:ext cx="429768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Well-structured, formal responses aligned with OATI's established voice and standards</a:t>
            </a:r>
            <a:endParaRPr lang="en-US" sz="1050" dirty="0"/>
          </a:p>
        </p:txBody>
      </p:sp>
      <p:sp>
        <p:nvSpPr>
          <p:cNvPr id="21" name="Shape 19"/>
          <p:cNvSpPr/>
          <p:nvPr/>
        </p:nvSpPr>
        <p:spPr>
          <a:xfrm>
            <a:off x="4251960" y="2798064"/>
            <a:ext cx="4617720" cy="822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2" name="Shape 20"/>
          <p:cNvSpPr/>
          <p:nvPr/>
        </p:nvSpPr>
        <p:spPr>
          <a:xfrm>
            <a:off x="4251960" y="2798064"/>
            <a:ext cx="64008" cy="822960"/>
          </a:xfrm>
          <a:prstGeom prst="rect">
            <a:avLst/>
          </a:prstGeom>
          <a:solidFill>
            <a:srgbClr val="0D9488"/>
          </a:solidFill>
          <a:ln w="12700">
            <a:solidFill>
              <a:srgbClr val="0D9488"/>
            </a:solidFill>
            <a:prstDash val="solid"/>
          </a:ln>
        </p:spPr>
      </p:sp>
      <p:sp>
        <p:nvSpPr>
          <p:cNvPr id="23" name="Text 21"/>
          <p:cNvSpPr/>
          <p:nvPr/>
        </p:nvSpPr>
        <p:spPr>
          <a:xfrm>
            <a:off x="4434840" y="2852928"/>
            <a:ext cx="429768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Faster Turnaround</a:t>
            </a:r>
            <a:endParaRPr lang="en-US" sz="1300" dirty="0"/>
          </a:p>
        </p:txBody>
      </p:sp>
      <p:sp>
        <p:nvSpPr>
          <p:cNvPr id="24" name="Text 22"/>
          <p:cNvSpPr/>
          <p:nvPr/>
        </p:nvSpPr>
        <p:spPr>
          <a:xfrm>
            <a:off x="4434840" y="3182112"/>
            <a:ext cx="429768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Dramatically reduce time-per-question while maintaining accuracy and completeness</a:t>
            </a:r>
            <a:endParaRPr lang="en-US" sz="1050" dirty="0"/>
          </a:p>
        </p:txBody>
      </p:sp>
      <p:sp>
        <p:nvSpPr>
          <p:cNvPr id="25" name="Shape 23"/>
          <p:cNvSpPr/>
          <p:nvPr/>
        </p:nvSpPr>
        <p:spPr>
          <a:xfrm>
            <a:off x="4251960" y="3739896"/>
            <a:ext cx="4617720" cy="822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6" name="Shape 24"/>
          <p:cNvSpPr/>
          <p:nvPr/>
        </p:nvSpPr>
        <p:spPr>
          <a:xfrm>
            <a:off x="4251960" y="3739896"/>
            <a:ext cx="64008" cy="822960"/>
          </a:xfrm>
          <a:prstGeom prst="rect">
            <a:avLst/>
          </a:prstGeom>
          <a:solidFill>
            <a:srgbClr val="0D9488"/>
          </a:solidFill>
          <a:ln w="12700">
            <a:solidFill>
              <a:srgbClr val="0D9488"/>
            </a:solidFill>
            <a:prstDash val="solid"/>
          </a:ln>
        </p:spPr>
      </p:sp>
      <p:sp>
        <p:nvSpPr>
          <p:cNvPr id="27" name="Text 25"/>
          <p:cNvSpPr/>
          <p:nvPr/>
        </p:nvSpPr>
        <p:spPr>
          <a:xfrm>
            <a:off x="4434840" y="3794760"/>
            <a:ext cx="429768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Human in the Loop</a:t>
            </a:r>
            <a:endParaRPr lang="en-US" sz="1300" dirty="0"/>
          </a:p>
        </p:txBody>
      </p:sp>
      <p:sp>
        <p:nvSpPr>
          <p:cNvPr id="28" name="Text 26"/>
          <p:cNvSpPr/>
          <p:nvPr/>
        </p:nvSpPr>
        <p:spPr>
          <a:xfrm>
            <a:off x="4434840" y="4123944"/>
            <a:ext cx="4297680" cy="38404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SMEs review, edit, and approve every AI-generated draft before it's submitted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Technology Stack — RAG Architecture</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10</a:t>
            </a:r>
            <a:endParaRPr lang="en-US" sz="700" dirty="0"/>
          </a:p>
        </p:txBody>
      </p:sp>
      <p:sp>
        <p:nvSpPr>
          <p:cNvPr id="8" name="Shape 6"/>
          <p:cNvSpPr/>
          <p:nvPr/>
        </p:nvSpPr>
        <p:spPr>
          <a:xfrm>
            <a:off x="274320" y="914400"/>
            <a:ext cx="8595360" cy="475488"/>
          </a:xfrm>
          <a:prstGeom prst="rect">
            <a:avLst/>
          </a:prstGeom>
          <a:solidFill>
            <a:srgbClr val="0B1D3E"/>
          </a:solidFill>
          <a:ln w="12700">
            <a:solidFill>
              <a:srgbClr val="0B1D3E"/>
            </a:solidFill>
            <a:prstDash val="solid"/>
          </a:ln>
        </p:spPr>
      </p:sp>
      <p:sp>
        <p:nvSpPr>
          <p:cNvPr id="9" name="Shape 7"/>
          <p:cNvSpPr/>
          <p:nvPr/>
        </p:nvSpPr>
        <p:spPr>
          <a:xfrm>
            <a:off x="274320" y="914400"/>
            <a:ext cx="73152" cy="475488"/>
          </a:xfrm>
          <a:prstGeom prst="rect">
            <a:avLst/>
          </a:prstGeom>
          <a:solidFill>
            <a:srgbClr val="F97316"/>
          </a:solidFill>
          <a:ln w="12700">
            <a:solidFill>
              <a:srgbClr val="F97316"/>
            </a:solidFill>
            <a:prstDash val="solid"/>
          </a:ln>
        </p:spPr>
      </p:sp>
      <p:sp>
        <p:nvSpPr>
          <p:cNvPr id="10" name="Text 8"/>
          <p:cNvSpPr/>
          <p:nvPr/>
        </p:nvSpPr>
        <p:spPr>
          <a:xfrm>
            <a:off x="502920" y="914400"/>
            <a:ext cx="8321040" cy="475488"/>
          </a:xfrm>
          <a:prstGeom prst="rect">
            <a:avLst/>
          </a:prstGeom>
          <a:noFill/>
          <a:ln/>
        </p:spPr>
        <p:txBody>
          <a:bodyPr wrap="square" lIns="0" tIns="0" rIns="0" bIns="0" rtlCol="0" anchor="ctr"/>
          <a:lstStyle/>
          <a:p>
            <a:pPr indent="0" marL="0">
              <a:buNone/>
            </a:pPr>
            <a:r>
              <a:rPr lang="en-US" sz="1200" b="1" dirty="0">
                <a:solidFill>
                  <a:srgbClr val="FED7AA"/>
                </a:solidFill>
                <a:latin typeface="Calibri" pitchFamily="34" charset="0"/>
                <a:ea typeface="Calibri" pitchFamily="34" charset="-122"/>
                <a:cs typeface="Calibri" pitchFamily="34" charset="-120"/>
              </a:rPr>
              <a:t>Key Principle:  LLM answers ONLY from retrieved context — grounded, accurate, no hallucination</a:t>
            </a:r>
            <a:endParaRPr lang="en-US" sz="1200" dirty="0"/>
          </a:p>
        </p:txBody>
      </p:sp>
      <p:sp>
        <p:nvSpPr>
          <p:cNvPr id="11" name="Shape 9"/>
          <p:cNvSpPr/>
          <p:nvPr/>
        </p:nvSpPr>
        <p:spPr>
          <a:xfrm>
            <a:off x="201168" y="1554480"/>
            <a:ext cx="1609344" cy="3108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2" name="Shape 10"/>
          <p:cNvSpPr/>
          <p:nvPr/>
        </p:nvSpPr>
        <p:spPr>
          <a:xfrm>
            <a:off x="201168" y="1554480"/>
            <a:ext cx="1609344" cy="566928"/>
          </a:xfrm>
          <a:prstGeom prst="rect">
            <a:avLst/>
          </a:prstGeom>
          <a:solidFill>
            <a:srgbClr val="0B1D3E"/>
          </a:solidFill>
          <a:ln w="12700">
            <a:solidFill>
              <a:srgbClr val="0B1D3E"/>
            </a:solidFill>
            <a:prstDash val="solid"/>
          </a:ln>
        </p:spPr>
      </p:sp>
      <p:sp>
        <p:nvSpPr>
          <p:cNvPr id="13" name="Text 11"/>
          <p:cNvSpPr/>
          <p:nvPr/>
        </p:nvSpPr>
        <p:spPr>
          <a:xfrm>
            <a:off x="201168" y="1591056"/>
            <a:ext cx="347472"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12"/>
          <p:cNvSpPr/>
          <p:nvPr/>
        </p:nvSpPr>
        <p:spPr>
          <a:xfrm>
            <a:off x="521208" y="1609344"/>
            <a:ext cx="1225296"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Knowledge Base</a:t>
            </a:r>
            <a:endParaRPr lang="en-US" sz="1100" dirty="0"/>
          </a:p>
        </p:txBody>
      </p:sp>
      <p:sp>
        <p:nvSpPr>
          <p:cNvPr id="15" name="Text 13"/>
          <p:cNvSpPr/>
          <p:nvPr/>
        </p:nvSpPr>
        <p:spPr>
          <a:xfrm>
            <a:off x="292608" y="2231136"/>
            <a:ext cx="1426464" cy="594360"/>
          </a:xfrm>
          <a:prstGeom prst="rect">
            <a:avLst/>
          </a:prstGeom>
          <a:noFill/>
          <a:ln/>
        </p:spPr>
        <p:txBody>
          <a:bodyPr wrap="square" lIns="0" tIns="0" rIns="0" bIns="0" rtlCol="0" anchor="ctr"/>
          <a:lstStyle/>
          <a:p>
            <a:pPr indent="0" marL="0">
              <a:buNone/>
            </a:pPr>
            <a:r>
              <a:rPr lang="en-US" sz="950" b="1" dirty="0">
                <a:solidFill>
                  <a:srgbClr val="0B1D3E"/>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webSupport Q/A (46K+)</a:t>
            </a:r>
            <a:endParaRPr lang="en-US" sz="950" dirty="0"/>
          </a:p>
        </p:txBody>
      </p:sp>
      <p:sp>
        <p:nvSpPr>
          <p:cNvPr id="16" name="Text 14"/>
          <p:cNvSpPr/>
          <p:nvPr/>
        </p:nvSpPr>
        <p:spPr>
          <a:xfrm>
            <a:off x="292608" y="2889504"/>
            <a:ext cx="1426464" cy="594360"/>
          </a:xfrm>
          <a:prstGeom prst="rect">
            <a:avLst/>
          </a:prstGeom>
          <a:noFill/>
          <a:ln/>
        </p:spPr>
        <p:txBody>
          <a:bodyPr wrap="square" lIns="0" tIns="0" rIns="0" bIns="0" rtlCol="0" anchor="ctr"/>
          <a:lstStyle/>
          <a:p>
            <a:pPr indent="0" marL="0">
              <a:buNone/>
            </a:pPr>
            <a:r>
              <a:rPr lang="en-US" sz="950" b="1" dirty="0">
                <a:solidFill>
                  <a:srgbClr val="0B1D3E"/>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Historical RFP responses</a:t>
            </a:r>
            <a:endParaRPr lang="en-US" sz="950" dirty="0"/>
          </a:p>
        </p:txBody>
      </p:sp>
      <p:sp>
        <p:nvSpPr>
          <p:cNvPr id="17" name="Text 15"/>
          <p:cNvSpPr/>
          <p:nvPr/>
        </p:nvSpPr>
        <p:spPr>
          <a:xfrm>
            <a:off x="292608" y="3547872"/>
            <a:ext cx="1426464" cy="594360"/>
          </a:xfrm>
          <a:prstGeom prst="rect">
            <a:avLst/>
          </a:prstGeom>
          <a:noFill/>
          <a:ln/>
        </p:spPr>
        <p:txBody>
          <a:bodyPr wrap="square" lIns="0" tIns="0" rIns="0" bIns="0" rtlCol="0" anchor="ctr"/>
          <a:lstStyle/>
          <a:p>
            <a:pPr indent="0" marL="0">
              <a:buNone/>
            </a:pPr>
            <a:r>
              <a:rPr lang="en-US" sz="950" b="1" dirty="0">
                <a:solidFill>
                  <a:srgbClr val="0B1D3E"/>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Category/product metadata</a:t>
            </a:r>
            <a:endParaRPr lang="en-US" sz="950" dirty="0"/>
          </a:p>
        </p:txBody>
      </p:sp>
      <p:sp>
        <p:nvSpPr>
          <p:cNvPr id="18" name="Text 16"/>
          <p:cNvSpPr/>
          <p:nvPr/>
        </p:nvSpPr>
        <p:spPr>
          <a:xfrm>
            <a:off x="1764792" y="2926080"/>
            <a:ext cx="22860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1938528" y="1554480"/>
            <a:ext cx="1609344" cy="3108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0" name="Shape 18"/>
          <p:cNvSpPr/>
          <p:nvPr/>
        </p:nvSpPr>
        <p:spPr>
          <a:xfrm>
            <a:off x="1938528" y="1554480"/>
            <a:ext cx="1609344" cy="566928"/>
          </a:xfrm>
          <a:prstGeom prst="rect">
            <a:avLst/>
          </a:prstGeom>
          <a:solidFill>
            <a:srgbClr val="0F766E"/>
          </a:solidFill>
          <a:ln w="12700">
            <a:solidFill>
              <a:srgbClr val="0F766E"/>
            </a:solidFill>
            <a:prstDash val="solid"/>
          </a:ln>
        </p:spPr>
      </p:sp>
      <p:sp>
        <p:nvSpPr>
          <p:cNvPr id="21" name="Text 19"/>
          <p:cNvSpPr/>
          <p:nvPr/>
        </p:nvSpPr>
        <p:spPr>
          <a:xfrm>
            <a:off x="1938528" y="1591056"/>
            <a:ext cx="347472"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Text 20"/>
          <p:cNvSpPr/>
          <p:nvPr/>
        </p:nvSpPr>
        <p:spPr>
          <a:xfrm>
            <a:off x="2258568" y="1609344"/>
            <a:ext cx="1225296"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Embedding Model</a:t>
            </a:r>
            <a:endParaRPr lang="en-US" sz="1100" dirty="0"/>
          </a:p>
        </p:txBody>
      </p:sp>
      <p:sp>
        <p:nvSpPr>
          <p:cNvPr id="23" name="Text 21"/>
          <p:cNvSpPr/>
          <p:nvPr/>
        </p:nvSpPr>
        <p:spPr>
          <a:xfrm>
            <a:off x="2029968" y="2231136"/>
            <a:ext cx="1426464" cy="594360"/>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Converts text → vectors</a:t>
            </a:r>
            <a:endParaRPr lang="en-US" sz="950" dirty="0"/>
          </a:p>
        </p:txBody>
      </p:sp>
      <p:sp>
        <p:nvSpPr>
          <p:cNvPr id="24" name="Text 22"/>
          <p:cNvSpPr/>
          <p:nvPr/>
        </p:nvSpPr>
        <p:spPr>
          <a:xfrm>
            <a:off x="2029968" y="2889504"/>
            <a:ext cx="1426464" cy="594360"/>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Semantic similarity search</a:t>
            </a:r>
            <a:endParaRPr lang="en-US" sz="950" dirty="0"/>
          </a:p>
        </p:txBody>
      </p:sp>
      <p:sp>
        <p:nvSpPr>
          <p:cNvPr id="25" name="Text 23"/>
          <p:cNvSpPr/>
          <p:nvPr/>
        </p:nvSpPr>
        <p:spPr>
          <a:xfrm>
            <a:off x="2029968" y="3547872"/>
            <a:ext cx="1426464" cy="594360"/>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Qwen3 8B / Jina v5</a:t>
            </a:r>
            <a:endParaRPr lang="en-US" sz="950" dirty="0"/>
          </a:p>
        </p:txBody>
      </p:sp>
      <p:sp>
        <p:nvSpPr>
          <p:cNvPr id="26" name="Text 24"/>
          <p:cNvSpPr/>
          <p:nvPr/>
        </p:nvSpPr>
        <p:spPr>
          <a:xfrm>
            <a:off x="3502152" y="2926080"/>
            <a:ext cx="22860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3675888" y="1554480"/>
            <a:ext cx="1609344" cy="3108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8" name="Shape 26"/>
          <p:cNvSpPr/>
          <p:nvPr/>
        </p:nvSpPr>
        <p:spPr>
          <a:xfrm>
            <a:off x="3675888" y="1554480"/>
            <a:ext cx="1609344" cy="566928"/>
          </a:xfrm>
          <a:prstGeom prst="rect">
            <a:avLst/>
          </a:prstGeom>
          <a:solidFill>
            <a:srgbClr val="1D4ED8"/>
          </a:solidFill>
          <a:ln w="12700">
            <a:solidFill>
              <a:srgbClr val="1D4ED8"/>
            </a:solidFill>
            <a:prstDash val="solid"/>
          </a:ln>
        </p:spPr>
      </p:sp>
      <p:sp>
        <p:nvSpPr>
          <p:cNvPr id="29" name="Text 27"/>
          <p:cNvSpPr/>
          <p:nvPr/>
        </p:nvSpPr>
        <p:spPr>
          <a:xfrm>
            <a:off x="3675888" y="1591056"/>
            <a:ext cx="347472"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Text 28"/>
          <p:cNvSpPr/>
          <p:nvPr/>
        </p:nvSpPr>
        <p:spPr>
          <a:xfrm>
            <a:off x="3995928" y="1609344"/>
            <a:ext cx="1225296"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Vector Store</a:t>
            </a:r>
            <a:endParaRPr lang="en-US" sz="1100" dirty="0"/>
          </a:p>
        </p:txBody>
      </p:sp>
      <p:sp>
        <p:nvSpPr>
          <p:cNvPr id="31" name="Text 29"/>
          <p:cNvSpPr/>
          <p:nvPr/>
        </p:nvSpPr>
        <p:spPr>
          <a:xfrm>
            <a:off x="3767328" y="2231136"/>
            <a:ext cx="1426464" cy="594360"/>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Indexed embeddings</a:t>
            </a:r>
            <a:endParaRPr lang="en-US" sz="950" dirty="0"/>
          </a:p>
        </p:txBody>
      </p:sp>
      <p:sp>
        <p:nvSpPr>
          <p:cNvPr id="32" name="Text 30"/>
          <p:cNvSpPr/>
          <p:nvPr/>
        </p:nvSpPr>
        <p:spPr>
          <a:xfrm>
            <a:off x="3767328" y="2889504"/>
            <a:ext cx="1426464" cy="594360"/>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Fast semantic retrieval</a:t>
            </a:r>
            <a:endParaRPr lang="en-US" sz="950" dirty="0"/>
          </a:p>
        </p:txBody>
      </p:sp>
      <p:sp>
        <p:nvSpPr>
          <p:cNvPr id="33" name="Text 31"/>
          <p:cNvSpPr/>
          <p:nvPr/>
        </p:nvSpPr>
        <p:spPr>
          <a:xfrm>
            <a:off x="3767328" y="3547872"/>
            <a:ext cx="1426464" cy="594360"/>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Returns top-K relevant chunks</a:t>
            </a:r>
            <a:endParaRPr lang="en-US" sz="950" dirty="0"/>
          </a:p>
        </p:txBody>
      </p:sp>
      <p:sp>
        <p:nvSpPr>
          <p:cNvPr id="34" name="Text 32"/>
          <p:cNvSpPr/>
          <p:nvPr/>
        </p:nvSpPr>
        <p:spPr>
          <a:xfrm>
            <a:off x="5239512" y="2926080"/>
            <a:ext cx="22860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35" name="Shape 33"/>
          <p:cNvSpPr/>
          <p:nvPr/>
        </p:nvSpPr>
        <p:spPr>
          <a:xfrm>
            <a:off x="5413248" y="1554480"/>
            <a:ext cx="1609344" cy="3108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36" name="Shape 34"/>
          <p:cNvSpPr/>
          <p:nvPr/>
        </p:nvSpPr>
        <p:spPr>
          <a:xfrm>
            <a:off x="5413248" y="1554480"/>
            <a:ext cx="1609344" cy="566928"/>
          </a:xfrm>
          <a:prstGeom prst="rect">
            <a:avLst/>
          </a:prstGeom>
          <a:solidFill>
            <a:srgbClr val="7C3AED"/>
          </a:solidFill>
          <a:ln w="12700">
            <a:solidFill>
              <a:srgbClr val="7C3AED"/>
            </a:solidFill>
            <a:prstDash val="solid"/>
          </a:ln>
        </p:spPr>
      </p:sp>
      <p:sp>
        <p:nvSpPr>
          <p:cNvPr id="37" name="Text 35"/>
          <p:cNvSpPr/>
          <p:nvPr/>
        </p:nvSpPr>
        <p:spPr>
          <a:xfrm>
            <a:off x="5413248" y="1591056"/>
            <a:ext cx="347472"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5733288" y="1609344"/>
            <a:ext cx="1225296"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LLM Generation</a:t>
            </a:r>
            <a:endParaRPr lang="en-US" sz="1100" dirty="0"/>
          </a:p>
        </p:txBody>
      </p:sp>
      <p:sp>
        <p:nvSpPr>
          <p:cNvPr id="39" name="Text 37"/>
          <p:cNvSpPr/>
          <p:nvPr/>
        </p:nvSpPr>
        <p:spPr>
          <a:xfrm>
            <a:off x="5504688" y="2231136"/>
            <a:ext cx="1426464" cy="59436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Gets question + context</a:t>
            </a:r>
            <a:endParaRPr lang="en-US" sz="950" dirty="0"/>
          </a:p>
        </p:txBody>
      </p:sp>
      <p:sp>
        <p:nvSpPr>
          <p:cNvPr id="40" name="Text 38"/>
          <p:cNvSpPr/>
          <p:nvPr/>
        </p:nvSpPr>
        <p:spPr>
          <a:xfrm>
            <a:off x="5504688" y="2889504"/>
            <a:ext cx="1426464" cy="59436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Generates formal response</a:t>
            </a:r>
            <a:endParaRPr lang="en-US" sz="950" dirty="0"/>
          </a:p>
        </p:txBody>
      </p:sp>
      <p:sp>
        <p:nvSpPr>
          <p:cNvPr id="41" name="Text 39"/>
          <p:cNvSpPr/>
          <p:nvPr/>
        </p:nvSpPr>
        <p:spPr>
          <a:xfrm>
            <a:off x="5504688" y="3547872"/>
            <a:ext cx="1426464" cy="59436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Qwen 2.5 72B / Llama 70B</a:t>
            </a:r>
            <a:endParaRPr lang="en-US" sz="950" dirty="0"/>
          </a:p>
        </p:txBody>
      </p:sp>
      <p:sp>
        <p:nvSpPr>
          <p:cNvPr id="42" name="Text 40"/>
          <p:cNvSpPr/>
          <p:nvPr/>
        </p:nvSpPr>
        <p:spPr>
          <a:xfrm>
            <a:off x="6976872" y="2926080"/>
            <a:ext cx="22860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43" name="Shape 41"/>
          <p:cNvSpPr/>
          <p:nvPr/>
        </p:nvSpPr>
        <p:spPr>
          <a:xfrm>
            <a:off x="7150608" y="1554480"/>
            <a:ext cx="1609344" cy="31089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44" name="Shape 42"/>
          <p:cNvSpPr/>
          <p:nvPr/>
        </p:nvSpPr>
        <p:spPr>
          <a:xfrm>
            <a:off x="7150608" y="1554480"/>
            <a:ext cx="1609344" cy="566928"/>
          </a:xfrm>
          <a:prstGeom prst="rect">
            <a:avLst/>
          </a:prstGeom>
          <a:solidFill>
            <a:srgbClr val="B45309"/>
          </a:solidFill>
          <a:ln w="12700">
            <a:solidFill>
              <a:srgbClr val="B45309"/>
            </a:solidFill>
            <a:prstDash val="solid"/>
          </a:ln>
        </p:spPr>
      </p:sp>
      <p:sp>
        <p:nvSpPr>
          <p:cNvPr id="45" name="Text 43"/>
          <p:cNvSpPr/>
          <p:nvPr/>
        </p:nvSpPr>
        <p:spPr>
          <a:xfrm>
            <a:off x="7150608" y="1591056"/>
            <a:ext cx="347472"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Text 44"/>
          <p:cNvSpPr/>
          <p:nvPr/>
        </p:nvSpPr>
        <p:spPr>
          <a:xfrm>
            <a:off x="7470648" y="1609344"/>
            <a:ext cx="1225296" cy="45720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Chat UI</a:t>
            </a:r>
            <a:endParaRPr lang="en-US" sz="1100" dirty="0"/>
          </a:p>
        </p:txBody>
      </p:sp>
      <p:sp>
        <p:nvSpPr>
          <p:cNvPr id="47" name="Text 45"/>
          <p:cNvSpPr/>
          <p:nvPr/>
        </p:nvSpPr>
        <p:spPr>
          <a:xfrm>
            <a:off x="7242048" y="2231136"/>
            <a:ext cx="1426464" cy="594360"/>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SME interaction layer</a:t>
            </a:r>
            <a:endParaRPr lang="en-US" sz="950" dirty="0"/>
          </a:p>
        </p:txBody>
      </p:sp>
      <p:sp>
        <p:nvSpPr>
          <p:cNvPr id="48" name="Text 46"/>
          <p:cNvSpPr/>
          <p:nvPr/>
        </p:nvSpPr>
        <p:spPr>
          <a:xfrm>
            <a:off x="7242048" y="2889504"/>
            <a:ext cx="1426464" cy="594360"/>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Review &amp; edit drafts</a:t>
            </a:r>
            <a:endParaRPr lang="en-US" sz="950" dirty="0"/>
          </a:p>
        </p:txBody>
      </p:sp>
      <p:sp>
        <p:nvSpPr>
          <p:cNvPr id="49" name="Text 47"/>
          <p:cNvSpPr/>
          <p:nvPr/>
        </p:nvSpPr>
        <p:spPr>
          <a:xfrm>
            <a:off x="7242048" y="3547872"/>
            <a:ext cx="1426464" cy="594360"/>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  </a:t>
            </a:r>
            <a:pPr indent="0" marL="0">
              <a:buNone/>
            </a:pPr>
            <a:r>
              <a:rPr lang="en-US" sz="950" dirty="0">
                <a:solidFill>
                  <a:srgbClr val="475569"/>
                </a:solidFill>
                <a:latin typeface="Calibri" pitchFamily="34" charset="0"/>
                <a:ea typeface="Calibri" pitchFamily="34" charset="-122"/>
                <a:cs typeface="Calibri" pitchFamily="34" charset="-120"/>
              </a:rPr>
              <a:t>OATIHub integration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Top LLM Models — Comparison</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11</a:t>
            </a:r>
            <a:endParaRPr lang="en-US" sz="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3767328"/>
        </p:xfrm>
        <a:graphic>
          <a:graphicData uri="http://schemas.openxmlformats.org/drawingml/2006/table">
            <a:tbl>
              <a:tblPr/>
              <a:tblGrid>
                <a:gridCol w="2011680"/>
                <a:gridCol w="1097280"/>
                <a:gridCol w="1097280"/>
                <a:gridCol w="1097280"/>
                <a:gridCol w="1097280"/>
                <a:gridCol w="1097280"/>
                <a:gridCol w="1097280"/>
              </a:tblGrid>
              <a:tr h="42062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Capability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Qwen 2.5</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72B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766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Llama 3.1</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70B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GPT-OSS</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~120B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Mixtral</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(MoE)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Llama 3.1</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8B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Gemma 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Grounding (RAG)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Writing Quality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Instruction Following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Reasoning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Latency / Speed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Cost Efficiency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b="1"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Context Window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128K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128K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128K+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64K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128K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8K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r>
              <a:tr h="420624">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On-Prem Deployment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bl>
          </a:graphicData>
        </a:graphic>
      </p:graphicFrame>
      <p:sp>
        <p:nvSpPr>
          <p:cNvPr id="9" name="Shape 6"/>
          <p:cNvSpPr/>
          <p:nvPr/>
        </p:nvSpPr>
        <p:spPr>
          <a:xfrm>
            <a:off x="274320" y="4636008"/>
            <a:ext cx="8595360" cy="256032"/>
          </a:xfrm>
          <a:prstGeom prst="rect">
            <a:avLst/>
          </a:prstGeom>
          <a:solidFill>
            <a:srgbClr val="F0FDF4"/>
          </a:solidFill>
          <a:ln w="12700">
            <a:solidFill>
              <a:srgbClr val="BBF7D0"/>
            </a:solidFill>
            <a:prstDash val="solid"/>
          </a:ln>
        </p:spPr>
      </p:sp>
      <p:sp>
        <p:nvSpPr>
          <p:cNvPr id="10" name="Text 7"/>
          <p:cNvSpPr/>
          <p:nvPr/>
        </p:nvSpPr>
        <p:spPr>
          <a:xfrm>
            <a:off x="411480" y="4636008"/>
            <a:ext cx="8321040" cy="256032"/>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Recommended: Qwen 2.5 72B or Llama 3.1 70B — top-tier writing quality, grounding, 128K context, and on-prem deployment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Embedding Models — Comparison</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12</a:t>
            </a:r>
            <a:endParaRPr lang="en-US" sz="700" dirty="0"/>
          </a:p>
        </p:txBody>
      </p:sp>
      <p:sp>
        <p:nvSpPr>
          <p:cNvPr id="8" name="Text 6"/>
          <p:cNvSpPr/>
          <p:nvPr/>
        </p:nvSpPr>
        <p:spPr>
          <a:xfrm>
            <a:off x="274320" y="868680"/>
            <a:ext cx="8595360" cy="347472"/>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Embedding Model = the search engine. Its job: find the most relevant historical answers even when wording differs. Benchmark: MTEB.</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298448"/>
          <a:ext cx="8595360" cy="3429000"/>
        </p:xfrm>
        <a:graphic>
          <a:graphicData uri="http://schemas.openxmlformats.org/drawingml/2006/table">
            <a:tbl>
              <a:tblPr/>
              <a:tblGrid>
                <a:gridCol w="2194560"/>
                <a:gridCol w="1280160"/>
                <a:gridCol w="1097280"/>
                <a:gridCol w="1280160"/>
                <a:gridCol w="1280160"/>
                <a:gridCol w="1463040"/>
              </a:tblGrid>
              <a:tr h="42976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Capability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D3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Qwen3</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Embed 8B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766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Jina v5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E5-Mistral</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7B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Nomic</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7B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BGE</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Base v1.5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12D5E"/>
                    </a:solidFill>
                  </a:tcPr>
                </a:tc>
              </a:tr>
              <a:tr h="429768">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Retrieval Accuracy (MTEB)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70.6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71.7 ★</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58–60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57–60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29768">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Image / Screenshot Support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r>
              <a:tr h="429768">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Long Context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32K+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32K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32K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8K+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512 tokens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r>
              <a:tr h="429768">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Multilingual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854D0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9C3"/>
                    </a:solidFill>
                  </a:tcPr>
                </a:tc>
                <a:tc>
                  <a:txBody>
                    <a:bodyPr/>
                    <a:lstStyle/>
                    <a:p>
                      <a:pPr algn="ctr" indent="0" marL="0">
                        <a:buNone/>
                      </a:pPr>
                      <a:r>
                        <a:rPr lang="en-US" sz="1000" dirty="0">
                          <a:solidFill>
                            <a:srgbClr val="991B1B"/>
                          </a:solidFill>
                          <a:latin typeface="Calibri" pitchFamily="34" charset="0"/>
                          <a:ea typeface="Calibri" pitchFamily="34" charset="-122"/>
                          <a:cs typeface="Calibri" pitchFamily="34" charset="-120"/>
                        </a:rPr>
                        <a:t>English only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r>
              <a:tr h="429768">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Latency / Speed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r>
              <a:tr h="429768">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Cost Efficiency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Very High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r>
              <a:tr h="429768">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On-Prem Deployment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000" dirty="0">
                          <a:solidFill>
                            <a:srgbClr val="16653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r>
            </a:tbl>
          </a:graphicData>
        </a:graphic>
      </p:graphicFrame>
      <p:sp>
        <p:nvSpPr>
          <p:cNvPr id="10" name="Shape 7"/>
          <p:cNvSpPr/>
          <p:nvPr/>
        </p:nvSpPr>
        <p:spPr>
          <a:xfrm>
            <a:off x="274320" y="4636008"/>
            <a:ext cx="8595360" cy="256032"/>
          </a:xfrm>
          <a:prstGeom prst="rect">
            <a:avLst/>
          </a:prstGeom>
          <a:solidFill>
            <a:srgbClr val="F0FDF4"/>
          </a:solidFill>
          <a:ln w="12700">
            <a:solidFill>
              <a:srgbClr val="BBF7D0"/>
            </a:solidFill>
            <a:prstDash val="solid"/>
          </a:ln>
        </p:spPr>
      </p:sp>
      <p:sp>
        <p:nvSpPr>
          <p:cNvPr id="11" name="Text 8"/>
          <p:cNvSpPr/>
          <p:nvPr/>
        </p:nvSpPr>
        <p:spPr>
          <a:xfrm>
            <a:off x="411480" y="4636008"/>
            <a:ext cx="8321040" cy="256032"/>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Recommended: Qwen3 Embed 8B or Jina v5 — highest MTEB retrieval accuracy, long context, multilingual, on-prem ready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System Flow — RAG Pipeline</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13</a:t>
            </a:r>
            <a:endParaRPr lang="en-US" sz="700" dirty="0"/>
          </a:p>
        </p:txBody>
      </p:sp>
      <p:sp>
        <p:nvSpPr>
          <p:cNvPr id="8" name="Shape 6"/>
          <p:cNvSpPr/>
          <p:nvPr/>
        </p:nvSpPr>
        <p:spPr>
          <a:xfrm>
            <a:off x="3931920" y="868680"/>
            <a:ext cx="1600200" cy="1005840"/>
          </a:xfrm>
          <a:prstGeom prst="rect">
            <a:avLst/>
          </a:prstGeom>
          <a:solidFill>
            <a:srgbClr val="1E3A5F"/>
          </a:solidFill>
          <a:ln w="12700">
            <a:solidFill>
              <a:srgbClr val="1E3A5F"/>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3931920" y="868680"/>
            <a:ext cx="1600200" cy="64008"/>
          </a:xfrm>
          <a:prstGeom prst="rect">
            <a:avLst/>
          </a:prstGeom>
          <a:solidFill>
            <a:srgbClr val="F97316"/>
          </a:solidFill>
          <a:ln w="12700">
            <a:solidFill>
              <a:srgbClr val="F97316"/>
            </a:solidFill>
            <a:prstDash val="solid"/>
          </a:ln>
        </p:spPr>
      </p:sp>
      <p:sp>
        <p:nvSpPr>
          <p:cNvPr id="10" name="Text 8"/>
          <p:cNvSpPr/>
          <p:nvPr/>
        </p:nvSpPr>
        <p:spPr>
          <a:xfrm>
            <a:off x="3931920" y="960120"/>
            <a:ext cx="1600200" cy="7315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webSupport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Knowledge Base</a:t>
            </a:r>
            <a:endParaRPr lang="en-US" sz="1000" dirty="0"/>
          </a:p>
        </p:txBody>
      </p:sp>
      <p:sp>
        <p:nvSpPr>
          <p:cNvPr id="11" name="Text 9"/>
          <p:cNvSpPr/>
          <p:nvPr/>
        </p:nvSpPr>
        <p:spPr>
          <a:xfrm>
            <a:off x="3611880" y="1901952"/>
            <a:ext cx="2240280" cy="237744"/>
          </a:xfrm>
          <a:prstGeom prst="rect">
            <a:avLst/>
          </a:prstGeom>
          <a:noFill/>
          <a:ln/>
        </p:spPr>
        <p:txBody>
          <a:bodyPr wrap="square" lIns="0" tIns="0" rIns="0" bIns="0" rtlCol="0" anchor="ctr"/>
          <a:lstStyle/>
          <a:p>
            <a:pPr algn="ctr" indent="0" marL="0">
              <a:buNone/>
            </a:pPr>
            <a:r>
              <a:rPr lang="en-US" sz="850" i="1" dirty="0">
                <a:solidFill>
                  <a:srgbClr val="F97316"/>
                </a:solidFill>
                <a:latin typeface="Calibri" pitchFamily="34" charset="0"/>
                <a:ea typeface="Calibri" pitchFamily="34" charset="-122"/>
                <a:cs typeface="Calibri" pitchFamily="34" charset="-120"/>
              </a:rPr>
              <a:t>↓  pre-indexed embeddings</a:t>
            </a:r>
            <a:endParaRPr lang="en-US" sz="850" dirty="0"/>
          </a:p>
        </p:txBody>
      </p:sp>
      <p:sp>
        <p:nvSpPr>
          <p:cNvPr id="12" name="Shape 10"/>
          <p:cNvSpPr/>
          <p:nvPr/>
        </p:nvSpPr>
        <p:spPr>
          <a:xfrm>
            <a:off x="274320" y="2194560"/>
            <a:ext cx="1353312" cy="1508760"/>
          </a:xfrm>
          <a:prstGeom prst="rect">
            <a:avLst/>
          </a:prstGeom>
          <a:solidFill>
            <a:srgbClr val="0B1D3E"/>
          </a:solidFill>
          <a:ln w="12700">
            <a:solidFill>
              <a:srgbClr val="0B1D3E"/>
            </a:solidFill>
            <a:prstDash val="solid"/>
          </a:ln>
          <a:effectLst>
            <a:outerShdw sx="100000" sy="100000" kx="0" ky="0" algn="bl" rotWithShape="0" blurRad="127000" dist="38100" dir="8100000">
              <a:srgbClr val="000000">
                <a:alpha val="10000"/>
              </a:srgbClr>
            </a:outerShdw>
          </a:effectLst>
        </p:spPr>
      </p:sp>
      <p:sp>
        <p:nvSpPr>
          <p:cNvPr id="13" name="Shape 11"/>
          <p:cNvSpPr/>
          <p:nvPr/>
        </p:nvSpPr>
        <p:spPr>
          <a:xfrm>
            <a:off x="274320" y="2194560"/>
            <a:ext cx="1353312" cy="64008"/>
          </a:xfrm>
          <a:prstGeom prst="rect">
            <a:avLst/>
          </a:prstGeom>
          <a:solidFill>
            <a:srgbClr val="0D9488"/>
          </a:solidFill>
          <a:ln w="12700">
            <a:solidFill>
              <a:srgbClr val="0D9488"/>
            </a:solidFill>
            <a:prstDash val="solid"/>
          </a:ln>
        </p:spPr>
      </p:sp>
      <p:sp>
        <p:nvSpPr>
          <p:cNvPr id="14" name="Text 12"/>
          <p:cNvSpPr/>
          <p:nvPr/>
        </p:nvSpPr>
        <p:spPr>
          <a:xfrm>
            <a:off x="274320" y="2304288"/>
            <a:ext cx="135331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User / SME</a:t>
            </a:r>
            <a:endParaRPr lang="en-US" sz="1200" dirty="0"/>
          </a:p>
        </p:txBody>
      </p:sp>
      <p:sp>
        <p:nvSpPr>
          <p:cNvPr id="15" name="Text 13"/>
          <p:cNvSpPr/>
          <p:nvPr/>
        </p:nvSpPr>
        <p:spPr>
          <a:xfrm>
            <a:off x="274320" y="2880360"/>
            <a:ext cx="1353312" cy="731520"/>
          </a:xfrm>
          <a:prstGeom prst="rect">
            <a:avLst/>
          </a:prstGeom>
          <a:noFill/>
          <a:ln/>
        </p:spPr>
        <p:txBody>
          <a:bodyPr wrap="square" lIns="0" tIns="0" rIns="0" bIns="0" rtlCol="0" anchor="t"/>
          <a:lstStyle/>
          <a:p>
            <a:pPr algn="ctr" indent="0" marL="0">
              <a:buNone/>
            </a:pPr>
            <a:r>
              <a:rPr lang="en-US" sz="900" dirty="0">
                <a:solidFill>
                  <a:srgbClr val="CBD5E1"/>
                </a:solidFill>
                <a:latin typeface="Calibri" pitchFamily="34" charset="0"/>
                <a:ea typeface="Calibri" pitchFamily="34" charset="-122"/>
                <a:cs typeface="Calibri" pitchFamily="34" charset="-120"/>
              </a:rPr>
              <a:t>Chat UI</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(OATIHub)</a:t>
            </a:r>
            <a:endParaRPr lang="en-US" sz="900" dirty="0"/>
          </a:p>
        </p:txBody>
      </p:sp>
      <p:sp>
        <p:nvSpPr>
          <p:cNvPr id="16" name="Text 14"/>
          <p:cNvSpPr/>
          <p:nvPr/>
        </p:nvSpPr>
        <p:spPr>
          <a:xfrm>
            <a:off x="1627632" y="27660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1719072" y="2194560"/>
            <a:ext cx="1353312" cy="1508760"/>
          </a:xfrm>
          <a:prstGeom prst="rect">
            <a:avLst/>
          </a:prstGeom>
          <a:solidFill>
            <a:srgbClr val="1D4ED8"/>
          </a:solidFill>
          <a:ln w="12700">
            <a:solidFill>
              <a:srgbClr val="1D4ED8"/>
            </a:solidFill>
            <a:prstDash val="solid"/>
          </a:ln>
          <a:effectLst>
            <a:outerShdw sx="100000" sy="100000" kx="0" ky="0" algn="bl" rotWithShape="0" blurRad="127000" dist="38100" dir="8100000">
              <a:srgbClr val="000000">
                <a:alpha val="10000"/>
              </a:srgbClr>
            </a:outerShdw>
          </a:effectLst>
        </p:spPr>
      </p:sp>
      <p:sp>
        <p:nvSpPr>
          <p:cNvPr id="18" name="Shape 16"/>
          <p:cNvSpPr/>
          <p:nvPr/>
        </p:nvSpPr>
        <p:spPr>
          <a:xfrm>
            <a:off x="1719072" y="2194560"/>
            <a:ext cx="1353312" cy="64008"/>
          </a:xfrm>
          <a:prstGeom prst="rect">
            <a:avLst/>
          </a:prstGeom>
          <a:solidFill>
            <a:srgbClr val="0D9488"/>
          </a:solidFill>
          <a:ln w="12700">
            <a:solidFill>
              <a:srgbClr val="0D9488"/>
            </a:solidFill>
            <a:prstDash val="solid"/>
          </a:ln>
        </p:spPr>
      </p:sp>
      <p:sp>
        <p:nvSpPr>
          <p:cNvPr id="19" name="Text 17"/>
          <p:cNvSpPr/>
          <p:nvPr/>
        </p:nvSpPr>
        <p:spPr>
          <a:xfrm>
            <a:off x="1719072" y="2304288"/>
            <a:ext cx="135331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p>
        </p:txBody>
      </p:sp>
      <p:sp>
        <p:nvSpPr>
          <p:cNvPr id="20" name="Text 18"/>
          <p:cNvSpPr/>
          <p:nvPr/>
        </p:nvSpPr>
        <p:spPr>
          <a:xfrm>
            <a:off x="1719072" y="2880360"/>
            <a:ext cx="1353312" cy="731520"/>
          </a:xfrm>
          <a:prstGeom prst="rect">
            <a:avLst/>
          </a:prstGeom>
          <a:noFill/>
          <a:ln/>
        </p:spPr>
        <p:txBody>
          <a:bodyPr wrap="square" lIns="0" tIns="0" rIns="0" bIns="0" rtlCol="0" anchor="t"/>
          <a:lstStyle/>
          <a:p>
            <a:pPr algn="ctr" indent="0" marL="0">
              <a:buNone/>
            </a:pPr>
            <a:r>
              <a:rPr lang="en-US" sz="900" dirty="0">
                <a:solidFill>
                  <a:srgbClr val="CBD5E1"/>
                </a:solidFill>
                <a:latin typeface="Calibri" pitchFamily="34" charset="0"/>
                <a:ea typeface="Calibri" pitchFamily="34" charset="-122"/>
                <a:cs typeface="Calibri" pitchFamily="34" charset="-120"/>
              </a:rPr>
              <a:t>Input text</a:t>
            </a:r>
            <a:endParaRPr lang="en-US" sz="900" dirty="0"/>
          </a:p>
        </p:txBody>
      </p:sp>
      <p:sp>
        <p:nvSpPr>
          <p:cNvPr id="21" name="Text 19"/>
          <p:cNvSpPr/>
          <p:nvPr/>
        </p:nvSpPr>
        <p:spPr>
          <a:xfrm>
            <a:off x="3072384" y="27660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3163824" y="2194560"/>
            <a:ext cx="1353312" cy="1508760"/>
          </a:xfrm>
          <a:prstGeom prst="rect">
            <a:avLst/>
          </a:prstGeom>
          <a:solidFill>
            <a:srgbClr val="0F766E"/>
          </a:solidFill>
          <a:ln w="12700">
            <a:solidFill>
              <a:srgbClr val="0F766E"/>
            </a:solidFill>
            <a:prstDash val="solid"/>
          </a:ln>
          <a:effectLst>
            <a:outerShdw sx="100000" sy="100000" kx="0" ky="0" algn="bl" rotWithShape="0" blurRad="127000" dist="38100" dir="8100000">
              <a:srgbClr val="000000">
                <a:alpha val="10000"/>
              </a:srgbClr>
            </a:outerShdw>
          </a:effectLst>
        </p:spPr>
      </p:sp>
      <p:sp>
        <p:nvSpPr>
          <p:cNvPr id="23" name="Shape 21"/>
          <p:cNvSpPr/>
          <p:nvPr/>
        </p:nvSpPr>
        <p:spPr>
          <a:xfrm>
            <a:off x="3163824" y="2194560"/>
            <a:ext cx="1353312" cy="64008"/>
          </a:xfrm>
          <a:prstGeom prst="rect">
            <a:avLst/>
          </a:prstGeom>
          <a:solidFill>
            <a:srgbClr val="0D9488"/>
          </a:solidFill>
          <a:ln w="12700">
            <a:solidFill>
              <a:srgbClr val="0D9488"/>
            </a:solidFill>
            <a:prstDash val="solid"/>
          </a:ln>
        </p:spPr>
      </p:sp>
      <p:sp>
        <p:nvSpPr>
          <p:cNvPr id="24" name="Text 22"/>
          <p:cNvSpPr/>
          <p:nvPr/>
        </p:nvSpPr>
        <p:spPr>
          <a:xfrm>
            <a:off x="3163824" y="2304288"/>
            <a:ext cx="135331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Embed Query</a:t>
            </a:r>
            <a:endParaRPr lang="en-US" sz="1200" dirty="0"/>
          </a:p>
        </p:txBody>
      </p:sp>
      <p:sp>
        <p:nvSpPr>
          <p:cNvPr id="25" name="Text 23"/>
          <p:cNvSpPr/>
          <p:nvPr/>
        </p:nvSpPr>
        <p:spPr>
          <a:xfrm>
            <a:off x="3163824" y="2880360"/>
            <a:ext cx="1353312" cy="731520"/>
          </a:xfrm>
          <a:prstGeom prst="rect">
            <a:avLst/>
          </a:prstGeom>
          <a:noFill/>
          <a:ln/>
        </p:spPr>
        <p:txBody>
          <a:bodyPr wrap="square" lIns="0" tIns="0" rIns="0" bIns="0" rtlCol="0" anchor="t"/>
          <a:lstStyle/>
          <a:p>
            <a:pPr algn="ctr" indent="0" marL="0">
              <a:buNone/>
            </a:pPr>
            <a:r>
              <a:rPr lang="en-US" sz="900" dirty="0">
                <a:solidFill>
                  <a:srgbClr val="CBD5E1"/>
                </a:solidFill>
                <a:latin typeface="Calibri" pitchFamily="34" charset="0"/>
                <a:ea typeface="Calibri" pitchFamily="34" charset="-122"/>
                <a:cs typeface="Calibri" pitchFamily="34" charset="-120"/>
              </a:rPr>
              <a:t>Vectorize</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the question</a:t>
            </a:r>
            <a:endParaRPr lang="en-US" sz="900" dirty="0"/>
          </a:p>
        </p:txBody>
      </p:sp>
      <p:sp>
        <p:nvSpPr>
          <p:cNvPr id="26" name="Text 24"/>
          <p:cNvSpPr/>
          <p:nvPr/>
        </p:nvSpPr>
        <p:spPr>
          <a:xfrm>
            <a:off x="4517136" y="27660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4608576" y="2194560"/>
            <a:ext cx="1353312" cy="1508760"/>
          </a:xfrm>
          <a:prstGeom prst="rect">
            <a:avLst/>
          </a:prstGeom>
          <a:solidFill>
            <a:srgbClr val="065F46"/>
          </a:solidFill>
          <a:ln w="12700">
            <a:solidFill>
              <a:srgbClr val="065F46"/>
            </a:solidFill>
            <a:prstDash val="solid"/>
          </a:ln>
          <a:effectLst>
            <a:outerShdw sx="100000" sy="100000" kx="0" ky="0" algn="bl" rotWithShape="0" blurRad="127000" dist="38100" dir="8100000">
              <a:srgbClr val="000000">
                <a:alpha val="10000"/>
              </a:srgbClr>
            </a:outerShdw>
          </a:effectLst>
        </p:spPr>
      </p:sp>
      <p:sp>
        <p:nvSpPr>
          <p:cNvPr id="28" name="Shape 26"/>
          <p:cNvSpPr/>
          <p:nvPr/>
        </p:nvSpPr>
        <p:spPr>
          <a:xfrm>
            <a:off x="4608576" y="2194560"/>
            <a:ext cx="1353312" cy="64008"/>
          </a:xfrm>
          <a:prstGeom prst="rect">
            <a:avLst/>
          </a:prstGeom>
          <a:solidFill>
            <a:srgbClr val="0D9488"/>
          </a:solidFill>
          <a:ln w="12700">
            <a:solidFill>
              <a:srgbClr val="0D9488"/>
            </a:solidFill>
            <a:prstDash val="solid"/>
          </a:ln>
        </p:spPr>
      </p:sp>
      <p:sp>
        <p:nvSpPr>
          <p:cNvPr id="29" name="Text 27"/>
          <p:cNvSpPr/>
          <p:nvPr/>
        </p:nvSpPr>
        <p:spPr>
          <a:xfrm>
            <a:off x="4608576" y="2304288"/>
            <a:ext cx="135331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Vector Search</a:t>
            </a:r>
            <a:endParaRPr lang="en-US" sz="1200" dirty="0"/>
          </a:p>
        </p:txBody>
      </p:sp>
      <p:sp>
        <p:nvSpPr>
          <p:cNvPr id="30" name="Text 28"/>
          <p:cNvSpPr/>
          <p:nvPr/>
        </p:nvSpPr>
        <p:spPr>
          <a:xfrm>
            <a:off x="4608576" y="2880360"/>
            <a:ext cx="1353312" cy="731520"/>
          </a:xfrm>
          <a:prstGeom prst="rect">
            <a:avLst/>
          </a:prstGeom>
          <a:noFill/>
          <a:ln/>
        </p:spPr>
        <p:txBody>
          <a:bodyPr wrap="square" lIns="0" tIns="0" rIns="0" bIns="0" rtlCol="0" anchor="t"/>
          <a:lstStyle/>
          <a:p>
            <a:pPr algn="ctr" indent="0" marL="0">
              <a:buNone/>
            </a:pPr>
            <a:r>
              <a:rPr lang="en-US" sz="900" dirty="0">
                <a:solidFill>
                  <a:srgbClr val="CBD5E1"/>
                </a:solidFill>
                <a:latin typeface="Calibri" pitchFamily="34" charset="0"/>
                <a:ea typeface="Calibri" pitchFamily="34" charset="-122"/>
                <a:cs typeface="Calibri" pitchFamily="34" charset="-120"/>
              </a:rPr>
              <a:t>Semantic search</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Top-K results</a:t>
            </a:r>
            <a:endParaRPr lang="en-US" sz="900" dirty="0"/>
          </a:p>
        </p:txBody>
      </p:sp>
      <p:sp>
        <p:nvSpPr>
          <p:cNvPr id="31" name="Text 29"/>
          <p:cNvSpPr/>
          <p:nvPr/>
        </p:nvSpPr>
        <p:spPr>
          <a:xfrm>
            <a:off x="5961888" y="27660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6053328" y="2194560"/>
            <a:ext cx="1353312" cy="1508760"/>
          </a:xfrm>
          <a:prstGeom prst="rect">
            <a:avLst/>
          </a:prstGeom>
          <a:solidFill>
            <a:srgbClr val="7C3AED"/>
          </a:solidFill>
          <a:ln w="12700">
            <a:solidFill>
              <a:srgbClr val="7C3AED"/>
            </a:solidFill>
            <a:prstDash val="solid"/>
          </a:ln>
          <a:effectLst>
            <a:outerShdw sx="100000" sy="100000" kx="0" ky="0" algn="bl" rotWithShape="0" blurRad="127000" dist="38100" dir="8100000">
              <a:srgbClr val="000000">
                <a:alpha val="10000"/>
              </a:srgbClr>
            </a:outerShdw>
          </a:effectLst>
        </p:spPr>
      </p:sp>
      <p:sp>
        <p:nvSpPr>
          <p:cNvPr id="33" name="Shape 31"/>
          <p:cNvSpPr/>
          <p:nvPr/>
        </p:nvSpPr>
        <p:spPr>
          <a:xfrm>
            <a:off x="6053328" y="2194560"/>
            <a:ext cx="1353312" cy="64008"/>
          </a:xfrm>
          <a:prstGeom prst="rect">
            <a:avLst/>
          </a:prstGeom>
          <a:solidFill>
            <a:srgbClr val="0D9488"/>
          </a:solidFill>
          <a:ln w="12700">
            <a:solidFill>
              <a:srgbClr val="0D9488"/>
            </a:solidFill>
            <a:prstDash val="solid"/>
          </a:ln>
        </p:spPr>
      </p:sp>
      <p:sp>
        <p:nvSpPr>
          <p:cNvPr id="34" name="Text 32"/>
          <p:cNvSpPr/>
          <p:nvPr/>
        </p:nvSpPr>
        <p:spPr>
          <a:xfrm>
            <a:off x="6053328" y="2304288"/>
            <a:ext cx="135331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LLM Generate</a:t>
            </a:r>
            <a:endParaRPr lang="en-US" sz="1200" dirty="0"/>
          </a:p>
        </p:txBody>
      </p:sp>
      <p:sp>
        <p:nvSpPr>
          <p:cNvPr id="35" name="Text 33"/>
          <p:cNvSpPr/>
          <p:nvPr/>
        </p:nvSpPr>
        <p:spPr>
          <a:xfrm>
            <a:off x="6053328" y="2880360"/>
            <a:ext cx="1353312" cy="731520"/>
          </a:xfrm>
          <a:prstGeom prst="rect">
            <a:avLst/>
          </a:prstGeom>
          <a:noFill/>
          <a:ln/>
        </p:spPr>
        <p:txBody>
          <a:bodyPr wrap="square" lIns="0" tIns="0" rIns="0" bIns="0" rtlCol="0" anchor="t"/>
          <a:lstStyle/>
          <a:p>
            <a:pPr algn="ctr" indent="0" marL="0">
              <a:buNone/>
            </a:pPr>
            <a:r>
              <a:rPr lang="en-US" sz="900" dirty="0">
                <a:solidFill>
                  <a:srgbClr val="CBD5E1"/>
                </a:solidFill>
                <a:latin typeface="Calibri" pitchFamily="34" charset="0"/>
                <a:ea typeface="Calibri" pitchFamily="34" charset="-122"/>
                <a:cs typeface="Calibri" pitchFamily="34" charset="-120"/>
              </a:rPr>
              <a:t>Formal response</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from context only</a:t>
            </a:r>
            <a:endParaRPr lang="en-US" sz="900" dirty="0"/>
          </a:p>
        </p:txBody>
      </p:sp>
      <p:sp>
        <p:nvSpPr>
          <p:cNvPr id="36" name="Text 34"/>
          <p:cNvSpPr/>
          <p:nvPr/>
        </p:nvSpPr>
        <p:spPr>
          <a:xfrm>
            <a:off x="7406640" y="27660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37" name="Shape 35"/>
          <p:cNvSpPr/>
          <p:nvPr/>
        </p:nvSpPr>
        <p:spPr>
          <a:xfrm>
            <a:off x="7498080" y="2194560"/>
            <a:ext cx="1353312" cy="1508760"/>
          </a:xfrm>
          <a:prstGeom prst="rect">
            <a:avLst/>
          </a:prstGeom>
          <a:solidFill>
            <a:srgbClr val="B45309"/>
          </a:solidFill>
          <a:ln w="12700">
            <a:solidFill>
              <a:srgbClr val="B45309"/>
            </a:solidFill>
            <a:prstDash val="solid"/>
          </a:ln>
          <a:effectLst>
            <a:outerShdw sx="100000" sy="100000" kx="0" ky="0" algn="bl" rotWithShape="0" blurRad="127000" dist="38100" dir="8100000">
              <a:srgbClr val="000000">
                <a:alpha val="10000"/>
              </a:srgbClr>
            </a:outerShdw>
          </a:effectLst>
        </p:spPr>
      </p:sp>
      <p:sp>
        <p:nvSpPr>
          <p:cNvPr id="38" name="Shape 36"/>
          <p:cNvSpPr/>
          <p:nvPr/>
        </p:nvSpPr>
        <p:spPr>
          <a:xfrm>
            <a:off x="7498080" y="2194560"/>
            <a:ext cx="1353312" cy="64008"/>
          </a:xfrm>
          <a:prstGeom prst="rect">
            <a:avLst/>
          </a:prstGeom>
          <a:solidFill>
            <a:srgbClr val="0D9488"/>
          </a:solidFill>
          <a:ln w="12700">
            <a:solidFill>
              <a:srgbClr val="0D9488"/>
            </a:solidFill>
            <a:prstDash val="solid"/>
          </a:ln>
        </p:spPr>
      </p:sp>
      <p:sp>
        <p:nvSpPr>
          <p:cNvPr id="39" name="Text 37"/>
          <p:cNvSpPr/>
          <p:nvPr/>
        </p:nvSpPr>
        <p:spPr>
          <a:xfrm>
            <a:off x="7498080" y="2304288"/>
            <a:ext cx="135331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Draft Response</a:t>
            </a:r>
            <a:endParaRPr lang="en-US" sz="1200" dirty="0"/>
          </a:p>
        </p:txBody>
      </p:sp>
      <p:sp>
        <p:nvSpPr>
          <p:cNvPr id="40" name="Text 38"/>
          <p:cNvSpPr/>
          <p:nvPr/>
        </p:nvSpPr>
        <p:spPr>
          <a:xfrm>
            <a:off x="7498080" y="2880360"/>
            <a:ext cx="1353312" cy="731520"/>
          </a:xfrm>
          <a:prstGeom prst="rect">
            <a:avLst/>
          </a:prstGeom>
          <a:noFill/>
          <a:ln/>
        </p:spPr>
        <p:txBody>
          <a:bodyPr wrap="square" lIns="0" tIns="0" rIns="0" bIns="0" rtlCol="0" anchor="t"/>
          <a:lstStyle/>
          <a:p>
            <a:pPr algn="ctr" indent="0" marL="0">
              <a:buNone/>
            </a:pPr>
            <a:r>
              <a:rPr lang="en-US" sz="900" dirty="0">
                <a:solidFill>
                  <a:srgbClr val="CBD5E1"/>
                </a:solidFill>
                <a:latin typeface="Calibri" pitchFamily="34" charset="0"/>
                <a:ea typeface="Calibri" pitchFamily="34" charset="-122"/>
                <a:cs typeface="Calibri" pitchFamily="34" charset="-120"/>
              </a:rPr>
              <a:t>Grounded,</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well-written answer</a:t>
            </a:r>
            <a:endParaRPr lang="en-US" sz="900" dirty="0"/>
          </a:p>
        </p:txBody>
      </p:sp>
      <p:sp>
        <p:nvSpPr>
          <p:cNvPr id="41" name="Shape 39"/>
          <p:cNvSpPr/>
          <p:nvPr/>
        </p:nvSpPr>
        <p:spPr>
          <a:xfrm>
            <a:off x="7498080" y="3840480"/>
            <a:ext cx="1353312" cy="804672"/>
          </a:xfrm>
          <a:prstGeom prst="rect">
            <a:avLst/>
          </a:prstGeom>
          <a:solidFill>
            <a:srgbClr val="166534"/>
          </a:solidFill>
          <a:ln w="12700">
            <a:solidFill>
              <a:srgbClr val="166534"/>
            </a:solidFill>
            <a:prstDash val="solid"/>
          </a:ln>
          <a:effectLst>
            <a:outerShdw sx="100000" sy="100000" kx="0" ky="0" algn="bl" rotWithShape="0" blurRad="127000" dist="38100" dir="8100000">
              <a:srgbClr val="000000">
                <a:alpha val="10000"/>
              </a:srgbClr>
            </a:outerShdw>
          </a:effectLst>
        </p:spPr>
      </p:sp>
      <p:sp>
        <p:nvSpPr>
          <p:cNvPr id="42" name="Text 40"/>
          <p:cNvSpPr/>
          <p:nvPr/>
        </p:nvSpPr>
        <p:spPr>
          <a:xfrm>
            <a:off x="7498080" y="3858768"/>
            <a:ext cx="1353312" cy="7498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SME Review</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&amp; Approval</a:t>
            </a:r>
            <a:endParaRPr lang="en-US" sz="1000" dirty="0"/>
          </a:p>
        </p:txBody>
      </p:sp>
      <p:sp>
        <p:nvSpPr>
          <p:cNvPr id="43" name="Text 41"/>
          <p:cNvSpPr/>
          <p:nvPr/>
        </p:nvSpPr>
        <p:spPr>
          <a:xfrm>
            <a:off x="8001000" y="3694176"/>
            <a:ext cx="365760" cy="182880"/>
          </a:xfrm>
          <a:prstGeom prst="rect">
            <a:avLst/>
          </a:prstGeom>
          <a:noFill/>
          <a:ln/>
        </p:spPr>
        <p:txBody>
          <a:bodyPr wrap="square" lIns="0" tIns="0" rIns="0" bIns="0" rtlCol="0" anchor="ctr"/>
          <a:lstStyle/>
          <a:p>
            <a:pPr algn="ctr" indent="0" marL="0">
              <a:buNone/>
            </a:pPr>
            <a:r>
              <a:rPr lang="en-US" sz="1200" dirty="0">
                <a:solidFill>
                  <a:srgbClr val="4ADE80"/>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Questions / Scope Definition</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14</a:t>
            </a:r>
            <a:endParaRPr lang="en-US" sz="700" dirty="0"/>
          </a:p>
        </p:txBody>
      </p:sp>
      <p:sp>
        <p:nvSpPr>
          <p:cNvPr id="8" name="Shape 6"/>
          <p:cNvSpPr/>
          <p:nvPr/>
        </p:nvSpPr>
        <p:spPr>
          <a:xfrm>
            <a:off x="274320" y="960120"/>
            <a:ext cx="4206240"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960120"/>
            <a:ext cx="4206240" cy="457200"/>
          </a:xfrm>
          <a:prstGeom prst="rect">
            <a:avLst/>
          </a:prstGeom>
          <a:solidFill>
            <a:srgbClr val="0B1D3E"/>
          </a:solidFill>
          <a:ln w="12700">
            <a:solidFill>
              <a:srgbClr val="0B1D3E"/>
            </a:solidFill>
            <a:prstDash val="solid"/>
          </a:ln>
        </p:spPr>
      </p:sp>
      <p:sp>
        <p:nvSpPr>
          <p:cNvPr id="10" name="Text 8"/>
          <p:cNvSpPr/>
          <p:nvPr/>
        </p:nvSpPr>
        <p:spPr>
          <a:xfrm>
            <a:off x="41148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System Intent</a:t>
            </a:r>
            <a:endParaRPr lang="en-US" sz="1400" dirty="0"/>
          </a:p>
        </p:txBody>
      </p:sp>
      <p:sp>
        <p:nvSpPr>
          <p:cNvPr id="11" name="Text 9"/>
          <p:cNvSpPr/>
          <p:nvPr/>
        </p:nvSpPr>
        <p:spPr>
          <a:xfrm>
            <a:off x="411480" y="1490472"/>
            <a:ext cx="3931920" cy="347472"/>
          </a:xfrm>
          <a:prstGeom prst="rect">
            <a:avLst/>
          </a:prstGeom>
          <a:noFill/>
          <a:ln/>
        </p:spPr>
        <p:txBody>
          <a:bodyPr wrap="square" lIns="0" tIns="0" rIns="0" bIns="0" rtlCol="0" anchor="ctr"/>
          <a:lstStyle/>
          <a:p>
            <a:pPr indent="0" marL="0">
              <a:buNone/>
            </a:pPr>
            <a:r>
              <a:rPr lang="en-US" sz="1300" b="1" dirty="0">
                <a:solidFill>
                  <a:srgbClr val="0B1D3E"/>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Assist SMEs with draft responses?</a:t>
            </a:r>
            <a:endParaRPr lang="en-US" sz="1300" dirty="0"/>
          </a:p>
        </p:txBody>
      </p:sp>
      <p:sp>
        <p:nvSpPr>
          <p:cNvPr id="12" name="Text 10"/>
          <p:cNvSpPr/>
          <p:nvPr/>
        </p:nvSpPr>
        <p:spPr>
          <a:xfrm>
            <a:off x="411480" y="1883664"/>
            <a:ext cx="3931920" cy="347472"/>
          </a:xfrm>
          <a:prstGeom prst="rect">
            <a:avLst/>
          </a:prstGeom>
          <a:noFill/>
          <a:ln/>
        </p:spPr>
        <p:txBody>
          <a:bodyPr wrap="square" lIns="0" tIns="0" rIns="0" bIns="0" rtlCol="0" anchor="ctr"/>
          <a:lstStyle/>
          <a:p>
            <a:pPr indent="0" marL="0">
              <a:buNone/>
            </a:pPr>
            <a:r>
              <a:rPr lang="en-US" sz="1300" b="1" dirty="0">
                <a:solidFill>
                  <a:srgbClr val="0B1D3E"/>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Fully automate questions?</a:t>
            </a:r>
            <a:endParaRPr lang="en-US" sz="1300" dirty="0"/>
          </a:p>
        </p:txBody>
      </p:sp>
      <p:sp>
        <p:nvSpPr>
          <p:cNvPr id="13" name="Shape 11"/>
          <p:cNvSpPr/>
          <p:nvPr/>
        </p:nvSpPr>
        <p:spPr>
          <a:xfrm>
            <a:off x="4709160" y="960120"/>
            <a:ext cx="4206240"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4" name="Shape 12"/>
          <p:cNvSpPr/>
          <p:nvPr/>
        </p:nvSpPr>
        <p:spPr>
          <a:xfrm>
            <a:off x="4709160" y="960120"/>
            <a:ext cx="4206240" cy="457200"/>
          </a:xfrm>
          <a:prstGeom prst="rect">
            <a:avLst/>
          </a:prstGeom>
          <a:solidFill>
            <a:srgbClr val="0F766E"/>
          </a:solidFill>
          <a:ln w="12700">
            <a:solidFill>
              <a:srgbClr val="0F766E"/>
            </a:solidFill>
            <a:prstDash val="solid"/>
          </a:ln>
        </p:spPr>
      </p:sp>
      <p:sp>
        <p:nvSpPr>
          <p:cNvPr id="15" name="Text 13"/>
          <p:cNvSpPr/>
          <p:nvPr/>
        </p:nvSpPr>
        <p:spPr>
          <a:xfrm>
            <a:off x="484632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User Interaction</a:t>
            </a:r>
            <a:endParaRPr lang="en-US" sz="1400" dirty="0"/>
          </a:p>
        </p:txBody>
      </p:sp>
      <p:sp>
        <p:nvSpPr>
          <p:cNvPr id="16" name="Text 14"/>
          <p:cNvSpPr/>
          <p:nvPr/>
        </p:nvSpPr>
        <p:spPr>
          <a:xfrm>
            <a:off x="4846320" y="1490472"/>
            <a:ext cx="3931920" cy="347472"/>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Chat conversationally?</a:t>
            </a:r>
            <a:endParaRPr lang="en-US" sz="1300" dirty="0"/>
          </a:p>
        </p:txBody>
      </p:sp>
      <p:sp>
        <p:nvSpPr>
          <p:cNvPr id="17" name="Text 15"/>
          <p:cNvSpPr/>
          <p:nvPr/>
        </p:nvSpPr>
        <p:spPr>
          <a:xfrm>
            <a:off x="4846320" y="1883664"/>
            <a:ext cx="3931920" cy="347472"/>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Upload spreadsheets?</a:t>
            </a:r>
            <a:endParaRPr lang="en-US" sz="1300" dirty="0"/>
          </a:p>
        </p:txBody>
      </p:sp>
      <p:sp>
        <p:nvSpPr>
          <p:cNvPr id="18" name="Text 16"/>
          <p:cNvSpPr/>
          <p:nvPr/>
        </p:nvSpPr>
        <p:spPr>
          <a:xfrm>
            <a:off x="4846320" y="2276856"/>
            <a:ext cx="3931920" cy="347472"/>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Upload full RFP PDFs?</a:t>
            </a:r>
            <a:endParaRPr lang="en-US" sz="1300" dirty="0"/>
          </a:p>
        </p:txBody>
      </p:sp>
      <p:sp>
        <p:nvSpPr>
          <p:cNvPr id="19" name="Shape 17"/>
          <p:cNvSpPr/>
          <p:nvPr/>
        </p:nvSpPr>
        <p:spPr>
          <a:xfrm>
            <a:off x="274320" y="2880360"/>
            <a:ext cx="4206240"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0" name="Shape 18"/>
          <p:cNvSpPr/>
          <p:nvPr/>
        </p:nvSpPr>
        <p:spPr>
          <a:xfrm>
            <a:off x="274320" y="2880360"/>
            <a:ext cx="4206240" cy="457200"/>
          </a:xfrm>
          <a:prstGeom prst="rect">
            <a:avLst/>
          </a:prstGeom>
          <a:solidFill>
            <a:srgbClr val="1D4ED8"/>
          </a:solidFill>
          <a:ln w="12700">
            <a:solidFill>
              <a:srgbClr val="1D4ED8"/>
            </a:solidFill>
            <a:prstDash val="solid"/>
          </a:ln>
        </p:spPr>
      </p:sp>
      <p:sp>
        <p:nvSpPr>
          <p:cNvPr id="21" name="Text 19"/>
          <p:cNvSpPr/>
          <p:nvPr/>
        </p:nvSpPr>
        <p:spPr>
          <a:xfrm>
            <a:off x="411480" y="288036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Multimodal Support</a:t>
            </a:r>
            <a:endParaRPr lang="en-US" sz="1400" dirty="0"/>
          </a:p>
        </p:txBody>
      </p:sp>
      <p:sp>
        <p:nvSpPr>
          <p:cNvPr id="22" name="Text 20"/>
          <p:cNvSpPr/>
          <p:nvPr/>
        </p:nvSpPr>
        <p:spPr>
          <a:xfrm>
            <a:off x="411480" y="3410712"/>
            <a:ext cx="3931920" cy="347472"/>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Tables only?</a:t>
            </a:r>
            <a:endParaRPr lang="en-US" sz="1300" dirty="0"/>
          </a:p>
        </p:txBody>
      </p:sp>
      <p:sp>
        <p:nvSpPr>
          <p:cNvPr id="23" name="Text 21"/>
          <p:cNvSpPr/>
          <p:nvPr/>
        </p:nvSpPr>
        <p:spPr>
          <a:xfrm>
            <a:off x="411480" y="3803904"/>
            <a:ext cx="3931920" cy="347472"/>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Images / screenshots?</a:t>
            </a:r>
            <a:endParaRPr lang="en-US" sz="1300" dirty="0"/>
          </a:p>
        </p:txBody>
      </p:sp>
      <p:sp>
        <p:nvSpPr>
          <p:cNvPr id="24" name="Text 22"/>
          <p:cNvSpPr/>
          <p:nvPr/>
        </p:nvSpPr>
        <p:spPr>
          <a:xfrm>
            <a:off x="411480" y="4197096"/>
            <a:ext cx="3931920" cy="347472"/>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Architecture diagrams?</a:t>
            </a:r>
            <a:endParaRPr lang="en-US" sz="1300" dirty="0"/>
          </a:p>
        </p:txBody>
      </p:sp>
      <p:sp>
        <p:nvSpPr>
          <p:cNvPr id="25" name="Shape 23"/>
          <p:cNvSpPr/>
          <p:nvPr/>
        </p:nvSpPr>
        <p:spPr>
          <a:xfrm>
            <a:off x="4709160" y="2880360"/>
            <a:ext cx="4206240"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6" name="Shape 24"/>
          <p:cNvSpPr/>
          <p:nvPr/>
        </p:nvSpPr>
        <p:spPr>
          <a:xfrm>
            <a:off x="4709160" y="2880360"/>
            <a:ext cx="4206240" cy="457200"/>
          </a:xfrm>
          <a:prstGeom prst="rect">
            <a:avLst/>
          </a:prstGeom>
          <a:solidFill>
            <a:srgbClr val="7C3AED"/>
          </a:solidFill>
          <a:ln w="12700">
            <a:solidFill>
              <a:srgbClr val="7C3AED"/>
            </a:solidFill>
            <a:prstDash val="solid"/>
          </a:ln>
        </p:spPr>
      </p:sp>
      <p:sp>
        <p:nvSpPr>
          <p:cNvPr id="27" name="Text 25"/>
          <p:cNvSpPr/>
          <p:nvPr/>
        </p:nvSpPr>
        <p:spPr>
          <a:xfrm>
            <a:off x="4846320" y="288036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Infrastructure</a:t>
            </a:r>
            <a:endParaRPr lang="en-US" sz="1400" dirty="0"/>
          </a:p>
        </p:txBody>
      </p:sp>
      <p:sp>
        <p:nvSpPr>
          <p:cNvPr id="28" name="Text 26"/>
          <p:cNvSpPr/>
          <p:nvPr/>
        </p:nvSpPr>
        <p:spPr>
          <a:xfrm>
            <a:off x="4846320" y="3410712"/>
            <a:ext cx="3931920" cy="347472"/>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Will Chat UI live in OATIHub?</a:t>
            </a:r>
            <a:endParaRPr lang="en-US" sz="1300" dirty="0"/>
          </a:p>
        </p:txBody>
      </p:sp>
      <p:sp>
        <p:nvSpPr>
          <p:cNvPr id="29" name="Text 27"/>
          <p:cNvSpPr/>
          <p:nvPr/>
        </p:nvSpPr>
        <p:spPr>
          <a:xfrm>
            <a:off x="4846320" y="3803904"/>
            <a:ext cx="3931920" cy="347472"/>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Reuse existing hardware for OATIHub?</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Auto RFP — Open Source Reference Platform</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15</a:t>
            </a:r>
            <a:endParaRPr lang="en-US" sz="700" dirty="0"/>
          </a:p>
        </p:txBody>
      </p:sp>
      <p:sp>
        <p:nvSpPr>
          <p:cNvPr id="8" name="Shape 6"/>
          <p:cNvSpPr/>
          <p:nvPr/>
        </p:nvSpPr>
        <p:spPr>
          <a:xfrm>
            <a:off x="274320" y="914400"/>
            <a:ext cx="5029200" cy="37947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914400"/>
            <a:ext cx="5029200" cy="502920"/>
          </a:xfrm>
          <a:prstGeom prst="rect">
            <a:avLst/>
          </a:prstGeom>
          <a:solidFill>
            <a:srgbClr val="0B1D3E"/>
          </a:solidFill>
          <a:ln w="12700">
            <a:solidFill>
              <a:srgbClr val="0B1D3E"/>
            </a:solidFill>
            <a:prstDash val="solid"/>
          </a:ln>
        </p:spPr>
      </p:sp>
      <p:sp>
        <p:nvSpPr>
          <p:cNvPr id="10" name="Shape 8"/>
          <p:cNvSpPr/>
          <p:nvPr/>
        </p:nvSpPr>
        <p:spPr>
          <a:xfrm>
            <a:off x="274320" y="914400"/>
            <a:ext cx="64008" cy="3794760"/>
          </a:xfrm>
          <a:prstGeom prst="rect">
            <a:avLst/>
          </a:prstGeom>
          <a:solidFill>
            <a:srgbClr val="0D9488"/>
          </a:solidFill>
          <a:ln w="12700">
            <a:solidFill>
              <a:srgbClr val="0D9488"/>
            </a:solidFill>
            <a:prstDash val="solid"/>
          </a:ln>
        </p:spPr>
      </p:sp>
      <p:sp>
        <p:nvSpPr>
          <p:cNvPr id="11" name="Text 9"/>
          <p:cNvSpPr/>
          <p:nvPr/>
        </p:nvSpPr>
        <p:spPr>
          <a:xfrm>
            <a:off x="457200" y="914400"/>
            <a:ext cx="47091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Auto RFP  (github.com/run-llama/auto_rfp)</a:t>
            </a:r>
            <a:endParaRPr lang="en-US" sz="1200" dirty="0"/>
          </a:p>
        </p:txBody>
      </p:sp>
      <p:sp>
        <p:nvSpPr>
          <p:cNvPr id="12" name="Text 10"/>
          <p:cNvSpPr/>
          <p:nvPr/>
        </p:nvSpPr>
        <p:spPr>
          <a:xfrm>
            <a:off x="502920" y="1508760"/>
            <a:ext cx="4663440" cy="384048"/>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Open source platform built specifically for AI-assisted RFP workflows.</a:t>
            </a:r>
            <a:endParaRPr lang="en-US" sz="1100" dirty="0"/>
          </a:p>
        </p:txBody>
      </p:sp>
      <p:sp>
        <p:nvSpPr>
          <p:cNvPr id="13" name="Text 11"/>
          <p:cNvSpPr/>
          <p:nvPr/>
        </p:nvSpPr>
        <p:spPr>
          <a:xfrm>
            <a:off x="502920" y="1965960"/>
            <a:ext cx="4572000" cy="274320"/>
          </a:xfrm>
          <a:prstGeom prst="rect">
            <a:avLst/>
          </a:prstGeom>
          <a:noFill/>
          <a:ln/>
        </p:spPr>
        <p:txBody>
          <a:bodyPr wrap="square" lIns="0" tIns="0" rIns="0" bIns="0" rtlCol="0" anchor="ctr"/>
          <a:lstStyle/>
          <a:p>
            <a:pPr indent="0" marL="0">
              <a:buNone/>
            </a:pPr>
            <a:r>
              <a:rPr lang="en-US" sz="1200" b="1" dirty="0">
                <a:solidFill>
                  <a:srgbClr val="0B1D3E"/>
                </a:solidFill>
                <a:latin typeface="Calibri" pitchFamily="34" charset="0"/>
                <a:ea typeface="Calibri" pitchFamily="34" charset="-122"/>
                <a:cs typeface="Calibri" pitchFamily="34" charset="-120"/>
              </a:rPr>
              <a:t>Capabilities:</a:t>
            </a:r>
            <a:endParaRPr lang="en-US" sz="1200" dirty="0"/>
          </a:p>
        </p:txBody>
      </p:sp>
      <p:sp>
        <p:nvSpPr>
          <p:cNvPr id="14" name="Text 12"/>
          <p:cNvSpPr/>
          <p:nvPr/>
        </p:nvSpPr>
        <p:spPr>
          <a:xfrm>
            <a:off x="502920" y="2286000"/>
            <a:ext cx="4572000" cy="310896"/>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RFP ingestion</a:t>
            </a:r>
            <a:endParaRPr lang="en-US" sz="1100" dirty="0"/>
          </a:p>
        </p:txBody>
      </p:sp>
      <p:sp>
        <p:nvSpPr>
          <p:cNvPr id="15" name="Text 13"/>
          <p:cNvSpPr/>
          <p:nvPr/>
        </p:nvSpPr>
        <p:spPr>
          <a:xfrm>
            <a:off x="502920" y="2633472"/>
            <a:ext cx="4572000" cy="310896"/>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Question extraction</a:t>
            </a:r>
            <a:endParaRPr lang="en-US" sz="1100" dirty="0"/>
          </a:p>
        </p:txBody>
      </p:sp>
      <p:sp>
        <p:nvSpPr>
          <p:cNvPr id="16" name="Text 14"/>
          <p:cNvSpPr/>
          <p:nvPr/>
        </p:nvSpPr>
        <p:spPr>
          <a:xfrm>
            <a:off x="502920" y="2980944"/>
            <a:ext cx="4572000" cy="310896"/>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AI-generated responses</a:t>
            </a:r>
            <a:endParaRPr lang="en-US" sz="1100" dirty="0"/>
          </a:p>
        </p:txBody>
      </p:sp>
      <p:sp>
        <p:nvSpPr>
          <p:cNvPr id="17" name="Text 15"/>
          <p:cNvSpPr/>
          <p:nvPr/>
        </p:nvSpPr>
        <p:spPr>
          <a:xfrm>
            <a:off x="502920" y="3328416"/>
            <a:ext cx="4572000" cy="310896"/>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a:t>
            </a:r>
            <a:pPr indent="0" marL="0">
              <a:buNone/>
            </a:pPr>
            <a:r>
              <a:rPr lang="en-US" sz="1100" dirty="0">
                <a:solidFill>
                  <a:srgbClr val="1E293B"/>
                </a:solidFill>
                <a:latin typeface="Calibri" pitchFamily="34" charset="0"/>
                <a:ea typeface="Calibri" pitchFamily="34" charset="-122"/>
                <a:cs typeface="Calibri" pitchFamily="34" charset="-120"/>
              </a:rPr>
              <a:t>Supports PDF, Excel, Word</a:t>
            </a:r>
            <a:endParaRPr lang="en-US" sz="1100" dirty="0"/>
          </a:p>
        </p:txBody>
      </p:sp>
      <p:sp>
        <p:nvSpPr>
          <p:cNvPr id="18" name="Text 16"/>
          <p:cNvSpPr/>
          <p:nvPr/>
        </p:nvSpPr>
        <p:spPr>
          <a:xfrm>
            <a:off x="502920" y="3703320"/>
            <a:ext cx="4572000" cy="274320"/>
          </a:xfrm>
          <a:prstGeom prst="rect">
            <a:avLst/>
          </a:prstGeom>
          <a:noFill/>
          <a:ln/>
        </p:spPr>
        <p:txBody>
          <a:bodyPr wrap="square" lIns="0" tIns="0" rIns="0" bIns="0" rtlCol="0" anchor="ctr"/>
          <a:lstStyle/>
          <a:p>
            <a:pPr indent="0" marL="0">
              <a:buNone/>
            </a:pPr>
            <a:r>
              <a:rPr lang="en-US" sz="1200" b="1" dirty="0">
                <a:solidFill>
                  <a:srgbClr val="0B1D3E"/>
                </a:solidFill>
                <a:latin typeface="Calibri" pitchFamily="34" charset="0"/>
                <a:ea typeface="Calibri" pitchFamily="34" charset="-122"/>
                <a:cs typeface="Calibri" pitchFamily="34" charset="-120"/>
              </a:rPr>
              <a:t>Tech Stack:</a:t>
            </a:r>
            <a:endParaRPr lang="en-US" sz="1200" dirty="0"/>
          </a:p>
        </p:txBody>
      </p:sp>
      <p:sp>
        <p:nvSpPr>
          <p:cNvPr id="19" name="Text 17"/>
          <p:cNvSpPr/>
          <p:nvPr/>
        </p:nvSpPr>
        <p:spPr>
          <a:xfrm>
            <a:off x="502920" y="4005072"/>
            <a:ext cx="4663440" cy="27432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Next.js  ·  LlamaIndex  ·  RAG patterns</a:t>
            </a:r>
            <a:endParaRPr lang="en-US" sz="1100" dirty="0"/>
          </a:p>
        </p:txBody>
      </p:sp>
      <p:sp>
        <p:nvSpPr>
          <p:cNvPr id="20" name="Shape 18"/>
          <p:cNvSpPr/>
          <p:nvPr/>
        </p:nvSpPr>
        <p:spPr>
          <a:xfrm>
            <a:off x="5532120" y="914400"/>
            <a:ext cx="3337560" cy="676656"/>
          </a:xfrm>
          <a:prstGeom prst="rect">
            <a:avLst/>
          </a:prstGeom>
          <a:solidFill>
            <a:srgbClr val="FEF9C3"/>
          </a:solidFill>
          <a:ln w="12700">
            <a:solidFill>
              <a:srgbClr val="E2E8F0"/>
            </a:solidFill>
            <a:prstDash val="solid"/>
          </a:ln>
        </p:spPr>
      </p:sp>
      <p:sp>
        <p:nvSpPr>
          <p:cNvPr id="21" name="Text 19"/>
          <p:cNvSpPr/>
          <p:nvPr/>
        </p:nvSpPr>
        <p:spPr>
          <a:xfrm>
            <a:off x="5669280" y="960120"/>
            <a:ext cx="3017520" cy="256032"/>
          </a:xfrm>
          <a:prstGeom prst="rect">
            <a:avLst/>
          </a:prstGeom>
          <a:noFill/>
          <a:ln/>
        </p:spPr>
        <p:txBody>
          <a:bodyPr wrap="square" lIns="0" tIns="0" rIns="0" bIns="0" rtlCol="0" anchor="ctr"/>
          <a:lstStyle/>
          <a:p>
            <a:pPr indent="0" marL="0">
              <a:buNone/>
            </a:pPr>
            <a:r>
              <a:rPr lang="en-US" sz="1100" b="1" dirty="0">
                <a:solidFill>
                  <a:srgbClr val="854D0E"/>
                </a:solidFill>
                <a:latin typeface="Calibri" pitchFamily="34" charset="0"/>
                <a:ea typeface="Calibri" pitchFamily="34" charset="-122"/>
                <a:cs typeface="Calibri" pitchFamily="34" charset="-120"/>
              </a:rPr>
              <a:t>⚠  GitHub Stars</a:t>
            </a:r>
            <a:endParaRPr lang="en-US" sz="1100" dirty="0"/>
          </a:p>
        </p:txBody>
      </p:sp>
      <p:sp>
        <p:nvSpPr>
          <p:cNvPr id="22" name="Text 20"/>
          <p:cNvSpPr/>
          <p:nvPr/>
        </p:nvSpPr>
        <p:spPr>
          <a:xfrm>
            <a:off x="5669280" y="1243584"/>
            <a:ext cx="3017520" cy="256032"/>
          </a:xfrm>
          <a:prstGeom prst="rect">
            <a:avLst/>
          </a:prstGeom>
          <a:noFill/>
          <a:ln/>
        </p:spPr>
        <p:txBody>
          <a:bodyPr wrap="square" lIns="0" tIns="0" rIns="0" bIns="0" rtlCol="0" anchor="ctr"/>
          <a:lstStyle/>
          <a:p>
            <a:pPr indent="0" marL="0">
              <a:buNone/>
            </a:pPr>
            <a:r>
              <a:rPr lang="en-US" sz="1000" dirty="0">
                <a:solidFill>
                  <a:srgbClr val="854D0E"/>
                </a:solidFill>
                <a:latin typeface="Calibri" pitchFamily="34" charset="0"/>
                <a:ea typeface="Calibri" pitchFamily="34" charset="-122"/>
                <a:cs typeface="Calibri" pitchFamily="34" charset="-120"/>
              </a:rPr>
              <a:t>Very low — early stage project</a:t>
            </a:r>
            <a:endParaRPr lang="en-US" sz="1000" dirty="0"/>
          </a:p>
        </p:txBody>
      </p:sp>
      <p:sp>
        <p:nvSpPr>
          <p:cNvPr id="23" name="Shape 21"/>
          <p:cNvSpPr/>
          <p:nvPr/>
        </p:nvSpPr>
        <p:spPr>
          <a:xfrm>
            <a:off x="5532120" y="1709928"/>
            <a:ext cx="3337560" cy="676656"/>
          </a:xfrm>
          <a:prstGeom prst="rect">
            <a:avLst/>
          </a:prstGeom>
          <a:solidFill>
            <a:srgbClr val="FEF9C3"/>
          </a:solidFill>
          <a:ln w="12700">
            <a:solidFill>
              <a:srgbClr val="E2E8F0"/>
            </a:solidFill>
            <a:prstDash val="solid"/>
          </a:ln>
        </p:spPr>
      </p:sp>
      <p:sp>
        <p:nvSpPr>
          <p:cNvPr id="24" name="Text 22"/>
          <p:cNvSpPr/>
          <p:nvPr/>
        </p:nvSpPr>
        <p:spPr>
          <a:xfrm>
            <a:off x="5669280" y="1755648"/>
            <a:ext cx="3017520" cy="256032"/>
          </a:xfrm>
          <a:prstGeom prst="rect">
            <a:avLst/>
          </a:prstGeom>
          <a:noFill/>
          <a:ln/>
        </p:spPr>
        <p:txBody>
          <a:bodyPr wrap="square" lIns="0" tIns="0" rIns="0" bIns="0" rtlCol="0" anchor="ctr"/>
          <a:lstStyle/>
          <a:p>
            <a:pPr indent="0" marL="0">
              <a:buNone/>
            </a:pPr>
            <a:r>
              <a:rPr lang="en-US" sz="1100" b="1" dirty="0">
                <a:solidFill>
                  <a:srgbClr val="854D0E"/>
                </a:solidFill>
                <a:latin typeface="Calibri" pitchFamily="34" charset="0"/>
                <a:ea typeface="Calibri" pitchFamily="34" charset="-122"/>
                <a:cs typeface="Calibri" pitchFamily="34" charset="-120"/>
              </a:rPr>
              <a:t>⚠  Community Size</a:t>
            </a:r>
            <a:endParaRPr lang="en-US" sz="1100" dirty="0"/>
          </a:p>
        </p:txBody>
      </p:sp>
      <p:sp>
        <p:nvSpPr>
          <p:cNvPr id="25" name="Text 23"/>
          <p:cNvSpPr/>
          <p:nvPr/>
        </p:nvSpPr>
        <p:spPr>
          <a:xfrm>
            <a:off x="5669280" y="2039112"/>
            <a:ext cx="3017520" cy="256032"/>
          </a:xfrm>
          <a:prstGeom prst="rect">
            <a:avLst/>
          </a:prstGeom>
          <a:noFill/>
          <a:ln/>
        </p:spPr>
        <p:txBody>
          <a:bodyPr wrap="square" lIns="0" tIns="0" rIns="0" bIns="0" rtlCol="0" anchor="ctr"/>
          <a:lstStyle/>
          <a:p>
            <a:pPr indent="0" marL="0">
              <a:buNone/>
            </a:pPr>
            <a:r>
              <a:rPr lang="en-US" sz="1000" dirty="0">
                <a:solidFill>
                  <a:srgbClr val="854D0E"/>
                </a:solidFill>
                <a:latin typeface="Calibri" pitchFamily="34" charset="0"/>
                <a:ea typeface="Calibri" pitchFamily="34" charset="-122"/>
                <a:cs typeface="Calibri" pitchFamily="34" charset="-120"/>
              </a:rPr>
              <a:t>Small — limited ecosystem</a:t>
            </a:r>
            <a:endParaRPr lang="en-US" sz="1000" dirty="0"/>
          </a:p>
        </p:txBody>
      </p:sp>
      <p:sp>
        <p:nvSpPr>
          <p:cNvPr id="26" name="Shape 24"/>
          <p:cNvSpPr/>
          <p:nvPr/>
        </p:nvSpPr>
        <p:spPr>
          <a:xfrm>
            <a:off x="5532120" y="2505456"/>
            <a:ext cx="3337560" cy="676656"/>
          </a:xfrm>
          <a:prstGeom prst="rect">
            <a:avLst/>
          </a:prstGeom>
          <a:solidFill>
            <a:srgbClr val="F0FDF4"/>
          </a:solidFill>
          <a:ln w="12700">
            <a:solidFill>
              <a:srgbClr val="E2E8F0"/>
            </a:solidFill>
            <a:prstDash val="solid"/>
          </a:ln>
        </p:spPr>
      </p:sp>
      <p:sp>
        <p:nvSpPr>
          <p:cNvPr id="27" name="Text 25"/>
          <p:cNvSpPr/>
          <p:nvPr/>
        </p:nvSpPr>
        <p:spPr>
          <a:xfrm>
            <a:off x="5669280" y="2551176"/>
            <a:ext cx="3017520" cy="256032"/>
          </a:xfrm>
          <a:prstGeom prst="rect">
            <a:avLst/>
          </a:prstGeom>
          <a:noFill/>
          <a:ln/>
        </p:spPr>
        <p:txBody>
          <a:bodyPr wrap="square" lIns="0" tIns="0" rIns="0" bIns="0" rtlCol="0" anchor="ctr"/>
          <a:lstStyle/>
          <a:p>
            <a:pPr indent="0" marL="0">
              <a:buNone/>
            </a:pPr>
            <a:r>
              <a:rPr lang="en-US" sz="1100" b="1" dirty="0">
                <a:solidFill>
                  <a:srgbClr val="166534"/>
                </a:solidFill>
                <a:latin typeface="Calibri" pitchFamily="34" charset="0"/>
                <a:ea typeface="Calibri" pitchFamily="34" charset="-122"/>
                <a:cs typeface="Calibri" pitchFamily="34" charset="-120"/>
              </a:rPr>
              <a:t>✓  Maintenance</a:t>
            </a:r>
            <a:endParaRPr lang="en-US" sz="1100" dirty="0"/>
          </a:p>
        </p:txBody>
      </p:sp>
      <p:sp>
        <p:nvSpPr>
          <p:cNvPr id="28" name="Text 26"/>
          <p:cNvSpPr/>
          <p:nvPr/>
        </p:nvSpPr>
        <p:spPr>
          <a:xfrm>
            <a:off x="5669280" y="2834640"/>
            <a:ext cx="3017520" cy="256032"/>
          </a:xfrm>
          <a:prstGeom prst="rect">
            <a:avLst/>
          </a:prstGeom>
          <a:noFill/>
          <a:ln/>
        </p:spPr>
        <p:txBody>
          <a:bodyPr wrap="square" lIns="0" tIns="0" rIns="0" bIns="0" rtlCol="0" anchor="ctr"/>
          <a:lstStyle/>
          <a:p>
            <a:pPr indent="0" marL="0">
              <a:buNone/>
            </a:pPr>
            <a:r>
              <a:rPr lang="en-US" sz="1000" dirty="0">
                <a:solidFill>
                  <a:srgbClr val="166534"/>
                </a:solidFill>
                <a:latin typeface="Calibri" pitchFamily="34" charset="0"/>
                <a:ea typeface="Calibri" pitchFamily="34" charset="-122"/>
                <a:cs typeface="Calibri" pitchFamily="34" charset="-120"/>
              </a:rPr>
              <a:t>Active but niche focus</a:t>
            </a:r>
            <a:endParaRPr lang="en-US" sz="1000" dirty="0"/>
          </a:p>
        </p:txBody>
      </p:sp>
      <p:sp>
        <p:nvSpPr>
          <p:cNvPr id="29" name="Shape 27"/>
          <p:cNvSpPr/>
          <p:nvPr/>
        </p:nvSpPr>
        <p:spPr>
          <a:xfrm>
            <a:off x="5532120" y="3337560"/>
            <a:ext cx="3337560" cy="1371600"/>
          </a:xfrm>
          <a:prstGeom prst="rect">
            <a:avLst/>
          </a:prstGeom>
          <a:solidFill>
            <a:srgbClr val="0B1D3E"/>
          </a:solidFill>
          <a:ln w="12700">
            <a:solidFill>
              <a:srgbClr val="0B1D3E"/>
            </a:solidFill>
            <a:prstDash val="solid"/>
          </a:ln>
        </p:spPr>
      </p:sp>
      <p:sp>
        <p:nvSpPr>
          <p:cNvPr id="30" name="Shape 28"/>
          <p:cNvSpPr/>
          <p:nvPr/>
        </p:nvSpPr>
        <p:spPr>
          <a:xfrm>
            <a:off x="5532120" y="3337560"/>
            <a:ext cx="64008" cy="1371600"/>
          </a:xfrm>
          <a:prstGeom prst="rect">
            <a:avLst/>
          </a:prstGeom>
          <a:solidFill>
            <a:srgbClr val="F97316"/>
          </a:solidFill>
          <a:ln w="12700">
            <a:solidFill>
              <a:srgbClr val="F97316"/>
            </a:solidFill>
            <a:prstDash val="solid"/>
          </a:ln>
        </p:spPr>
      </p:sp>
      <p:sp>
        <p:nvSpPr>
          <p:cNvPr id="31" name="Text 29"/>
          <p:cNvSpPr/>
          <p:nvPr/>
        </p:nvSpPr>
        <p:spPr>
          <a:xfrm>
            <a:off x="5715000" y="3429000"/>
            <a:ext cx="3017520" cy="320040"/>
          </a:xfrm>
          <a:prstGeom prst="rect">
            <a:avLst/>
          </a:prstGeom>
          <a:noFill/>
          <a:ln/>
        </p:spPr>
        <p:txBody>
          <a:bodyPr wrap="square" lIns="0" tIns="0" rIns="0" bIns="0" rtlCol="0" anchor="ctr"/>
          <a:lstStyle/>
          <a:p>
            <a:pPr indent="0" marL="0">
              <a:buNone/>
            </a:pPr>
            <a:r>
              <a:rPr lang="en-US" sz="1200" b="1" dirty="0">
                <a:solidFill>
                  <a:srgbClr val="F97316"/>
                </a:solidFill>
                <a:latin typeface="Calibri" pitchFamily="34" charset="0"/>
                <a:ea typeface="Calibri" pitchFamily="34" charset="-122"/>
                <a:cs typeface="Calibri" pitchFamily="34" charset="-120"/>
              </a:rPr>
              <a:t>Our Recommendation</a:t>
            </a:r>
            <a:endParaRPr lang="en-US" sz="1200" dirty="0"/>
          </a:p>
        </p:txBody>
      </p:sp>
      <p:sp>
        <p:nvSpPr>
          <p:cNvPr id="32" name="Text 30"/>
          <p:cNvSpPr/>
          <p:nvPr/>
        </p:nvSpPr>
        <p:spPr>
          <a:xfrm>
            <a:off x="5715000" y="3794760"/>
            <a:ext cx="3017520" cy="8686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Use Auto RFP as a reference architecture and source of ideas — not a production dependency. Build a purpose-built pipeline for reliability and enterprise control.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Phased Development Roadmap</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16</a:t>
            </a:r>
            <a:endParaRPr lang="en-US" sz="700" dirty="0"/>
          </a:p>
        </p:txBody>
      </p:sp>
      <p:sp>
        <p:nvSpPr>
          <p:cNvPr id="8" name="Shape 6"/>
          <p:cNvSpPr/>
          <p:nvPr/>
        </p:nvSpPr>
        <p:spPr>
          <a:xfrm>
            <a:off x="274320" y="914400"/>
            <a:ext cx="4069080" cy="384048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914400"/>
            <a:ext cx="4069080" cy="566928"/>
          </a:xfrm>
          <a:prstGeom prst="rect">
            <a:avLst/>
          </a:prstGeom>
          <a:solidFill>
            <a:srgbClr val="0B1D3E"/>
          </a:solidFill>
          <a:ln w="12700">
            <a:solidFill>
              <a:srgbClr val="0B1D3E"/>
            </a:solidFill>
            <a:prstDash val="solid"/>
          </a:ln>
        </p:spPr>
      </p:sp>
      <p:sp>
        <p:nvSpPr>
          <p:cNvPr id="10" name="Shape 8"/>
          <p:cNvSpPr/>
          <p:nvPr/>
        </p:nvSpPr>
        <p:spPr>
          <a:xfrm>
            <a:off x="274320" y="914400"/>
            <a:ext cx="64008" cy="3840480"/>
          </a:xfrm>
          <a:prstGeom prst="rect">
            <a:avLst/>
          </a:prstGeom>
          <a:solidFill>
            <a:srgbClr val="0D9488"/>
          </a:solidFill>
          <a:ln w="12700">
            <a:solidFill>
              <a:srgbClr val="0D9488"/>
            </a:solidFill>
            <a:prstDash val="solid"/>
          </a:ln>
        </p:spPr>
      </p:sp>
      <p:sp>
        <p:nvSpPr>
          <p:cNvPr id="11" name="Text 9"/>
          <p:cNvSpPr/>
          <p:nvPr/>
        </p:nvSpPr>
        <p:spPr>
          <a:xfrm>
            <a:off x="457200" y="914400"/>
            <a:ext cx="1005840" cy="566928"/>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Phase 1</a:t>
            </a:r>
            <a:endParaRPr lang="en-US" sz="1200" dirty="0"/>
          </a:p>
        </p:txBody>
      </p:sp>
      <p:sp>
        <p:nvSpPr>
          <p:cNvPr id="12" name="Text 10"/>
          <p:cNvSpPr/>
          <p:nvPr/>
        </p:nvSpPr>
        <p:spPr>
          <a:xfrm>
            <a:off x="1417320" y="914400"/>
            <a:ext cx="274320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Foundation</a:t>
            </a:r>
            <a:endParaRPr lang="en-US" sz="1400" dirty="0"/>
          </a:p>
        </p:txBody>
      </p:sp>
      <p:sp>
        <p:nvSpPr>
          <p:cNvPr id="13" name="Shape 11"/>
          <p:cNvSpPr/>
          <p:nvPr/>
        </p:nvSpPr>
        <p:spPr>
          <a:xfrm>
            <a:off x="457200" y="1627632"/>
            <a:ext cx="64008" cy="594360"/>
          </a:xfrm>
          <a:prstGeom prst="rect">
            <a:avLst/>
          </a:prstGeom>
          <a:solidFill>
            <a:srgbClr val="0D9488"/>
          </a:solidFill>
          <a:ln w="12700">
            <a:solidFill>
              <a:srgbClr val="0D9488"/>
            </a:solidFill>
            <a:prstDash val="solid"/>
          </a:ln>
        </p:spPr>
      </p:sp>
      <p:sp>
        <p:nvSpPr>
          <p:cNvPr id="14" name="Text 12"/>
          <p:cNvSpPr/>
          <p:nvPr/>
        </p:nvSpPr>
        <p:spPr>
          <a:xfrm>
            <a:off x="658368" y="1627632"/>
            <a:ext cx="3474720" cy="256032"/>
          </a:xfrm>
          <a:prstGeom prst="rect">
            <a:avLst/>
          </a:prstGeom>
          <a:noFill/>
          <a:ln/>
        </p:spPr>
        <p:txBody>
          <a:bodyPr wrap="square" lIns="0" tIns="0" rIns="0" bIns="0" rtlCol="0" anchor="ctr"/>
          <a:lstStyle/>
          <a:p>
            <a:pPr indent="0" marL="0">
              <a:buNone/>
            </a:pPr>
            <a:r>
              <a:rPr lang="en-US" sz="1200" b="1" dirty="0">
                <a:solidFill>
                  <a:srgbClr val="0B1D3E"/>
                </a:solidFill>
                <a:latin typeface="Calibri" pitchFamily="34" charset="0"/>
                <a:ea typeface="Calibri" pitchFamily="34" charset="-122"/>
                <a:cs typeface="Calibri" pitchFamily="34" charset="-120"/>
              </a:rPr>
              <a:t>Model Evaluation</a:t>
            </a:r>
            <a:endParaRPr lang="en-US" sz="1200" dirty="0"/>
          </a:p>
        </p:txBody>
      </p:sp>
      <p:sp>
        <p:nvSpPr>
          <p:cNvPr id="15" name="Text 13"/>
          <p:cNvSpPr/>
          <p:nvPr/>
        </p:nvSpPr>
        <p:spPr>
          <a:xfrm>
            <a:off x="658368" y="1911096"/>
            <a:ext cx="34747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Evaluate top LLMs with real RFP data for quality, speed, and accuracy</a:t>
            </a:r>
            <a:endParaRPr lang="en-US" sz="1000" dirty="0"/>
          </a:p>
        </p:txBody>
      </p:sp>
      <p:sp>
        <p:nvSpPr>
          <p:cNvPr id="16" name="Shape 14"/>
          <p:cNvSpPr/>
          <p:nvPr/>
        </p:nvSpPr>
        <p:spPr>
          <a:xfrm>
            <a:off x="457200" y="2404872"/>
            <a:ext cx="64008" cy="594360"/>
          </a:xfrm>
          <a:prstGeom prst="rect">
            <a:avLst/>
          </a:prstGeom>
          <a:solidFill>
            <a:srgbClr val="0D9488"/>
          </a:solidFill>
          <a:ln w="12700">
            <a:solidFill>
              <a:srgbClr val="0D9488"/>
            </a:solidFill>
            <a:prstDash val="solid"/>
          </a:ln>
        </p:spPr>
      </p:sp>
      <p:sp>
        <p:nvSpPr>
          <p:cNvPr id="17" name="Text 15"/>
          <p:cNvSpPr/>
          <p:nvPr/>
        </p:nvSpPr>
        <p:spPr>
          <a:xfrm>
            <a:off x="658368" y="2404872"/>
            <a:ext cx="3474720" cy="256032"/>
          </a:xfrm>
          <a:prstGeom prst="rect">
            <a:avLst/>
          </a:prstGeom>
          <a:noFill/>
          <a:ln/>
        </p:spPr>
        <p:txBody>
          <a:bodyPr wrap="square" lIns="0" tIns="0" rIns="0" bIns="0" rtlCol="0" anchor="ctr"/>
          <a:lstStyle/>
          <a:p>
            <a:pPr indent="0" marL="0">
              <a:buNone/>
            </a:pPr>
            <a:r>
              <a:rPr lang="en-US" sz="1200" b="1" dirty="0">
                <a:solidFill>
                  <a:srgbClr val="0B1D3E"/>
                </a:solidFill>
                <a:latin typeface="Calibri" pitchFamily="34" charset="0"/>
                <a:ea typeface="Calibri" pitchFamily="34" charset="-122"/>
                <a:cs typeface="Calibri" pitchFamily="34" charset="-120"/>
              </a:rPr>
              <a:t>Data Ingestion</a:t>
            </a:r>
            <a:endParaRPr lang="en-US" sz="1200" dirty="0"/>
          </a:p>
        </p:txBody>
      </p:sp>
      <p:sp>
        <p:nvSpPr>
          <p:cNvPr id="18" name="Text 16"/>
          <p:cNvSpPr/>
          <p:nvPr/>
        </p:nvSpPr>
        <p:spPr>
          <a:xfrm>
            <a:off x="658368" y="2688336"/>
            <a:ext cx="34747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Connect webSupport Q/A database and build vectorization pipeline</a:t>
            </a:r>
            <a:endParaRPr lang="en-US" sz="1000" dirty="0"/>
          </a:p>
        </p:txBody>
      </p:sp>
      <p:sp>
        <p:nvSpPr>
          <p:cNvPr id="19" name="Shape 17"/>
          <p:cNvSpPr/>
          <p:nvPr/>
        </p:nvSpPr>
        <p:spPr>
          <a:xfrm>
            <a:off x="457200" y="3182112"/>
            <a:ext cx="64008" cy="594360"/>
          </a:xfrm>
          <a:prstGeom prst="rect">
            <a:avLst/>
          </a:prstGeom>
          <a:solidFill>
            <a:srgbClr val="0D9488"/>
          </a:solidFill>
          <a:ln w="12700">
            <a:solidFill>
              <a:srgbClr val="0D9488"/>
            </a:solidFill>
            <a:prstDash val="solid"/>
          </a:ln>
        </p:spPr>
      </p:sp>
      <p:sp>
        <p:nvSpPr>
          <p:cNvPr id="20" name="Text 18"/>
          <p:cNvSpPr/>
          <p:nvPr/>
        </p:nvSpPr>
        <p:spPr>
          <a:xfrm>
            <a:off x="658368" y="3182112"/>
            <a:ext cx="3474720" cy="256032"/>
          </a:xfrm>
          <a:prstGeom prst="rect">
            <a:avLst/>
          </a:prstGeom>
          <a:noFill/>
          <a:ln/>
        </p:spPr>
        <p:txBody>
          <a:bodyPr wrap="square" lIns="0" tIns="0" rIns="0" bIns="0" rtlCol="0" anchor="ctr"/>
          <a:lstStyle/>
          <a:p>
            <a:pPr indent="0" marL="0">
              <a:buNone/>
            </a:pPr>
            <a:r>
              <a:rPr lang="en-US" sz="1200" b="1" dirty="0">
                <a:solidFill>
                  <a:srgbClr val="0B1D3E"/>
                </a:solidFill>
                <a:latin typeface="Calibri" pitchFamily="34" charset="0"/>
                <a:ea typeface="Calibri" pitchFamily="34" charset="-122"/>
                <a:cs typeface="Calibri" pitchFamily="34" charset="-120"/>
              </a:rPr>
              <a:t>Basic RAG Pipeline</a:t>
            </a:r>
            <a:endParaRPr lang="en-US" sz="1200" dirty="0"/>
          </a:p>
        </p:txBody>
      </p:sp>
      <p:sp>
        <p:nvSpPr>
          <p:cNvPr id="21" name="Text 19"/>
          <p:cNvSpPr/>
          <p:nvPr/>
        </p:nvSpPr>
        <p:spPr>
          <a:xfrm>
            <a:off x="658368" y="3465576"/>
            <a:ext cx="34747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End-to-end retrieval + generation with strict context grounding</a:t>
            </a:r>
            <a:endParaRPr lang="en-US" sz="1000" dirty="0"/>
          </a:p>
        </p:txBody>
      </p:sp>
      <p:sp>
        <p:nvSpPr>
          <p:cNvPr id="22" name="Shape 20"/>
          <p:cNvSpPr/>
          <p:nvPr/>
        </p:nvSpPr>
        <p:spPr>
          <a:xfrm>
            <a:off x="457200" y="3959352"/>
            <a:ext cx="64008" cy="594360"/>
          </a:xfrm>
          <a:prstGeom prst="rect">
            <a:avLst/>
          </a:prstGeom>
          <a:solidFill>
            <a:srgbClr val="0D9488"/>
          </a:solidFill>
          <a:ln w="12700">
            <a:solidFill>
              <a:srgbClr val="0D9488"/>
            </a:solidFill>
            <a:prstDash val="solid"/>
          </a:ln>
        </p:spPr>
      </p:sp>
      <p:sp>
        <p:nvSpPr>
          <p:cNvPr id="23" name="Text 21"/>
          <p:cNvSpPr/>
          <p:nvPr/>
        </p:nvSpPr>
        <p:spPr>
          <a:xfrm>
            <a:off x="658368" y="3959352"/>
            <a:ext cx="3474720" cy="256032"/>
          </a:xfrm>
          <a:prstGeom prst="rect">
            <a:avLst/>
          </a:prstGeom>
          <a:noFill/>
          <a:ln/>
        </p:spPr>
        <p:txBody>
          <a:bodyPr wrap="square" lIns="0" tIns="0" rIns="0" bIns="0" rtlCol="0" anchor="ctr"/>
          <a:lstStyle/>
          <a:p>
            <a:pPr indent="0" marL="0">
              <a:buNone/>
            </a:pPr>
            <a:r>
              <a:rPr lang="en-US" sz="1200" b="1" dirty="0">
                <a:solidFill>
                  <a:srgbClr val="0B1D3E"/>
                </a:solidFill>
                <a:latin typeface="Calibri" pitchFamily="34" charset="0"/>
                <a:ea typeface="Calibri" pitchFamily="34" charset="-122"/>
                <a:cs typeface="Calibri" pitchFamily="34" charset="-120"/>
              </a:rPr>
              <a:t>Chat UI Integration</a:t>
            </a:r>
            <a:endParaRPr lang="en-US" sz="1200" dirty="0"/>
          </a:p>
        </p:txBody>
      </p:sp>
      <p:sp>
        <p:nvSpPr>
          <p:cNvPr id="24" name="Text 22"/>
          <p:cNvSpPr/>
          <p:nvPr/>
        </p:nvSpPr>
        <p:spPr>
          <a:xfrm>
            <a:off x="658368" y="4242816"/>
            <a:ext cx="34747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Conversational interface for SMEs to request and review draft responses</a:t>
            </a:r>
            <a:endParaRPr lang="en-US" sz="1000" dirty="0"/>
          </a:p>
        </p:txBody>
      </p:sp>
      <p:sp>
        <p:nvSpPr>
          <p:cNvPr id="25" name="Shape 23"/>
          <p:cNvSpPr/>
          <p:nvPr/>
        </p:nvSpPr>
        <p:spPr>
          <a:xfrm>
            <a:off x="4617720" y="914400"/>
            <a:ext cx="4251960" cy="384048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6" name="Shape 24"/>
          <p:cNvSpPr/>
          <p:nvPr/>
        </p:nvSpPr>
        <p:spPr>
          <a:xfrm>
            <a:off x="4617720" y="914400"/>
            <a:ext cx="4251960" cy="566928"/>
          </a:xfrm>
          <a:prstGeom prst="rect">
            <a:avLst/>
          </a:prstGeom>
          <a:solidFill>
            <a:srgbClr val="0F766E"/>
          </a:solidFill>
          <a:ln w="12700">
            <a:solidFill>
              <a:srgbClr val="0F766E"/>
            </a:solidFill>
            <a:prstDash val="solid"/>
          </a:ln>
        </p:spPr>
      </p:sp>
      <p:sp>
        <p:nvSpPr>
          <p:cNvPr id="27" name="Shape 25"/>
          <p:cNvSpPr/>
          <p:nvPr/>
        </p:nvSpPr>
        <p:spPr>
          <a:xfrm>
            <a:off x="4617720" y="914400"/>
            <a:ext cx="64008" cy="3840480"/>
          </a:xfrm>
          <a:prstGeom prst="rect">
            <a:avLst/>
          </a:prstGeom>
          <a:solidFill>
            <a:srgbClr val="F97316"/>
          </a:solidFill>
          <a:ln w="12700">
            <a:solidFill>
              <a:srgbClr val="F97316"/>
            </a:solidFill>
            <a:prstDash val="solid"/>
          </a:ln>
        </p:spPr>
      </p:sp>
      <p:sp>
        <p:nvSpPr>
          <p:cNvPr id="28" name="Text 26"/>
          <p:cNvSpPr/>
          <p:nvPr/>
        </p:nvSpPr>
        <p:spPr>
          <a:xfrm>
            <a:off x="4800600" y="914400"/>
            <a:ext cx="1005840" cy="566928"/>
          </a:xfrm>
          <a:prstGeom prst="rect">
            <a:avLst/>
          </a:prstGeom>
          <a:noFill/>
          <a:ln/>
        </p:spPr>
        <p:txBody>
          <a:bodyPr wrap="square" lIns="0" tIns="0" rIns="0" bIns="0" rtlCol="0" anchor="ctr"/>
          <a:lstStyle/>
          <a:p>
            <a:pPr indent="0" marL="0">
              <a:buNone/>
            </a:pPr>
            <a:r>
              <a:rPr lang="en-US" sz="1200" b="1" dirty="0">
                <a:solidFill>
                  <a:srgbClr val="CCFBF1"/>
                </a:solidFill>
                <a:latin typeface="Calibri" pitchFamily="34" charset="0"/>
                <a:ea typeface="Calibri" pitchFamily="34" charset="-122"/>
                <a:cs typeface="Calibri" pitchFamily="34" charset="-120"/>
              </a:rPr>
              <a:t>Phase 2</a:t>
            </a:r>
            <a:endParaRPr lang="en-US" sz="1200" dirty="0"/>
          </a:p>
        </p:txBody>
      </p:sp>
      <p:sp>
        <p:nvSpPr>
          <p:cNvPr id="29" name="Text 27"/>
          <p:cNvSpPr/>
          <p:nvPr/>
        </p:nvSpPr>
        <p:spPr>
          <a:xfrm>
            <a:off x="5760720" y="914400"/>
            <a:ext cx="29260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Automation</a:t>
            </a:r>
            <a:endParaRPr lang="en-US" sz="1400" dirty="0"/>
          </a:p>
        </p:txBody>
      </p:sp>
      <p:sp>
        <p:nvSpPr>
          <p:cNvPr id="30" name="Shape 28"/>
          <p:cNvSpPr/>
          <p:nvPr/>
        </p:nvSpPr>
        <p:spPr>
          <a:xfrm>
            <a:off x="4800600" y="1627632"/>
            <a:ext cx="64008" cy="594360"/>
          </a:xfrm>
          <a:prstGeom prst="rect">
            <a:avLst/>
          </a:prstGeom>
          <a:solidFill>
            <a:srgbClr val="F97316"/>
          </a:solidFill>
          <a:ln w="12700">
            <a:solidFill>
              <a:srgbClr val="F97316"/>
            </a:solidFill>
            <a:prstDash val="solid"/>
          </a:ln>
        </p:spPr>
      </p:sp>
      <p:sp>
        <p:nvSpPr>
          <p:cNvPr id="31" name="Text 29"/>
          <p:cNvSpPr/>
          <p:nvPr/>
        </p:nvSpPr>
        <p:spPr>
          <a:xfrm>
            <a:off x="5001768" y="1627632"/>
            <a:ext cx="3749040" cy="256032"/>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Question Extraction</a:t>
            </a:r>
            <a:endParaRPr lang="en-US" sz="1200" dirty="0"/>
          </a:p>
        </p:txBody>
      </p:sp>
      <p:sp>
        <p:nvSpPr>
          <p:cNvPr id="32" name="Text 30"/>
          <p:cNvSpPr/>
          <p:nvPr/>
        </p:nvSpPr>
        <p:spPr>
          <a:xfrm>
            <a:off x="5001768" y="1911096"/>
            <a:ext cx="374904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AI identifies, categorizes, and structures questions from uploaded RFP documents</a:t>
            </a:r>
            <a:endParaRPr lang="en-US" sz="1000" dirty="0"/>
          </a:p>
        </p:txBody>
      </p:sp>
      <p:sp>
        <p:nvSpPr>
          <p:cNvPr id="33" name="Shape 31"/>
          <p:cNvSpPr/>
          <p:nvPr/>
        </p:nvSpPr>
        <p:spPr>
          <a:xfrm>
            <a:off x="4800600" y="2404872"/>
            <a:ext cx="64008" cy="594360"/>
          </a:xfrm>
          <a:prstGeom prst="rect">
            <a:avLst/>
          </a:prstGeom>
          <a:solidFill>
            <a:srgbClr val="F97316"/>
          </a:solidFill>
          <a:ln w="12700">
            <a:solidFill>
              <a:srgbClr val="F97316"/>
            </a:solidFill>
            <a:prstDash val="solid"/>
          </a:ln>
        </p:spPr>
      </p:sp>
      <p:sp>
        <p:nvSpPr>
          <p:cNvPr id="34" name="Text 32"/>
          <p:cNvSpPr/>
          <p:nvPr/>
        </p:nvSpPr>
        <p:spPr>
          <a:xfrm>
            <a:off x="5001768" y="2404872"/>
            <a:ext cx="3749040" cy="256032"/>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Auto Consolidation</a:t>
            </a:r>
            <a:endParaRPr lang="en-US" sz="1200" dirty="0"/>
          </a:p>
        </p:txBody>
      </p:sp>
      <p:sp>
        <p:nvSpPr>
          <p:cNvPr id="35" name="Text 33"/>
          <p:cNvSpPr/>
          <p:nvPr/>
        </p:nvSpPr>
        <p:spPr>
          <a:xfrm>
            <a:off x="5001768" y="2688336"/>
            <a:ext cx="374904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Automatically merge approved responses into master RFP template</a:t>
            </a:r>
            <a:endParaRPr lang="en-US" sz="1000" dirty="0"/>
          </a:p>
        </p:txBody>
      </p:sp>
      <p:sp>
        <p:nvSpPr>
          <p:cNvPr id="36" name="Shape 34"/>
          <p:cNvSpPr/>
          <p:nvPr/>
        </p:nvSpPr>
        <p:spPr>
          <a:xfrm>
            <a:off x="4800600" y="3182112"/>
            <a:ext cx="64008" cy="594360"/>
          </a:xfrm>
          <a:prstGeom prst="rect">
            <a:avLst/>
          </a:prstGeom>
          <a:solidFill>
            <a:srgbClr val="F97316"/>
          </a:solidFill>
          <a:ln w="12700">
            <a:solidFill>
              <a:srgbClr val="F97316"/>
            </a:solidFill>
            <a:prstDash val="solid"/>
          </a:ln>
        </p:spPr>
      </p:sp>
      <p:sp>
        <p:nvSpPr>
          <p:cNvPr id="37" name="Text 35"/>
          <p:cNvSpPr/>
          <p:nvPr/>
        </p:nvSpPr>
        <p:spPr>
          <a:xfrm>
            <a:off x="5001768" y="3182112"/>
            <a:ext cx="3749040" cy="256032"/>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Multi-format Support</a:t>
            </a:r>
            <a:endParaRPr lang="en-US" sz="1200" dirty="0"/>
          </a:p>
        </p:txBody>
      </p:sp>
      <p:sp>
        <p:nvSpPr>
          <p:cNvPr id="38" name="Text 36"/>
          <p:cNvSpPr/>
          <p:nvPr/>
        </p:nvSpPr>
        <p:spPr>
          <a:xfrm>
            <a:off x="5001768" y="3465576"/>
            <a:ext cx="374904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Process PDF, Word, and Excel formats with table extraction</a:t>
            </a:r>
            <a:endParaRPr lang="en-US" sz="1000" dirty="0"/>
          </a:p>
        </p:txBody>
      </p:sp>
      <p:sp>
        <p:nvSpPr>
          <p:cNvPr id="39" name="Shape 37"/>
          <p:cNvSpPr/>
          <p:nvPr/>
        </p:nvSpPr>
        <p:spPr>
          <a:xfrm>
            <a:off x="4800600" y="3959352"/>
            <a:ext cx="64008" cy="594360"/>
          </a:xfrm>
          <a:prstGeom prst="rect">
            <a:avLst/>
          </a:prstGeom>
          <a:solidFill>
            <a:srgbClr val="F97316"/>
          </a:solidFill>
          <a:ln w="12700">
            <a:solidFill>
              <a:srgbClr val="F97316"/>
            </a:solidFill>
            <a:prstDash val="solid"/>
          </a:ln>
        </p:spPr>
      </p:sp>
      <p:sp>
        <p:nvSpPr>
          <p:cNvPr id="40" name="Text 38"/>
          <p:cNvSpPr/>
          <p:nvPr/>
        </p:nvSpPr>
        <p:spPr>
          <a:xfrm>
            <a:off x="5001768" y="3959352"/>
            <a:ext cx="3749040" cy="256032"/>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webSupport Feedback</a:t>
            </a:r>
            <a:endParaRPr lang="en-US" sz="1200" dirty="0"/>
          </a:p>
        </p:txBody>
      </p:sp>
      <p:sp>
        <p:nvSpPr>
          <p:cNvPr id="41" name="Text 39"/>
          <p:cNvSpPr/>
          <p:nvPr/>
        </p:nvSpPr>
        <p:spPr>
          <a:xfrm>
            <a:off x="5001768" y="4242816"/>
            <a:ext cx="374904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Approved responses automatically uploaded back to the knowledge base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RFP Response Process Flow — AI-Assisted</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17</a:t>
            </a:r>
            <a:endParaRPr lang="en-US" sz="700" dirty="0"/>
          </a:p>
        </p:txBody>
      </p:sp>
      <p:sp>
        <p:nvSpPr>
          <p:cNvPr id="8" name="Shape 6"/>
          <p:cNvSpPr/>
          <p:nvPr/>
        </p:nvSpPr>
        <p:spPr>
          <a:xfrm>
            <a:off x="274320"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886968"/>
            <a:ext cx="1572768" cy="347472"/>
          </a:xfrm>
          <a:prstGeom prst="rect">
            <a:avLst/>
          </a:prstGeom>
          <a:solidFill>
            <a:srgbClr val="0B1D3E"/>
          </a:solidFill>
          <a:ln w="12700">
            <a:solidFill>
              <a:srgbClr val="0B1D3E"/>
            </a:solidFill>
            <a:prstDash val="solid"/>
          </a:ln>
        </p:spPr>
      </p:sp>
      <p:sp>
        <p:nvSpPr>
          <p:cNvPr id="10" name="Text 8"/>
          <p:cNvSpPr/>
          <p:nvPr/>
        </p:nvSpPr>
        <p:spPr>
          <a:xfrm>
            <a:off x="320040"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566928"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Receive RFP Docs</a:t>
            </a:r>
            <a:endParaRPr lang="en-US" sz="950" dirty="0"/>
          </a:p>
        </p:txBody>
      </p:sp>
      <p:sp>
        <p:nvSpPr>
          <p:cNvPr id="12" name="Text 10"/>
          <p:cNvSpPr/>
          <p:nvPr/>
        </p:nvSpPr>
        <p:spPr>
          <a:xfrm>
            <a:off x="365760"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PDF · Word · Excel</a:t>
            </a:r>
            <a:endParaRPr lang="en-US" sz="950" dirty="0"/>
          </a:p>
        </p:txBody>
      </p:sp>
      <p:sp>
        <p:nvSpPr>
          <p:cNvPr id="13" name="Text 11"/>
          <p:cNvSpPr/>
          <p:nvPr/>
        </p:nvSpPr>
        <p:spPr>
          <a:xfrm>
            <a:off x="1847088"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2002536"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5" name="Shape 13"/>
          <p:cNvSpPr/>
          <p:nvPr/>
        </p:nvSpPr>
        <p:spPr>
          <a:xfrm>
            <a:off x="2002536" y="886968"/>
            <a:ext cx="1572768" cy="347472"/>
          </a:xfrm>
          <a:prstGeom prst="rect">
            <a:avLst/>
          </a:prstGeom>
          <a:solidFill>
            <a:srgbClr val="1D4ED8"/>
          </a:solidFill>
          <a:ln w="12700">
            <a:solidFill>
              <a:srgbClr val="1D4ED8"/>
            </a:solidFill>
            <a:prstDash val="solid"/>
          </a:ln>
        </p:spPr>
      </p:sp>
      <p:sp>
        <p:nvSpPr>
          <p:cNvPr id="16" name="Text 14"/>
          <p:cNvSpPr/>
          <p:nvPr/>
        </p:nvSpPr>
        <p:spPr>
          <a:xfrm>
            <a:off x="2048256"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2</a:t>
            </a:r>
            <a:endParaRPr lang="en-US" sz="1000" dirty="0"/>
          </a:p>
        </p:txBody>
      </p:sp>
      <p:sp>
        <p:nvSpPr>
          <p:cNvPr id="17" name="Text 15"/>
          <p:cNvSpPr/>
          <p:nvPr/>
        </p:nvSpPr>
        <p:spPr>
          <a:xfrm>
            <a:off x="2295144"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AI Ingestion Pipeline</a:t>
            </a:r>
            <a:endParaRPr lang="en-US" sz="950" dirty="0"/>
          </a:p>
        </p:txBody>
      </p:sp>
      <p:sp>
        <p:nvSpPr>
          <p:cNvPr id="18" name="Text 16"/>
          <p:cNvSpPr/>
          <p:nvPr/>
        </p:nvSpPr>
        <p:spPr>
          <a:xfrm>
            <a:off x="2093976"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Document parsing + table extraction</a:t>
            </a:r>
            <a:endParaRPr lang="en-US" sz="950" dirty="0"/>
          </a:p>
        </p:txBody>
      </p:sp>
      <p:sp>
        <p:nvSpPr>
          <p:cNvPr id="19" name="Text 17"/>
          <p:cNvSpPr/>
          <p:nvPr/>
        </p:nvSpPr>
        <p:spPr>
          <a:xfrm>
            <a:off x="3575304"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3730752"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1" name="Shape 19"/>
          <p:cNvSpPr/>
          <p:nvPr/>
        </p:nvSpPr>
        <p:spPr>
          <a:xfrm>
            <a:off x="3730752" y="886968"/>
            <a:ext cx="1572768" cy="347472"/>
          </a:xfrm>
          <a:prstGeom prst="rect">
            <a:avLst/>
          </a:prstGeom>
          <a:solidFill>
            <a:srgbClr val="0F766E"/>
          </a:solidFill>
          <a:ln w="12700">
            <a:solidFill>
              <a:srgbClr val="0F766E"/>
            </a:solidFill>
            <a:prstDash val="solid"/>
          </a:ln>
        </p:spPr>
      </p:sp>
      <p:sp>
        <p:nvSpPr>
          <p:cNvPr id="22" name="Text 20"/>
          <p:cNvSpPr/>
          <p:nvPr/>
        </p:nvSpPr>
        <p:spPr>
          <a:xfrm>
            <a:off x="3776472"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3</a:t>
            </a:r>
            <a:endParaRPr lang="en-US" sz="1000" dirty="0"/>
          </a:p>
        </p:txBody>
      </p:sp>
      <p:sp>
        <p:nvSpPr>
          <p:cNvPr id="23" name="Text 21"/>
          <p:cNvSpPr/>
          <p:nvPr/>
        </p:nvSpPr>
        <p:spPr>
          <a:xfrm>
            <a:off x="4023360"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Question Extraction</a:t>
            </a:r>
            <a:endParaRPr lang="en-US" sz="950" dirty="0"/>
          </a:p>
        </p:txBody>
      </p:sp>
      <p:sp>
        <p:nvSpPr>
          <p:cNvPr id="24" name="Text 22"/>
          <p:cNvSpPr/>
          <p:nvPr/>
        </p:nvSpPr>
        <p:spPr>
          <a:xfrm>
            <a:off x="3822192"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AI identifies &amp; categorizes questions</a:t>
            </a:r>
            <a:endParaRPr lang="en-US" sz="950" dirty="0"/>
          </a:p>
        </p:txBody>
      </p:sp>
      <p:sp>
        <p:nvSpPr>
          <p:cNvPr id="25" name="Text 23"/>
          <p:cNvSpPr/>
          <p:nvPr/>
        </p:nvSpPr>
        <p:spPr>
          <a:xfrm>
            <a:off x="5303520"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5458968"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7" name="Shape 25"/>
          <p:cNvSpPr/>
          <p:nvPr/>
        </p:nvSpPr>
        <p:spPr>
          <a:xfrm>
            <a:off x="5458968" y="886968"/>
            <a:ext cx="1572768" cy="347472"/>
          </a:xfrm>
          <a:prstGeom prst="rect">
            <a:avLst/>
          </a:prstGeom>
          <a:solidFill>
            <a:srgbClr val="065F46"/>
          </a:solidFill>
          <a:ln w="12700">
            <a:solidFill>
              <a:srgbClr val="065F46"/>
            </a:solidFill>
            <a:prstDash val="solid"/>
          </a:ln>
        </p:spPr>
      </p:sp>
      <p:sp>
        <p:nvSpPr>
          <p:cNvPr id="28" name="Text 26"/>
          <p:cNvSpPr/>
          <p:nvPr/>
        </p:nvSpPr>
        <p:spPr>
          <a:xfrm>
            <a:off x="5504688"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4</a:t>
            </a:r>
            <a:endParaRPr lang="en-US" sz="1000" dirty="0"/>
          </a:p>
        </p:txBody>
      </p:sp>
      <p:sp>
        <p:nvSpPr>
          <p:cNvPr id="29" name="Text 27"/>
          <p:cNvSpPr/>
          <p:nvPr/>
        </p:nvSpPr>
        <p:spPr>
          <a:xfrm>
            <a:off x="5751576"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RAG Search</a:t>
            </a:r>
            <a:endParaRPr lang="en-US" sz="950" dirty="0"/>
          </a:p>
        </p:txBody>
      </p:sp>
      <p:sp>
        <p:nvSpPr>
          <p:cNvPr id="30" name="Text 28"/>
          <p:cNvSpPr/>
          <p:nvPr/>
        </p:nvSpPr>
        <p:spPr>
          <a:xfrm>
            <a:off x="5550408"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Vector search + semantic matching against webSupport</a:t>
            </a:r>
            <a:endParaRPr lang="en-US" sz="950" dirty="0"/>
          </a:p>
        </p:txBody>
      </p:sp>
      <p:sp>
        <p:nvSpPr>
          <p:cNvPr id="31" name="Text 29"/>
          <p:cNvSpPr/>
          <p:nvPr/>
        </p:nvSpPr>
        <p:spPr>
          <a:xfrm>
            <a:off x="7031736" y="1591056"/>
            <a:ext cx="173736"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7187184" y="886968"/>
            <a:ext cx="1572768" cy="176479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33" name="Shape 31"/>
          <p:cNvSpPr/>
          <p:nvPr/>
        </p:nvSpPr>
        <p:spPr>
          <a:xfrm>
            <a:off x="7187184" y="886968"/>
            <a:ext cx="1572768" cy="347472"/>
          </a:xfrm>
          <a:prstGeom prst="rect">
            <a:avLst/>
          </a:prstGeom>
          <a:solidFill>
            <a:srgbClr val="7C3AED"/>
          </a:solidFill>
          <a:ln w="12700">
            <a:solidFill>
              <a:srgbClr val="7C3AED"/>
            </a:solidFill>
            <a:prstDash val="solid"/>
          </a:ln>
        </p:spPr>
      </p:sp>
      <p:sp>
        <p:nvSpPr>
          <p:cNvPr id="34" name="Text 32"/>
          <p:cNvSpPr/>
          <p:nvPr/>
        </p:nvSpPr>
        <p:spPr>
          <a:xfrm>
            <a:off x="7232904" y="9235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7479792" y="923544"/>
            <a:ext cx="1225296"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LLM Draft Response</a:t>
            </a:r>
            <a:endParaRPr lang="en-US" sz="950" dirty="0"/>
          </a:p>
        </p:txBody>
      </p:sp>
      <p:sp>
        <p:nvSpPr>
          <p:cNvPr id="36" name="Text 34"/>
          <p:cNvSpPr/>
          <p:nvPr/>
        </p:nvSpPr>
        <p:spPr>
          <a:xfrm>
            <a:off x="7278624" y="1307592"/>
            <a:ext cx="1389888" cy="123444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Using historical approved answers as context</a:t>
            </a:r>
            <a:endParaRPr lang="en-US" sz="950" dirty="0"/>
          </a:p>
        </p:txBody>
      </p:sp>
      <p:sp>
        <p:nvSpPr>
          <p:cNvPr id="37" name="Text 35"/>
          <p:cNvSpPr/>
          <p:nvPr/>
        </p:nvSpPr>
        <p:spPr>
          <a:xfrm>
            <a:off x="7772400" y="2606040"/>
            <a:ext cx="914400" cy="320040"/>
          </a:xfrm>
          <a:prstGeom prst="rect">
            <a:avLst/>
          </a:prstGeom>
          <a:noFill/>
          <a:ln/>
        </p:spPr>
        <p:txBody>
          <a:bodyPr wrap="square" lIns="0" tIns="0" rIns="0" bIns="0" rtlCol="0" anchor="ctr"/>
          <a:lstStyle/>
          <a:p>
            <a:pPr algn="ctr" indent="0" marL="0">
              <a:buNone/>
            </a:pPr>
            <a:r>
              <a:rPr lang="en-US" sz="2000" dirty="0">
                <a:solidFill>
                  <a:srgbClr val="0D9488"/>
                </a:solidFill>
                <a:latin typeface="Calibri" pitchFamily="34" charset="0"/>
                <a:ea typeface="Calibri" pitchFamily="34" charset="-122"/>
                <a:cs typeface="Calibri" pitchFamily="34" charset="-120"/>
              </a:rPr>
              <a:t>↓</a:t>
            </a:r>
            <a:endParaRPr lang="en-US" sz="2000" dirty="0"/>
          </a:p>
        </p:txBody>
      </p:sp>
      <p:sp>
        <p:nvSpPr>
          <p:cNvPr id="38" name="Shape 36"/>
          <p:cNvSpPr/>
          <p:nvPr/>
        </p:nvSpPr>
        <p:spPr>
          <a:xfrm>
            <a:off x="66751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39" name="Shape 37"/>
          <p:cNvSpPr/>
          <p:nvPr/>
        </p:nvSpPr>
        <p:spPr>
          <a:xfrm>
            <a:off x="6675120" y="2944368"/>
            <a:ext cx="1901952" cy="347472"/>
          </a:xfrm>
          <a:prstGeom prst="rect">
            <a:avLst/>
          </a:prstGeom>
          <a:solidFill>
            <a:srgbClr val="B45309"/>
          </a:solidFill>
          <a:ln w="12700">
            <a:solidFill>
              <a:srgbClr val="B45309"/>
            </a:solidFill>
            <a:prstDash val="solid"/>
          </a:ln>
        </p:spPr>
      </p:sp>
      <p:sp>
        <p:nvSpPr>
          <p:cNvPr id="40" name="Text 38"/>
          <p:cNvSpPr/>
          <p:nvPr/>
        </p:nvSpPr>
        <p:spPr>
          <a:xfrm>
            <a:off x="67208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69677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SME Review / Edit</a:t>
            </a:r>
            <a:endParaRPr lang="en-US" sz="950" dirty="0"/>
          </a:p>
        </p:txBody>
      </p:sp>
      <p:sp>
        <p:nvSpPr>
          <p:cNvPr id="42" name="Text 40"/>
          <p:cNvSpPr/>
          <p:nvPr/>
        </p:nvSpPr>
        <p:spPr>
          <a:xfrm>
            <a:off x="67665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Human-in-the-loop approval</a:t>
            </a:r>
            <a:endParaRPr lang="en-US" sz="950" dirty="0"/>
          </a:p>
        </p:txBody>
      </p:sp>
      <p:sp>
        <p:nvSpPr>
          <p:cNvPr id="43" name="Text 41"/>
          <p:cNvSpPr/>
          <p:nvPr/>
        </p:nvSpPr>
        <p:spPr>
          <a:xfrm>
            <a:off x="6501384" y="3648456"/>
            <a:ext cx="192024"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44" name="Shape 42"/>
          <p:cNvSpPr/>
          <p:nvPr/>
        </p:nvSpPr>
        <p:spPr>
          <a:xfrm>
            <a:off x="46177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45" name="Shape 43"/>
          <p:cNvSpPr/>
          <p:nvPr/>
        </p:nvSpPr>
        <p:spPr>
          <a:xfrm>
            <a:off x="4617720" y="2944368"/>
            <a:ext cx="1901952" cy="347472"/>
          </a:xfrm>
          <a:prstGeom prst="rect">
            <a:avLst/>
          </a:prstGeom>
          <a:solidFill>
            <a:srgbClr val="9D174D"/>
          </a:solidFill>
          <a:ln w="12700">
            <a:solidFill>
              <a:srgbClr val="9D174D"/>
            </a:solidFill>
            <a:prstDash val="solid"/>
          </a:ln>
        </p:spPr>
      </p:sp>
      <p:sp>
        <p:nvSpPr>
          <p:cNvPr id="46" name="Text 44"/>
          <p:cNvSpPr/>
          <p:nvPr/>
        </p:nvSpPr>
        <p:spPr>
          <a:xfrm>
            <a:off x="46634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7</a:t>
            </a:r>
            <a:endParaRPr lang="en-US" sz="1000" dirty="0"/>
          </a:p>
        </p:txBody>
      </p:sp>
      <p:sp>
        <p:nvSpPr>
          <p:cNvPr id="47" name="Text 45"/>
          <p:cNvSpPr/>
          <p:nvPr/>
        </p:nvSpPr>
        <p:spPr>
          <a:xfrm>
            <a:off x="49103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Proposal Approval</a:t>
            </a:r>
            <a:endParaRPr lang="en-US" sz="950" dirty="0"/>
          </a:p>
        </p:txBody>
      </p:sp>
      <p:sp>
        <p:nvSpPr>
          <p:cNvPr id="48" name="Text 46"/>
          <p:cNvSpPr/>
          <p:nvPr/>
        </p:nvSpPr>
        <p:spPr>
          <a:xfrm>
            <a:off x="47091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webDOC approval workflow</a:t>
            </a:r>
            <a:endParaRPr lang="en-US" sz="950" dirty="0"/>
          </a:p>
        </p:txBody>
      </p:sp>
      <p:sp>
        <p:nvSpPr>
          <p:cNvPr id="49" name="Text 47"/>
          <p:cNvSpPr/>
          <p:nvPr/>
        </p:nvSpPr>
        <p:spPr>
          <a:xfrm>
            <a:off x="4443984" y="3648456"/>
            <a:ext cx="192024"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50" name="Shape 48"/>
          <p:cNvSpPr/>
          <p:nvPr/>
        </p:nvSpPr>
        <p:spPr>
          <a:xfrm>
            <a:off x="25603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51" name="Shape 49"/>
          <p:cNvSpPr/>
          <p:nvPr/>
        </p:nvSpPr>
        <p:spPr>
          <a:xfrm>
            <a:off x="2560320" y="2944368"/>
            <a:ext cx="1901952" cy="347472"/>
          </a:xfrm>
          <a:prstGeom prst="rect">
            <a:avLst/>
          </a:prstGeom>
          <a:solidFill>
            <a:srgbClr val="1E3A5F"/>
          </a:solidFill>
          <a:ln w="12700">
            <a:solidFill>
              <a:srgbClr val="1E3A5F"/>
            </a:solidFill>
            <a:prstDash val="solid"/>
          </a:ln>
        </p:spPr>
      </p:sp>
      <p:sp>
        <p:nvSpPr>
          <p:cNvPr id="52" name="Text 50"/>
          <p:cNvSpPr/>
          <p:nvPr/>
        </p:nvSpPr>
        <p:spPr>
          <a:xfrm>
            <a:off x="26060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8</a:t>
            </a:r>
            <a:endParaRPr lang="en-US" sz="1000" dirty="0"/>
          </a:p>
        </p:txBody>
      </p:sp>
      <p:sp>
        <p:nvSpPr>
          <p:cNvPr id="53" name="Text 51"/>
          <p:cNvSpPr/>
          <p:nvPr/>
        </p:nvSpPr>
        <p:spPr>
          <a:xfrm>
            <a:off x="28529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Auto Consolidation</a:t>
            </a:r>
            <a:endParaRPr lang="en-US" sz="950" dirty="0"/>
          </a:p>
        </p:txBody>
      </p:sp>
      <p:sp>
        <p:nvSpPr>
          <p:cNvPr id="54" name="Text 52"/>
          <p:cNvSpPr/>
          <p:nvPr/>
        </p:nvSpPr>
        <p:spPr>
          <a:xfrm>
            <a:off x="26517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Merge into master template automatically</a:t>
            </a:r>
            <a:endParaRPr lang="en-US" sz="950" dirty="0"/>
          </a:p>
        </p:txBody>
      </p:sp>
      <p:sp>
        <p:nvSpPr>
          <p:cNvPr id="55" name="Text 53"/>
          <p:cNvSpPr/>
          <p:nvPr/>
        </p:nvSpPr>
        <p:spPr>
          <a:xfrm>
            <a:off x="2386584" y="3648456"/>
            <a:ext cx="192024" cy="347472"/>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56" name="Shape 54"/>
          <p:cNvSpPr/>
          <p:nvPr/>
        </p:nvSpPr>
        <p:spPr>
          <a:xfrm>
            <a:off x="502920" y="2944368"/>
            <a:ext cx="1901952" cy="1673352"/>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57" name="Shape 55"/>
          <p:cNvSpPr/>
          <p:nvPr/>
        </p:nvSpPr>
        <p:spPr>
          <a:xfrm>
            <a:off x="502920" y="2944368"/>
            <a:ext cx="1901952" cy="347472"/>
          </a:xfrm>
          <a:prstGeom prst="rect">
            <a:avLst/>
          </a:prstGeom>
          <a:solidFill>
            <a:srgbClr val="166534"/>
          </a:solidFill>
          <a:ln w="12700">
            <a:solidFill>
              <a:srgbClr val="166534"/>
            </a:solidFill>
            <a:prstDash val="solid"/>
          </a:ln>
        </p:spPr>
      </p:sp>
      <p:sp>
        <p:nvSpPr>
          <p:cNvPr id="58" name="Text 56"/>
          <p:cNvSpPr/>
          <p:nvPr/>
        </p:nvSpPr>
        <p:spPr>
          <a:xfrm>
            <a:off x="548640" y="2980944"/>
            <a:ext cx="274320" cy="274320"/>
          </a:xfrm>
          <a:prstGeom prst="rect">
            <a:avLst/>
          </a:prstGeom>
          <a:noFill/>
          <a:ln/>
        </p:spPr>
        <p:txBody>
          <a:bodyPr wrap="square" lIns="0" tIns="0" rIns="0" bIns="0" rtlCol="0" anchor="ctr"/>
          <a:lstStyle/>
          <a:p>
            <a:pPr algn="ctr" indent="0" marL="0">
              <a:buNone/>
            </a:pPr>
            <a:r>
              <a:rPr lang="en-US" sz="1000" b="1" dirty="0">
                <a:solidFill>
                  <a:srgbClr val="CCFBF1"/>
                </a:solidFill>
                <a:latin typeface="Calibri" pitchFamily="34" charset="0"/>
                <a:ea typeface="Calibri" pitchFamily="34" charset="-122"/>
                <a:cs typeface="Calibri" pitchFamily="34" charset="-120"/>
              </a:rPr>
              <a:t>9</a:t>
            </a:r>
            <a:endParaRPr lang="en-US" sz="1000" dirty="0"/>
          </a:p>
        </p:txBody>
      </p:sp>
      <p:sp>
        <p:nvSpPr>
          <p:cNvPr id="59" name="Text 57"/>
          <p:cNvSpPr/>
          <p:nvPr/>
        </p:nvSpPr>
        <p:spPr>
          <a:xfrm>
            <a:off x="795528" y="2980944"/>
            <a:ext cx="15544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KB Update</a:t>
            </a:r>
            <a:endParaRPr lang="en-US" sz="950" dirty="0"/>
          </a:p>
        </p:txBody>
      </p:sp>
      <p:sp>
        <p:nvSpPr>
          <p:cNvPr id="60" name="Text 58"/>
          <p:cNvSpPr/>
          <p:nvPr/>
        </p:nvSpPr>
        <p:spPr>
          <a:xfrm>
            <a:off x="594360" y="3364992"/>
            <a:ext cx="1719072" cy="1188720"/>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Approved responses uploaded back to webSupport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B1D3E"/>
          </a:solidFill>
          <a:ln w="12700">
            <a:solidFill>
              <a:srgbClr val="0B1D3E"/>
            </a:solidFill>
            <a:prstDash val="solid"/>
          </a:ln>
        </p:spPr>
      </p:sp>
      <p:sp>
        <p:nvSpPr>
          <p:cNvPr id="3" name="Shape 1"/>
          <p:cNvSpPr/>
          <p:nvPr/>
        </p:nvSpPr>
        <p:spPr>
          <a:xfrm>
            <a:off x="0" y="0"/>
            <a:ext cx="82296" cy="749808"/>
          </a:xfrm>
          <a:prstGeom prst="rect">
            <a:avLst/>
          </a:prstGeom>
          <a:solidFill>
            <a:srgbClr val="0D9488"/>
          </a:solidFill>
          <a:ln w="12700">
            <a:solidFill>
              <a:srgbClr val="0D9488"/>
            </a:solidFill>
            <a:prstDash val="solid"/>
          </a:ln>
        </p:spPr>
      </p:sp>
      <p:sp>
        <p:nvSpPr>
          <p:cNvPr id="4" name="Text 2"/>
          <p:cNvSpPr/>
          <p:nvPr/>
        </p:nvSpPr>
        <p:spPr>
          <a:xfrm>
            <a:off x="228600" y="0"/>
            <a:ext cx="8686800" cy="749808"/>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Current OATI AI Models</a:t>
            </a:r>
            <a:endParaRPr lang="en-US" sz="2400" dirty="0"/>
          </a:p>
        </p:txBody>
      </p:sp>
      <p:sp>
        <p:nvSpPr>
          <p:cNvPr id="5" name="Shape 3"/>
          <p:cNvSpPr/>
          <p:nvPr/>
        </p:nvSpPr>
        <p:spPr>
          <a:xfrm>
            <a:off x="0" y="4937760"/>
            <a:ext cx="9144000" cy="205740"/>
          </a:xfrm>
          <a:prstGeom prst="rect">
            <a:avLst/>
          </a:prstGeom>
          <a:solidFill>
            <a:srgbClr val="1A2942"/>
          </a:solidFill>
          <a:ln w="12700">
            <a:solidFill>
              <a:srgbClr val="1A2942"/>
            </a:solidFill>
            <a:prstDash val="solid"/>
          </a:ln>
        </p:spPr>
      </p:sp>
      <p:sp>
        <p:nvSpPr>
          <p:cNvPr id="6" name="Text 4"/>
          <p:cNvSpPr/>
          <p:nvPr/>
        </p:nvSpPr>
        <p:spPr>
          <a:xfrm>
            <a:off x="228600" y="4937760"/>
            <a:ext cx="7772400" cy="20574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7" name="Text 5"/>
          <p:cNvSpPr/>
          <p:nvPr/>
        </p:nvSpPr>
        <p:spPr>
          <a:xfrm>
            <a:off x="8503920" y="4937760"/>
            <a:ext cx="457200" cy="205740"/>
          </a:xfrm>
          <a:prstGeom prst="rect">
            <a:avLst/>
          </a:prstGeom>
          <a:noFill/>
          <a:ln/>
        </p:spPr>
        <p:txBody>
          <a:bodyPr wrap="square" lIns="0" tIns="0" rIns="0" bIns="0" rtlCol="0" anchor="ctr"/>
          <a:lstStyle/>
          <a:p>
            <a:pPr algn="r" indent="0" marL="0">
              <a:buNone/>
            </a:pPr>
            <a:r>
              <a:rPr lang="en-US" sz="700" dirty="0">
                <a:solidFill>
                  <a:srgbClr val="5B7FA6"/>
                </a:solidFill>
                <a:latin typeface="Calibri" pitchFamily="34" charset="0"/>
                <a:ea typeface="Calibri" pitchFamily="34" charset="-122"/>
                <a:cs typeface="Calibri" pitchFamily="34" charset="-120"/>
              </a:rPr>
              <a:t>18</a:t>
            </a:r>
            <a:endParaRPr lang="en-US" sz="700" dirty="0"/>
          </a:p>
        </p:txBody>
      </p:sp>
      <p:sp>
        <p:nvSpPr>
          <p:cNvPr id="8" name="Shape 6"/>
          <p:cNvSpPr/>
          <p:nvPr/>
        </p:nvSpPr>
        <p:spPr>
          <a:xfrm>
            <a:off x="274320" y="960120"/>
            <a:ext cx="4178808"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274320" y="960120"/>
            <a:ext cx="4178808" cy="502920"/>
          </a:xfrm>
          <a:prstGeom prst="rect">
            <a:avLst/>
          </a:prstGeom>
          <a:solidFill>
            <a:srgbClr val="0B1D3E"/>
          </a:solidFill>
          <a:ln w="12700">
            <a:solidFill>
              <a:srgbClr val="0B1D3E"/>
            </a:solidFill>
            <a:prstDash val="solid"/>
          </a:ln>
        </p:spPr>
      </p:sp>
      <p:sp>
        <p:nvSpPr>
          <p:cNvPr id="10" name="Shape 8"/>
          <p:cNvSpPr/>
          <p:nvPr/>
        </p:nvSpPr>
        <p:spPr>
          <a:xfrm>
            <a:off x="274320" y="960120"/>
            <a:ext cx="64008" cy="1737360"/>
          </a:xfrm>
          <a:prstGeom prst="rect">
            <a:avLst/>
          </a:prstGeom>
          <a:solidFill>
            <a:srgbClr val="0D9488"/>
          </a:solidFill>
          <a:ln w="12700">
            <a:solidFill>
              <a:srgbClr val="0D9488"/>
            </a:solidFill>
            <a:prstDash val="solid"/>
          </a:ln>
        </p:spPr>
      </p:sp>
      <p:sp>
        <p:nvSpPr>
          <p:cNvPr id="11" name="Text 9"/>
          <p:cNvSpPr/>
          <p:nvPr/>
        </p:nvSpPr>
        <p:spPr>
          <a:xfrm>
            <a:off x="457200" y="960120"/>
            <a:ext cx="2624328"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GPT OSS 120B</a:t>
            </a:r>
            <a:endParaRPr lang="en-US" sz="1400" dirty="0"/>
          </a:p>
        </p:txBody>
      </p:sp>
      <p:sp>
        <p:nvSpPr>
          <p:cNvPr id="12" name="Shape 10"/>
          <p:cNvSpPr/>
          <p:nvPr/>
        </p:nvSpPr>
        <p:spPr>
          <a:xfrm>
            <a:off x="3035808" y="1069848"/>
            <a:ext cx="1325880" cy="274320"/>
          </a:xfrm>
          <a:prstGeom prst="rect">
            <a:avLst/>
          </a:prstGeom>
          <a:solidFill>
            <a:srgbClr val="0B1D3E"/>
          </a:solidFill>
          <a:ln w="12700">
            <a:solidFill>
              <a:srgbClr val="FFFFFF"/>
            </a:solidFill>
            <a:prstDash val="solid"/>
          </a:ln>
        </p:spPr>
      </p:sp>
      <p:sp>
        <p:nvSpPr>
          <p:cNvPr id="13" name="Text 11"/>
          <p:cNvSpPr/>
          <p:nvPr/>
        </p:nvSpPr>
        <p:spPr>
          <a:xfrm>
            <a:off x="3035808" y="1069848"/>
            <a:ext cx="1325880" cy="2743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Off the shelf</a:t>
            </a:r>
            <a:endParaRPr lang="en-US" sz="850" dirty="0"/>
          </a:p>
        </p:txBody>
      </p:sp>
      <p:sp>
        <p:nvSpPr>
          <p:cNvPr id="14" name="Text 12"/>
          <p:cNvSpPr/>
          <p:nvPr/>
        </p:nvSpPr>
        <p:spPr>
          <a:xfrm>
            <a:off x="457200" y="1527048"/>
            <a:ext cx="3904488" cy="274320"/>
          </a:xfrm>
          <a:prstGeom prst="rect">
            <a:avLst/>
          </a:prstGeom>
          <a:noFill/>
          <a:ln/>
        </p:spPr>
        <p:txBody>
          <a:bodyPr wrap="square" lIns="0" tIns="0" rIns="0" bIns="0" rtlCol="0" anchor="ctr"/>
          <a:lstStyle/>
          <a:p>
            <a:pPr indent="0" marL="0">
              <a:buNone/>
            </a:pPr>
            <a:r>
              <a:rPr lang="en-US" sz="1100" b="1" dirty="0">
                <a:solidFill>
                  <a:srgbClr val="0B1D3E"/>
                </a:solidFill>
                <a:latin typeface="Calibri" pitchFamily="34" charset="0"/>
                <a:ea typeface="Calibri" pitchFamily="34" charset="-122"/>
                <a:cs typeface="Calibri" pitchFamily="34" charset="-120"/>
              </a:rPr>
              <a:t>LLM — Reasoning</a:t>
            </a:r>
            <a:endParaRPr lang="en-US" sz="1100" dirty="0"/>
          </a:p>
        </p:txBody>
      </p:sp>
      <p:sp>
        <p:nvSpPr>
          <p:cNvPr id="15" name="Text 13"/>
          <p:cNvSpPr/>
          <p:nvPr/>
        </p:nvSpPr>
        <p:spPr>
          <a:xfrm>
            <a:off x="457200" y="1847088"/>
            <a:ext cx="3904488" cy="74980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Determines which agents to call and the sequence of execution (orchestration layer)</a:t>
            </a:r>
            <a:endParaRPr lang="en-US" sz="1000" dirty="0"/>
          </a:p>
        </p:txBody>
      </p:sp>
      <p:sp>
        <p:nvSpPr>
          <p:cNvPr id="16" name="Shape 14"/>
          <p:cNvSpPr/>
          <p:nvPr/>
        </p:nvSpPr>
        <p:spPr>
          <a:xfrm>
            <a:off x="4681728" y="960120"/>
            <a:ext cx="4178808"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7" name="Shape 15"/>
          <p:cNvSpPr/>
          <p:nvPr/>
        </p:nvSpPr>
        <p:spPr>
          <a:xfrm>
            <a:off x="4681728" y="960120"/>
            <a:ext cx="4178808" cy="502920"/>
          </a:xfrm>
          <a:prstGeom prst="rect">
            <a:avLst/>
          </a:prstGeom>
          <a:solidFill>
            <a:srgbClr val="0F766E"/>
          </a:solidFill>
          <a:ln w="12700">
            <a:solidFill>
              <a:srgbClr val="0F766E"/>
            </a:solidFill>
            <a:prstDash val="solid"/>
          </a:ln>
        </p:spPr>
      </p:sp>
      <p:sp>
        <p:nvSpPr>
          <p:cNvPr id="18" name="Shape 16"/>
          <p:cNvSpPr/>
          <p:nvPr/>
        </p:nvSpPr>
        <p:spPr>
          <a:xfrm>
            <a:off x="4681728" y="960120"/>
            <a:ext cx="64008" cy="1737360"/>
          </a:xfrm>
          <a:prstGeom prst="rect">
            <a:avLst/>
          </a:prstGeom>
          <a:solidFill>
            <a:srgbClr val="F97316"/>
          </a:solidFill>
          <a:ln w="12700">
            <a:solidFill>
              <a:srgbClr val="F97316"/>
            </a:solidFill>
            <a:prstDash val="solid"/>
          </a:ln>
        </p:spPr>
      </p:sp>
      <p:sp>
        <p:nvSpPr>
          <p:cNvPr id="19" name="Text 17"/>
          <p:cNvSpPr/>
          <p:nvPr/>
        </p:nvSpPr>
        <p:spPr>
          <a:xfrm>
            <a:off x="4864608" y="960120"/>
            <a:ext cx="2624328"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Embedding Models</a:t>
            </a:r>
            <a:endParaRPr lang="en-US" sz="1400" dirty="0"/>
          </a:p>
        </p:txBody>
      </p:sp>
      <p:sp>
        <p:nvSpPr>
          <p:cNvPr id="20" name="Shape 18"/>
          <p:cNvSpPr/>
          <p:nvPr/>
        </p:nvSpPr>
        <p:spPr>
          <a:xfrm>
            <a:off x="7443216" y="1069848"/>
            <a:ext cx="1325880" cy="274320"/>
          </a:xfrm>
          <a:prstGeom prst="rect">
            <a:avLst/>
          </a:prstGeom>
          <a:solidFill>
            <a:srgbClr val="0B1D3E"/>
          </a:solidFill>
          <a:ln w="12700">
            <a:solidFill>
              <a:srgbClr val="FFFFFF"/>
            </a:solidFill>
            <a:prstDash val="solid"/>
          </a:ln>
        </p:spPr>
      </p:sp>
      <p:sp>
        <p:nvSpPr>
          <p:cNvPr id="21" name="Text 19"/>
          <p:cNvSpPr/>
          <p:nvPr/>
        </p:nvSpPr>
        <p:spPr>
          <a:xfrm>
            <a:off x="7443216" y="1069848"/>
            <a:ext cx="1325880" cy="2743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Off the shelf</a:t>
            </a:r>
            <a:endParaRPr lang="en-US" sz="850" dirty="0"/>
          </a:p>
        </p:txBody>
      </p:sp>
      <p:sp>
        <p:nvSpPr>
          <p:cNvPr id="22" name="Text 20"/>
          <p:cNvSpPr/>
          <p:nvPr/>
        </p:nvSpPr>
        <p:spPr>
          <a:xfrm>
            <a:off x="4864608" y="1527048"/>
            <a:ext cx="3904488" cy="274320"/>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Vector Embeddings</a:t>
            </a:r>
            <a:endParaRPr lang="en-US" sz="1100" dirty="0"/>
          </a:p>
        </p:txBody>
      </p:sp>
      <p:sp>
        <p:nvSpPr>
          <p:cNvPr id="23" name="Text 21"/>
          <p:cNvSpPr/>
          <p:nvPr/>
        </p:nvSpPr>
        <p:spPr>
          <a:xfrm>
            <a:off x="4864608" y="1847088"/>
            <a:ext cx="3904488" cy="74980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all-MiniLM-L6-v2  ·  nomic-embed-multimodal-7b  ·  bge-base-en-v1.5</a:t>
            </a:r>
            <a:endParaRPr lang="en-US" sz="1000" dirty="0"/>
          </a:p>
        </p:txBody>
      </p:sp>
      <p:sp>
        <p:nvSpPr>
          <p:cNvPr id="24" name="Shape 22"/>
          <p:cNvSpPr/>
          <p:nvPr/>
        </p:nvSpPr>
        <p:spPr>
          <a:xfrm>
            <a:off x="274320" y="2898648"/>
            <a:ext cx="4178808"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5" name="Shape 23"/>
          <p:cNvSpPr/>
          <p:nvPr/>
        </p:nvSpPr>
        <p:spPr>
          <a:xfrm>
            <a:off x="274320" y="2898648"/>
            <a:ext cx="4178808" cy="502920"/>
          </a:xfrm>
          <a:prstGeom prst="rect">
            <a:avLst/>
          </a:prstGeom>
          <a:solidFill>
            <a:srgbClr val="7C3AED"/>
          </a:solidFill>
          <a:ln w="12700">
            <a:solidFill>
              <a:srgbClr val="7C3AED"/>
            </a:solidFill>
            <a:prstDash val="solid"/>
          </a:ln>
        </p:spPr>
      </p:sp>
      <p:sp>
        <p:nvSpPr>
          <p:cNvPr id="26" name="Shape 24"/>
          <p:cNvSpPr/>
          <p:nvPr/>
        </p:nvSpPr>
        <p:spPr>
          <a:xfrm>
            <a:off x="274320" y="2898648"/>
            <a:ext cx="64008" cy="1737360"/>
          </a:xfrm>
          <a:prstGeom prst="rect">
            <a:avLst/>
          </a:prstGeom>
          <a:solidFill>
            <a:srgbClr val="0D9488"/>
          </a:solidFill>
          <a:ln w="12700">
            <a:solidFill>
              <a:srgbClr val="0D9488"/>
            </a:solidFill>
            <a:prstDash val="solid"/>
          </a:ln>
        </p:spPr>
      </p:sp>
      <p:sp>
        <p:nvSpPr>
          <p:cNvPr id="27" name="Text 25"/>
          <p:cNvSpPr/>
          <p:nvPr/>
        </p:nvSpPr>
        <p:spPr>
          <a:xfrm>
            <a:off x="457200" y="2898648"/>
            <a:ext cx="2624328"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LLAMA 8B</a:t>
            </a:r>
            <a:endParaRPr lang="en-US" sz="1400" dirty="0"/>
          </a:p>
        </p:txBody>
      </p:sp>
      <p:sp>
        <p:nvSpPr>
          <p:cNvPr id="28" name="Shape 26"/>
          <p:cNvSpPr/>
          <p:nvPr/>
        </p:nvSpPr>
        <p:spPr>
          <a:xfrm>
            <a:off x="3035808" y="3008376"/>
            <a:ext cx="1325880" cy="274320"/>
          </a:xfrm>
          <a:prstGeom prst="rect">
            <a:avLst/>
          </a:prstGeom>
          <a:solidFill>
            <a:srgbClr val="0B1D3E"/>
          </a:solidFill>
          <a:ln w="12700">
            <a:solidFill>
              <a:srgbClr val="FFFFFF"/>
            </a:solidFill>
            <a:prstDash val="solid"/>
          </a:ln>
        </p:spPr>
      </p:sp>
      <p:sp>
        <p:nvSpPr>
          <p:cNvPr id="29" name="Text 27"/>
          <p:cNvSpPr/>
          <p:nvPr/>
        </p:nvSpPr>
        <p:spPr>
          <a:xfrm>
            <a:off x="3035808" y="3008376"/>
            <a:ext cx="1325880" cy="2743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Fine-tuned by OATI</a:t>
            </a:r>
            <a:endParaRPr lang="en-US" sz="850" dirty="0"/>
          </a:p>
        </p:txBody>
      </p:sp>
      <p:sp>
        <p:nvSpPr>
          <p:cNvPr id="30" name="Text 28"/>
          <p:cNvSpPr/>
          <p:nvPr/>
        </p:nvSpPr>
        <p:spPr>
          <a:xfrm>
            <a:off x="457200" y="3465576"/>
            <a:ext cx="3904488" cy="27432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LLM — Domain Specialist</a:t>
            </a:r>
            <a:endParaRPr lang="en-US" sz="1100" dirty="0"/>
          </a:p>
        </p:txBody>
      </p:sp>
      <p:sp>
        <p:nvSpPr>
          <p:cNvPr id="31" name="Text 29"/>
          <p:cNvSpPr/>
          <p:nvPr/>
        </p:nvSpPr>
        <p:spPr>
          <a:xfrm>
            <a:off x="457200" y="3785616"/>
            <a:ext cx="3904488" cy="74980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Fine-tuned on webOMS documents — handles OATI jargon, terminologies, and RAG tasks</a:t>
            </a:r>
            <a:endParaRPr lang="en-US" sz="1000" dirty="0"/>
          </a:p>
        </p:txBody>
      </p:sp>
      <p:sp>
        <p:nvSpPr>
          <p:cNvPr id="32" name="Shape 30"/>
          <p:cNvSpPr/>
          <p:nvPr/>
        </p:nvSpPr>
        <p:spPr>
          <a:xfrm>
            <a:off x="4681728" y="2898648"/>
            <a:ext cx="4178808" cy="173736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33" name="Shape 31"/>
          <p:cNvSpPr/>
          <p:nvPr/>
        </p:nvSpPr>
        <p:spPr>
          <a:xfrm>
            <a:off x="4681728" y="2898648"/>
            <a:ext cx="4178808" cy="502920"/>
          </a:xfrm>
          <a:prstGeom prst="rect">
            <a:avLst/>
          </a:prstGeom>
          <a:solidFill>
            <a:srgbClr val="B45309"/>
          </a:solidFill>
          <a:ln w="12700">
            <a:solidFill>
              <a:srgbClr val="B45309"/>
            </a:solidFill>
            <a:prstDash val="solid"/>
          </a:ln>
        </p:spPr>
      </p:sp>
      <p:sp>
        <p:nvSpPr>
          <p:cNvPr id="34" name="Shape 32"/>
          <p:cNvSpPr/>
          <p:nvPr/>
        </p:nvSpPr>
        <p:spPr>
          <a:xfrm>
            <a:off x="4681728" y="2898648"/>
            <a:ext cx="64008" cy="1737360"/>
          </a:xfrm>
          <a:prstGeom prst="rect">
            <a:avLst/>
          </a:prstGeom>
          <a:solidFill>
            <a:srgbClr val="0D9488"/>
          </a:solidFill>
          <a:ln w="12700">
            <a:solidFill>
              <a:srgbClr val="0D9488"/>
            </a:solidFill>
            <a:prstDash val="solid"/>
          </a:ln>
        </p:spPr>
      </p:sp>
      <p:sp>
        <p:nvSpPr>
          <p:cNvPr id="35" name="Text 33"/>
          <p:cNvSpPr/>
          <p:nvPr/>
        </p:nvSpPr>
        <p:spPr>
          <a:xfrm>
            <a:off x="4864608" y="2898648"/>
            <a:ext cx="2624328"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LLAMA 70B</a:t>
            </a:r>
            <a:endParaRPr lang="en-US" sz="1400" dirty="0"/>
          </a:p>
        </p:txBody>
      </p:sp>
      <p:sp>
        <p:nvSpPr>
          <p:cNvPr id="36" name="Shape 34"/>
          <p:cNvSpPr/>
          <p:nvPr/>
        </p:nvSpPr>
        <p:spPr>
          <a:xfrm>
            <a:off x="7443216" y="3008376"/>
            <a:ext cx="1325880" cy="274320"/>
          </a:xfrm>
          <a:prstGeom prst="rect">
            <a:avLst/>
          </a:prstGeom>
          <a:solidFill>
            <a:srgbClr val="0B1D3E"/>
          </a:solidFill>
          <a:ln w="12700">
            <a:solidFill>
              <a:srgbClr val="FFFFFF"/>
            </a:solidFill>
            <a:prstDash val="solid"/>
          </a:ln>
        </p:spPr>
      </p:sp>
      <p:sp>
        <p:nvSpPr>
          <p:cNvPr id="37" name="Text 35"/>
          <p:cNvSpPr/>
          <p:nvPr/>
        </p:nvSpPr>
        <p:spPr>
          <a:xfrm>
            <a:off x="7443216" y="3008376"/>
            <a:ext cx="1325880" cy="27432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Fine-tuned by OATI</a:t>
            </a:r>
            <a:endParaRPr lang="en-US" sz="850" dirty="0"/>
          </a:p>
        </p:txBody>
      </p:sp>
      <p:sp>
        <p:nvSpPr>
          <p:cNvPr id="38" name="Text 36"/>
          <p:cNvSpPr/>
          <p:nvPr/>
        </p:nvSpPr>
        <p:spPr>
          <a:xfrm>
            <a:off x="4864608" y="3465576"/>
            <a:ext cx="3904488" cy="274320"/>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LLM — Text-to-SQL</a:t>
            </a:r>
            <a:endParaRPr lang="en-US" sz="1100" dirty="0"/>
          </a:p>
        </p:txBody>
      </p:sp>
      <p:sp>
        <p:nvSpPr>
          <p:cNvPr id="39" name="Text 37"/>
          <p:cNvSpPr/>
          <p:nvPr/>
        </p:nvSpPr>
        <p:spPr>
          <a:xfrm>
            <a:off x="4864608" y="3785616"/>
            <a:ext cx="3904488" cy="749808"/>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Fine-tuned on webOMS database schema — generates structured SQL from natural language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D3E"/>
        </a:solidFill>
      </p:bgPr>
    </p:bg>
    <p:spTree>
      <p:nvGrpSpPr>
        <p:cNvPr id="1" name=""/>
        <p:cNvGrpSpPr/>
        <p:nvPr/>
      </p:nvGrpSpPr>
      <p:grpSpPr>
        <a:xfrm>
          <a:off x="0" y="0"/>
          <a:ext cx="0" cy="0"/>
          <a:chOff x="0" y="0"/>
          <a:chExt cx="0" cy="0"/>
        </a:xfrm>
      </p:grpSpPr>
      <p:sp>
        <p:nvSpPr>
          <p:cNvPr id="2" name="Shape 0"/>
          <p:cNvSpPr/>
          <p:nvPr/>
        </p:nvSpPr>
        <p:spPr>
          <a:xfrm>
            <a:off x="0" y="4434840"/>
            <a:ext cx="9144000" cy="708660"/>
          </a:xfrm>
          <a:prstGeom prst="rect">
            <a:avLst/>
          </a:prstGeom>
          <a:solidFill>
            <a:srgbClr val="071527"/>
          </a:solidFill>
          <a:ln w="12700">
            <a:solidFill>
              <a:srgbClr val="071527"/>
            </a:solidFill>
            <a:prstDash val="solid"/>
          </a:ln>
        </p:spPr>
      </p:sp>
      <p:sp>
        <p:nvSpPr>
          <p:cNvPr id="3" name="Shape 1"/>
          <p:cNvSpPr/>
          <p:nvPr/>
        </p:nvSpPr>
        <p:spPr>
          <a:xfrm>
            <a:off x="0" y="0"/>
            <a:ext cx="411480" cy="5143500"/>
          </a:xfrm>
          <a:prstGeom prst="rect">
            <a:avLst/>
          </a:prstGeom>
          <a:solidFill>
            <a:srgbClr val="0D9488"/>
          </a:solidFill>
          <a:ln w="12700">
            <a:solidFill>
              <a:srgbClr val="0D9488"/>
            </a:solidFill>
            <a:prstDash val="solid"/>
          </a:ln>
        </p:spPr>
      </p:sp>
      <p:sp>
        <p:nvSpPr>
          <p:cNvPr id="4" name="Shape 2"/>
          <p:cNvSpPr/>
          <p:nvPr/>
        </p:nvSpPr>
        <p:spPr>
          <a:xfrm>
            <a:off x="411480" y="0"/>
            <a:ext cx="82296" cy="5143500"/>
          </a:xfrm>
          <a:prstGeom prst="rect">
            <a:avLst/>
          </a:prstGeom>
          <a:solidFill>
            <a:srgbClr val="0F766E"/>
          </a:solidFill>
          <a:ln w="12700">
            <a:solidFill>
              <a:srgbClr val="0F766E"/>
            </a:solidFill>
            <a:prstDash val="solid"/>
          </a:ln>
        </p:spPr>
      </p:sp>
      <p:sp>
        <p:nvSpPr>
          <p:cNvPr id="5" name="Text 3"/>
          <p:cNvSpPr/>
          <p:nvPr/>
        </p:nvSpPr>
        <p:spPr>
          <a:xfrm>
            <a:off x="640080" y="4434840"/>
            <a:ext cx="7772400" cy="70866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6" name="Text 4"/>
          <p:cNvSpPr/>
          <p:nvPr/>
        </p:nvSpPr>
        <p:spPr>
          <a:xfrm>
            <a:off x="914400" y="1554480"/>
            <a:ext cx="7315200" cy="1371600"/>
          </a:xfrm>
          <a:prstGeom prst="rect">
            <a:avLst/>
          </a:prstGeom>
          <a:noFill/>
          <a:ln/>
        </p:spPr>
        <p:txBody>
          <a:bodyPr wrap="square" lIns="0" tIns="0" rIns="0" bIns="0" rtlCol="0" anchor="ctr"/>
          <a:lstStyle/>
          <a:p>
            <a:pPr algn="l" indent="0" marL="0">
              <a:buNone/>
            </a:pPr>
            <a:r>
              <a:rPr lang="en-US" sz="6200" b="1" dirty="0">
                <a:solidFill>
                  <a:srgbClr val="FFFFFF"/>
                </a:solidFill>
                <a:latin typeface="Calibri" pitchFamily="34" charset="0"/>
                <a:ea typeface="Calibri" pitchFamily="34" charset="-122"/>
                <a:cs typeface="Calibri" pitchFamily="34" charset="-120"/>
              </a:rPr>
              <a:t>Questions?</a:t>
            </a:r>
            <a:endParaRPr lang="en-US" sz="6200" dirty="0"/>
          </a:p>
        </p:txBody>
      </p:sp>
      <p:sp>
        <p:nvSpPr>
          <p:cNvPr id="7" name="Shape 5"/>
          <p:cNvSpPr/>
          <p:nvPr/>
        </p:nvSpPr>
        <p:spPr>
          <a:xfrm>
            <a:off x="914400" y="2999232"/>
            <a:ext cx="2926080" cy="50292"/>
          </a:xfrm>
          <a:prstGeom prst="rect">
            <a:avLst/>
          </a:prstGeom>
          <a:solidFill>
            <a:srgbClr val="0D9488"/>
          </a:solidFill>
          <a:ln w="12700">
            <a:solidFill>
              <a:srgbClr val="0D9488"/>
            </a:solidFill>
            <a:prstDash val="solid"/>
          </a:ln>
        </p:spPr>
      </p:sp>
      <p:sp>
        <p:nvSpPr>
          <p:cNvPr id="8" name="Text 6"/>
          <p:cNvSpPr/>
          <p:nvPr/>
        </p:nvSpPr>
        <p:spPr>
          <a:xfrm>
            <a:off x="914400" y="3127248"/>
            <a:ext cx="6858000" cy="411480"/>
          </a:xfrm>
          <a:prstGeom prst="rect">
            <a:avLst/>
          </a:prstGeom>
          <a:noFill/>
          <a:ln/>
        </p:spPr>
        <p:txBody>
          <a:bodyPr wrap="square" lIns="0" tIns="0" rIns="0" bIns="0" rtlCol="0" anchor="ctr"/>
          <a:lstStyle/>
          <a:p>
            <a:pPr algn="l" indent="0" marL="0">
              <a:buNone/>
            </a:pPr>
            <a:r>
              <a:rPr lang="en-US" sz="1400" dirty="0">
                <a:solidFill>
                  <a:srgbClr val="CADCFC"/>
                </a:solidFill>
                <a:latin typeface="Calibri" pitchFamily="34" charset="0"/>
                <a:ea typeface="Calibri" pitchFamily="34" charset="-122"/>
                <a:cs typeface="Calibri" pitchFamily="34" charset="-120"/>
              </a:rPr>
              <a:t>Open discussion — let's align on scope, approach, and next steps.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D3E"/>
        </a:solidFill>
      </p:bgPr>
    </p:bg>
    <p:spTree>
      <p:nvGrpSpPr>
        <p:cNvPr id="1" name=""/>
        <p:cNvGrpSpPr/>
        <p:nvPr/>
      </p:nvGrpSpPr>
      <p:grpSpPr>
        <a:xfrm>
          <a:off x="0" y="0"/>
          <a:ext cx="0" cy="0"/>
          <a:chOff x="0" y="0"/>
          <a:chExt cx="0" cy="0"/>
        </a:xfrm>
      </p:grpSpPr>
      <p:sp>
        <p:nvSpPr>
          <p:cNvPr id="2" name="Shape 0"/>
          <p:cNvSpPr/>
          <p:nvPr/>
        </p:nvSpPr>
        <p:spPr>
          <a:xfrm>
            <a:off x="0" y="4434840"/>
            <a:ext cx="9144000" cy="708660"/>
          </a:xfrm>
          <a:prstGeom prst="rect">
            <a:avLst/>
          </a:prstGeom>
          <a:solidFill>
            <a:srgbClr val="071527"/>
          </a:solidFill>
          <a:ln w="12700">
            <a:solidFill>
              <a:srgbClr val="071527"/>
            </a:solidFill>
            <a:prstDash val="solid"/>
          </a:ln>
        </p:spPr>
      </p:sp>
      <p:sp>
        <p:nvSpPr>
          <p:cNvPr id="3" name="Shape 1"/>
          <p:cNvSpPr/>
          <p:nvPr/>
        </p:nvSpPr>
        <p:spPr>
          <a:xfrm>
            <a:off x="0" y="0"/>
            <a:ext cx="411480" cy="5143500"/>
          </a:xfrm>
          <a:prstGeom prst="rect">
            <a:avLst/>
          </a:prstGeom>
          <a:solidFill>
            <a:srgbClr val="0D9488"/>
          </a:solidFill>
          <a:ln w="12700">
            <a:solidFill>
              <a:srgbClr val="0D9488"/>
            </a:solidFill>
            <a:prstDash val="solid"/>
          </a:ln>
        </p:spPr>
      </p:sp>
      <p:sp>
        <p:nvSpPr>
          <p:cNvPr id="4" name="Shape 2"/>
          <p:cNvSpPr/>
          <p:nvPr/>
        </p:nvSpPr>
        <p:spPr>
          <a:xfrm>
            <a:off x="411480" y="0"/>
            <a:ext cx="82296" cy="5143500"/>
          </a:xfrm>
          <a:prstGeom prst="rect">
            <a:avLst/>
          </a:prstGeom>
          <a:solidFill>
            <a:srgbClr val="0F766E"/>
          </a:solidFill>
          <a:ln w="12700">
            <a:solidFill>
              <a:srgbClr val="0F766E"/>
            </a:solidFill>
            <a:prstDash val="solid"/>
          </a:ln>
        </p:spPr>
      </p:sp>
      <p:sp>
        <p:nvSpPr>
          <p:cNvPr id="5" name="Text 3"/>
          <p:cNvSpPr/>
          <p:nvPr/>
        </p:nvSpPr>
        <p:spPr>
          <a:xfrm>
            <a:off x="640080" y="4434840"/>
            <a:ext cx="7772400" cy="708660"/>
          </a:xfrm>
          <a:prstGeom prst="rect">
            <a:avLst/>
          </a:prstGeom>
          <a:noFill/>
          <a:ln/>
        </p:spPr>
        <p:txBody>
          <a:bodyPr wrap="square" lIns="0" tIns="0" rIns="0" bIns="0" rtlCol="0" anchor="ctr"/>
          <a:lstStyle/>
          <a:p>
            <a:pPr indent="0" marL="0">
              <a:buNone/>
            </a:pPr>
            <a:r>
              <a:rPr lang="en-US" sz="700" dirty="0">
                <a:solidFill>
                  <a:srgbClr val="5B7FA6"/>
                </a:solidFill>
                <a:latin typeface="Calibri" pitchFamily="34" charset="0"/>
                <a:ea typeface="Calibri" pitchFamily="34" charset="-122"/>
                <a:cs typeface="Calibri" pitchFamily="34" charset="-120"/>
              </a:rPr>
              <a:t>OATI  |  Genie RFP Responder  |  Confidential</a:t>
            </a:r>
            <a:endParaRPr lang="en-US" sz="700" dirty="0"/>
          </a:p>
        </p:txBody>
      </p:sp>
      <p:sp>
        <p:nvSpPr>
          <p:cNvPr id="6" name="Text 4"/>
          <p:cNvSpPr/>
          <p:nvPr/>
        </p:nvSpPr>
        <p:spPr>
          <a:xfrm>
            <a:off x="914400" y="1097280"/>
            <a:ext cx="7315200" cy="1234440"/>
          </a:xfrm>
          <a:prstGeom prst="rect">
            <a:avLst/>
          </a:prstGeom>
          <a:noFill/>
          <a:ln/>
        </p:spPr>
        <p:txBody>
          <a:bodyPr wrap="square" lIns="0" tIns="0" rIns="0" bIns="0" rtlCol="0" anchor="ctr"/>
          <a:lstStyle/>
          <a:p>
            <a:pPr algn="l" indent="0" marL="0">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7" name="Shape 5"/>
          <p:cNvSpPr/>
          <p:nvPr/>
        </p:nvSpPr>
        <p:spPr>
          <a:xfrm>
            <a:off x="914400" y="2423160"/>
            <a:ext cx="3200400" cy="50292"/>
          </a:xfrm>
          <a:prstGeom prst="rect">
            <a:avLst/>
          </a:prstGeom>
          <a:solidFill>
            <a:srgbClr val="0D9488"/>
          </a:solidFill>
          <a:ln w="12700">
            <a:solidFill>
              <a:srgbClr val="0D9488"/>
            </a:solidFill>
            <a:prstDash val="solid"/>
          </a:ln>
        </p:spPr>
      </p:sp>
      <p:sp>
        <p:nvSpPr>
          <p:cNvPr id="8" name="Text 6"/>
          <p:cNvSpPr/>
          <p:nvPr/>
        </p:nvSpPr>
        <p:spPr>
          <a:xfrm>
            <a:off x="914400" y="2578608"/>
            <a:ext cx="548640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Ujjwal Joshi</a:t>
            </a:r>
            <a:endParaRPr lang="en-US" sz="1800" dirty="0"/>
          </a:p>
        </p:txBody>
      </p:sp>
      <p:sp>
        <p:nvSpPr>
          <p:cNvPr id="9" name="Text 7"/>
          <p:cNvSpPr/>
          <p:nvPr/>
        </p:nvSpPr>
        <p:spPr>
          <a:xfrm>
            <a:off x="914400" y="2999232"/>
            <a:ext cx="5486400" cy="329184"/>
          </a:xfrm>
          <a:prstGeom prst="rect">
            <a:avLst/>
          </a:prstGeom>
          <a:noFill/>
          <a:ln/>
        </p:spPr>
        <p:txBody>
          <a:bodyPr wrap="square" lIns="0" tIns="0" rIns="0" bIns="0" rtlCol="0" anchor="ctr"/>
          <a:lstStyle/>
          <a:p>
            <a:pPr indent="0" marL="0">
              <a:buNone/>
            </a:pPr>
            <a:r>
              <a:rPr lang="en-US" sz="1400" dirty="0">
                <a:solidFill>
                  <a:srgbClr val="0D9488"/>
                </a:solidFill>
                <a:latin typeface="Calibri" pitchFamily="34" charset="0"/>
                <a:ea typeface="Calibri" pitchFamily="34" charset="-122"/>
                <a:cs typeface="Calibri" pitchFamily="34" charset="-120"/>
              </a:rPr>
              <a:t>Ujjwal.joshi@oati.net</a:t>
            </a:r>
            <a:endParaRPr lang="en-US" sz="1400" dirty="0"/>
          </a:p>
        </p:txBody>
      </p:sp>
      <p:sp>
        <p:nvSpPr>
          <p:cNvPr id="10" name="Text 8"/>
          <p:cNvSpPr/>
          <p:nvPr/>
        </p:nvSpPr>
        <p:spPr>
          <a:xfrm>
            <a:off x="914400" y="3364992"/>
            <a:ext cx="5486400" cy="329184"/>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www.oati.com/AI-genie</a:t>
            </a:r>
            <a:endParaRPr lang="en-US" sz="1400" dirty="0"/>
          </a:p>
        </p:txBody>
      </p:sp>
      <p:sp>
        <p:nvSpPr>
          <p:cNvPr id="11" name="Text 9"/>
          <p:cNvSpPr/>
          <p:nvPr/>
        </p:nvSpPr>
        <p:spPr>
          <a:xfrm>
            <a:off x="914400" y="3749040"/>
            <a:ext cx="3657600" cy="292608"/>
          </a:xfrm>
          <a:prstGeom prst="rect">
            <a:avLst/>
          </a:prstGeom>
          <a:noFill/>
          <a:ln/>
        </p:spPr>
        <p:txBody>
          <a:bodyPr wrap="square" lIns="0" tIns="0" rIns="0" bIns="0" rtlCol="0" anchor="ctr"/>
          <a:lstStyle/>
          <a:p>
            <a:pPr indent="0" marL="0">
              <a:buNone/>
            </a:pPr>
            <a:r>
              <a:rPr lang="en-US" sz="1200" dirty="0">
                <a:solidFill>
                  <a:srgbClr val="5B7FA6"/>
                </a:solidFill>
                <a:latin typeface="Calibri" pitchFamily="34" charset="0"/>
                <a:ea typeface="Calibri" pitchFamily="34" charset="-122"/>
                <a:cs typeface="Calibri" pitchFamily="34" charset="-120"/>
              </a:rPr>
              <a:t>May 14,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Genie RFP Responder Updates</dc:title>
  <dc:subject>PptxGenJS Presentation</dc:subject>
  <dc:creator>OATI</dc:creator>
  <cp:lastModifiedBy>OATI</cp:lastModifiedBy>
  <cp:revision>1</cp:revision>
  <dcterms:created xsi:type="dcterms:W3CDTF">2026-05-13T17:54:09Z</dcterms:created>
  <dcterms:modified xsi:type="dcterms:W3CDTF">2026-05-13T17:54:09Z</dcterms:modified>
</cp:coreProperties>
</file>